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64" r:id="rId5"/>
    <p:sldId id="265" r:id="rId6"/>
    <p:sldId id="258" r:id="rId7"/>
    <p:sldId id="266" r:id="rId8"/>
    <p:sldId id="259" r:id="rId9"/>
    <p:sldId id="267" r:id="rId10"/>
    <p:sldId id="268" r:id="rId11"/>
    <p:sldId id="269" r:id="rId12"/>
    <p:sldId id="260" r:id="rId13"/>
    <p:sldId id="270" r:id="rId14"/>
    <p:sldId id="271" r:id="rId15"/>
    <p:sldId id="272" r:id="rId16"/>
    <p:sldId id="273" r:id="rId17"/>
    <p:sldId id="274" r:id="rId18"/>
    <p:sldId id="261" r:id="rId19"/>
    <p:sldId id="262" r:id="rId2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236" y="29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14C0CF-C9CB-41DC-9763-8F9E58D3B56A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CEA1A0C-DDA2-4481-AB3F-E949C76CC71D}">
      <dgm:prSet phldrT="[Texte]"/>
      <dgm:spPr>
        <a:solidFill>
          <a:srgbClr val="004D40"/>
        </a:solidFill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Données détaillées</a:t>
          </a:r>
        </a:p>
      </dgm:t>
    </dgm:pt>
    <dgm:pt modelId="{4BB91B8B-BCE6-4D40-82ED-3D4A9DBB12F5}" type="parTrans" cxnId="{5DF75643-D6D3-48A0-94FB-AA3DC25D70B8}">
      <dgm:prSet/>
      <dgm:spPr/>
      <dgm:t>
        <a:bodyPr/>
        <a:lstStyle/>
        <a:p>
          <a:endParaRPr lang="fr-FR"/>
        </a:p>
      </dgm:t>
    </dgm:pt>
    <dgm:pt modelId="{55386DBA-22EB-41F7-97F4-91D231AF4A17}" type="sibTrans" cxnId="{5DF75643-D6D3-48A0-94FB-AA3DC25D70B8}">
      <dgm:prSet/>
      <dgm:spPr>
        <a:solidFill>
          <a:srgbClr val="004D40"/>
        </a:solidFill>
      </dgm:spPr>
      <dgm:t>
        <a:bodyPr/>
        <a:lstStyle/>
        <a:p>
          <a:endParaRPr lang="fr-FR"/>
        </a:p>
      </dgm:t>
    </dgm:pt>
    <dgm:pt modelId="{EEB3905D-7DE7-45CC-BF84-02E92F1E4997}">
      <dgm:prSet phldrT="[Texte]" custT="1"/>
      <dgm:spPr>
        <a:ln>
          <a:solidFill>
            <a:srgbClr val="004D40"/>
          </a:solidFill>
        </a:ln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Métadonnées supplémentaires</a:t>
          </a:r>
        </a:p>
      </dgm:t>
    </dgm:pt>
    <dgm:pt modelId="{90379A46-385F-4E46-9A79-C6E7B104689D}" type="parTrans" cxnId="{B5DE2219-BA85-4B9B-9F7B-1AAE06C7BA59}">
      <dgm:prSet/>
      <dgm:spPr/>
      <dgm:t>
        <a:bodyPr/>
        <a:lstStyle/>
        <a:p>
          <a:endParaRPr lang="fr-FR"/>
        </a:p>
      </dgm:t>
    </dgm:pt>
    <dgm:pt modelId="{BD76FEBE-8876-4777-B4E7-223B9FF07714}" type="sibTrans" cxnId="{B5DE2219-BA85-4B9B-9F7B-1AAE06C7BA59}">
      <dgm:prSet/>
      <dgm:spPr/>
      <dgm:t>
        <a:bodyPr/>
        <a:lstStyle/>
        <a:p>
          <a:endParaRPr lang="fr-FR"/>
        </a:p>
      </dgm:t>
    </dgm:pt>
    <dgm:pt modelId="{2668D5D1-5793-49FB-9EBB-950D39F73018}">
      <dgm:prSet phldrT="[Texte]"/>
      <dgm:spPr>
        <a:solidFill>
          <a:srgbClr val="004D40"/>
        </a:solidFill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Nettoyage</a:t>
          </a:r>
        </a:p>
      </dgm:t>
    </dgm:pt>
    <dgm:pt modelId="{11CA7066-C7A7-4E4B-9DFB-57476C610FEB}" type="parTrans" cxnId="{4E1AF5A2-A204-425C-BD55-2A5B180DED89}">
      <dgm:prSet/>
      <dgm:spPr/>
      <dgm:t>
        <a:bodyPr/>
        <a:lstStyle/>
        <a:p>
          <a:endParaRPr lang="fr-FR"/>
        </a:p>
      </dgm:t>
    </dgm:pt>
    <dgm:pt modelId="{21E1E7E5-EDC9-4AB8-8C32-ED0F737C675D}" type="sibTrans" cxnId="{4E1AF5A2-A204-425C-BD55-2A5B180DED89}">
      <dgm:prSet/>
      <dgm:spPr>
        <a:solidFill>
          <a:srgbClr val="004D40"/>
        </a:solidFill>
      </dgm:spPr>
      <dgm:t>
        <a:bodyPr/>
        <a:lstStyle/>
        <a:p>
          <a:endParaRPr lang="fr-FR"/>
        </a:p>
      </dgm:t>
    </dgm:pt>
    <dgm:pt modelId="{79B20654-D233-4E46-A864-908DBF8DA03C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Identification des colonnes inutiles</a:t>
          </a:r>
        </a:p>
      </dgm:t>
    </dgm:pt>
    <dgm:pt modelId="{EDB6D2EE-5889-4438-97DB-47795FD2EACD}" type="parTrans" cxnId="{4F71006F-BECE-4875-9731-FBCBEB892F95}">
      <dgm:prSet/>
      <dgm:spPr/>
      <dgm:t>
        <a:bodyPr/>
        <a:lstStyle/>
        <a:p>
          <a:endParaRPr lang="fr-FR"/>
        </a:p>
      </dgm:t>
    </dgm:pt>
    <dgm:pt modelId="{E1278AD7-AF6B-4558-89E1-FCE60556F3F3}" type="sibTrans" cxnId="{4F71006F-BECE-4875-9731-FBCBEB892F95}">
      <dgm:prSet/>
      <dgm:spPr/>
      <dgm:t>
        <a:bodyPr/>
        <a:lstStyle/>
        <a:p>
          <a:endParaRPr lang="fr-FR"/>
        </a:p>
      </dgm:t>
    </dgm:pt>
    <dgm:pt modelId="{E5F57D4E-5F9A-400D-8FE5-343717C8D71C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Suppression des doublons</a:t>
          </a:r>
        </a:p>
      </dgm:t>
    </dgm:pt>
    <dgm:pt modelId="{ABBD6A38-5660-460A-A5FD-0F1636663E76}" type="parTrans" cxnId="{9B9EDE10-6E1A-4FC8-90CF-C0ED76DB10FB}">
      <dgm:prSet/>
      <dgm:spPr/>
      <dgm:t>
        <a:bodyPr/>
        <a:lstStyle/>
        <a:p>
          <a:endParaRPr lang="fr-FR"/>
        </a:p>
      </dgm:t>
    </dgm:pt>
    <dgm:pt modelId="{6D45E42C-CCEE-41F3-A306-CE02775BBDB6}" type="sibTrans" cxnId="{9B9EDE10-6E1A-4FC8-90CF-C0ED76DB10FB}">
      <dgm:prSet/>
      <dgm:spPr/>
      <dgm:t>
        <a:bodyPr/>
        <a:lstStyle/>
        <a:p>
          <a:endParaRPr lang="fr-FR"/>
        </a:p>
      </dgm:t>
    </dgm:pt>
    <dgm:pt modelId="{84B95C64-2DFB-48DF-BBD5-9753E7AD2407}">
      <dgm:prSet phldrT="[Texte]"/>
      <dgm:spPr>
        <a:solidFill>
          <a:srgbClr val="004D40"/>
        </a:solidFill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Données finales conservées</a:t>
          </a:r>
        </a:p>
      </dgm:t>
    </dgm:pt>
    <dgm:pt modelId="{058EA66C-612B-4F4A-96CC-B3589E252019}" type="parTrans" cxnId="{1BD53787-223D-42D7-8A54-42B3B4806DB6}">
      <dgm:prSet/>
      <dgm:spPr/>
      <dgm:t>
        <a:bodyPr/>
        <a:lstStyle/>
        <a:p>
          <a:endParaRPr lang="fr-FR"/>
        </a:p>
      </dgm:t>
    </dgm:pt>
    <dgm:pt modelId="{A4BCC6D6-1C8C-4666-A385-DE2BCE34AE4A}" type="sibTrans" cxnId="{1BD53787-223D-42D7-8A54-42B3B4806DB6}">
      <dgm:prSet/>
      <dgm:spPr/>
      <dgm:t>
        <a:bodyPr/>
        <a:lstStyle/>
        <a:p>
          <a:endParaRPr lang="fr-FR"/>
        </a:p>
      </dgm:t>
    </dgm:pt>
    <dgm:pt modelId="{F9CE46AE-FA94-40DC-8E04-F7DB7201B8AB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SKU</a:t>
          </a:r>
        </a:p>
      </dgm:t>
    </dgm:pt>
    <dgm:pt modelId="{FA80A630-5F7C-4198-8DA3-977474718121}" type="parTrans" cxnId="{3980E830-ECB9-424A-88C6-E853DB83D67C}">
      <dgm:prSet/>
      <dgm:spPr/>
      <dgm:t>
        <a:bodyPr/>
        <a:lstStyle/>
        <a:p>
          <a:endParaRPr lang="fr-FR"/>
        </a:p>
      </dgm:t>
    </dgm:pt>
    <dgm:pt modelId="{95E119D1-AD8E-43FF-BDC6-278CD3A48C57}" type="sibTrans" cxnId="{3980E830-ECB9-424A-88C6-E853DB83D67C}">
      <dgm:prSet/>
      <dgm:spPr/>
      <dgm:t>
        <a:bodyPr/>
        <a:lstStyle/>
        <a:p>
          <a:endParaRPr lang="fr-FR"/>
        </a:p>
      </dgm:t>
    </dgm:pt>
    <dgm:pt modelId="{F12FC848-75EA-4566-B0BE-39482AA54130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Type de produit</a:t>
          </a:r>
        </a:p>
      </dgm:t>
    </dgm:pt>
    <dgm:pt modelId="{AA76123C-3BB1-466A-89EC-4AFD7B8C9474}" type="parTrans" cxnId="{87F64F01-1FAB-4EBA-BEF5-236924884F4E}">
      <dgm:prSet/>
      <dgm:spPr/>
      <dgm:t>
        <a:bodyPr/>
        <a:lstStyle/>
        <a:p>
          <a:endParaRPr lang="fr-FR"/>
        </a:p>
      </dgm:t>
    </dgm:pt>
    <dgm:pt modelId="{AFB8892E-D001-45DE-B520-1A039B290EE1}" type="sibTrans" cxnId="{87F64F01-1FAB-4EBA-BEF5-236924884F4E}">
      <dgm:prSet/>
      <dgm:spPr/>
      <dgm:t>
        <a:bodyPr/>
        <a:lstStyle/>
        <a:p>
          <a:endParaRPr lang="fr-FR"/>
        </a:p>
      </dgm:t>
    </dgm:pt>
    <dgm:pt modelId="{1A91ABDB-4743-4BA1-8EDC-2697A98E014B}">
      <dgm:prSet phldrT="[Texte]" custT="1"/>
      <dgm:spPr>
        <a:ln>
          <a:solidFill>
            <a:srgbClr val="004D40"/>
          </a:solidFill>
        </a:ln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Type de produit</a:t>
          </a:r>
        </a:p>
      </dgm:t>
    </dgm:pt>
    <dgm:pt modelId="{5E86CB59-28A1-48C9-9A25-3529E57D2204}" type="parTrans" cxnId="{F13F56CA-AFD3-43B0-8314-F190A88CB43F}">
      <dgm:prSet/>
      <dgm:spPr/>
      <dgm:t>
        <a:bodyPr/>
        <a:lstStyle/>
        <a:p>
          <a:endParaRPr lang="fr-FR"/>
        </a:p>
      </dgm:t>
    </dgm:pt>
    <dgm:pt modelId="{C29B49FE-1AC7-4953-886D-19B4151F7D18}" type="sibTrans" cxnId="{F13F56CA-AFD3-43B0-8314-F190A88CB43F}">
      <dgm:prSet/>
      <dgm:spPr/>
      <dgm:t>
        <a:bodyPr/>
        <a:lstStyle/>
        <a:p>
          <a:endParaRPr lang="fr-FR"/>
        </a:p>
      </dgm:t>
    </dgm:pt>
    <dgm:pt modelId="{B1A7A68B-6756-4FF4-8C8E-FF0A47C440EA}">
      <dgm:prSet phldrT="[Texte]" custT="1"/>
      <dgm:spPr>
        <a:ln>
          <a:solidFill>
            <a:srgbClr val="004D40"/>
          </a:solidFill>
        </a:ln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Statistiques</a:t>
          </a:r>
        </a:p>
      </dgm:t>
    </dgm:pt>
    <dgm:pt modelId="{24C363EA-6955-4A67-B636-226A58675D89}" type="parTrans" cxnId="{B76B8991-B2A8-4B71-A9FF-1DC8BB91B734}">
      <dgm:prSet/>
      <dgm:spPr/>
      <dgm:t>
        <a:bodyPr/>
        <a:lstStyle/>
        <a:p>
          <a:endParaRPr lang="fr-FR"/>
        </a:p>
      </dgm:t>
    </dgm:pt>
    <dgm:pt modelId="{E48C58FE-A297-4515-B788-68602E25150A}" type="sibTrans" cxnId="{B76B8991-B2A8-4B71-A9FF-1DC8BB91B734}">
      <dgm:prSet/>
      <dgm:spPr/>
      <dgm:t>
        <a:bodyPr/>
        <a:lstStyle/>
        <a:p>
          <a:endParaRPr lang="fr-FR"/>
        </a:p>
      </dgm:t>
    </dgm:pt>
    <dgm:pt modelId="{E46F7789-C73E-4245-AA10-811B73649080}">
      <dgm:prSet phldrT="[Texte]" custT="1"/>
      <dgm:spPr>
        <a:ln>
          <a:solidFill>
            <a:srgbClr val="004D40"/>
          </a:solidFill>
        </a:ln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Données de publication</a:t>
          </a:r>
        </a:p>
      </dgm:t>
    </dgm:pt>
    <dgm:pt modelId="{F39FA77B-08CE-4CC0-85BE-95BEAF64A1BE}" type="parTrans" cxnId="{C55660FA-41BF-4536-B98B-91C7836A3CA5}">
      <dgm:prSet/>
      <dgm:spPr/>
      <dgm:t>
        <a:bodyPr/>
        <a:lstStyle/>
        <a:p>
          <a:endParaRPr lang="fr-FR"/>
        </a:p>
      </dgm:t>
    </dgm:pt>
    <dgm:pt modelId="{A393063E-CA6F-485C-942B-27BD7C143C75}" type="sibTrans" cxnId="{C55660FA-41BF-4536-B98B-91C7836A3CA5}">
      <dgm:prSet/>
      <dgm:spPr/>
      <dgm:t>
        <a:bodyPr/>
        <a:lstStyle/>
        <a:p>
          <a:endParaRPr lang="fr-FR"/>
        </a:p>
      </dgm:t>
    </dgm:pt>
    <dgm:pt modelId="{EB520E02-8D86-4027-A6BD-3486A80561AB}">
      <dgm:prSet phldrT="[Texte]" custT="1"/>
      <dgm:spPr>
        <a:ln>
          <a:solidFill>
            <a:srgbClr val="004D40"/>
          </a:solidFill>
        </a:ln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Caractéristiques fiscales</a:t>
          </a:r>
        </a:p>
      </dgm:t>
    </dgm:pt>
    <dgm:pt modelId="{CBB8DE11-B1E9-4E85-B18D-97A301D2E09E}" type="parTrans" cxnId="{1686E6AF-D3BD-4BCD-8313-93E3A332F2B1}">
      <dgm:prSet/>
      <dgm:spPr/>
      <dgm:t>
        <a:bodyPr/>
        <a:lstStyle/>
        <a:p>
          <a:endParaRPr lang="fr-FR"/>
        </a:p>
      </dgm:t>
    </dgm:pt>
    <dgm:pt modelId="{9322630E-B4C1-4E4C-80FD-54950579B82A}" type="sibTrans" cxnId="{1686E6AF-D3BD-4BCD-8313-93E3A332F2B1}">
      <dgm:prSet/>
      <dgm:spPr/>
      <dgm:t>
        <a:bodyPr/>
        <a:lstStyle/>
        <a:p>
          <a:endParaRPr lang="fr-FR"/>
        </a:p>
      </dgm:t>
    </dgm:pt>
    <dgm:pt modelId="{31DBD50D-2CC7-4912-ABF8-8750ED56D643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Correction des anomalies SKU</a:t>
          </a:r>
        </a:p>
      </dgm:t>
    </dgm:pt>
    <dgm:pt modelId="{AB2E8F1F-1C01-4A0D-B3DB-6DC94AFCB38E}" type="parTrans" cxnId="{F5535DA8-8C3A-42FA-A46D-C453BC7C404B}">
      <dgm:prSet/>
      <dgm:spPr/>
      <dgm:t>
        <a:bodyPr/>
        <a:lstStyle/>
        <a:p>
          <a:endParaRPr lang="fr-FR"/>
        </a:p>
      </dgm:t>
    </dgm:pt>
    <dgm:pt modelId="{B529228A-3AE5-424C-9F09-7E8839F0868D}" type="sibTrans" cxnId="{F5535DA8-8C3A-42FA-A46D-C453BC7C404B}">
      <dgm:prSet/>
      <dgm:spPr/>
      <dgm:t>
        <a:bodyPr/>
        <a:lstStyle/>
        <a:p>
          <a:endParaRPr lang="fr-FR"/>
        </a:p>
      </dgm:t>
    </dgm:pt>
    <dgm:pt modelId="{D5F17E5D-29A3-4AE7-AF2C-78E685FBE6A3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Traitement des valeurs manquantes</a:t>
          </a:r>
        </a:p>
      </dgm:t>
    </dgm:pt>
    <dgm:pt modelId="{5F4467C1-8F07-435C-8B07-43F07CD37101}" type="parTrans" cxnId="{12998594-B58A-4627-A0BC-8845C5AB2FB9}">
      <dgm:prSet/>
      <dgm:spPr/>
      <dgm:t>
        <a:bodyPr/>
        <a:lstStyle/>
        <a:p>
          <a:endParaRPr lang="fr-FR"/>
        </a:p>
      </dgm:t>
    </dgm:pt>
    <dgm:pt modelId="{7179F8E7-D3E3-4989-ACD6-9B5C858186F4}" type="sibTrans" cxnId="{12998594-B58A-4627-A0BC-8845C5AB2FB9}">
      <dgm:prSet/>
      <dgm:spPr/>
      <dgm:t>
        <a:bodyPr/>
        <a:lstStyle/>
        <a:p>
          <a:endParaRPr lang="fr-FR"/>
        </a:p>
      </dgm:t>
    </dgm:pt>
    <dgm:pt modelId="{E1CDBAA6-42F6-4D40-B3CF-1BD432E91829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Ventes totales</a:t>
          </a:r>
        </a:p>
      </dgm:t>
    </dgm:pt>
    <dgm:pt modelId="{14856548-CF69-4901-9E23-554883809D16}" type="parTrans" cxnId="{7AA72318-3FE4-4E64-B76C-6AC8DBF469A2}">
      <dgm:prSet/>
      <dgm:spPr/>
      <dgm:t>
        <a:bodyPr/>
        <a:lstStyle/>
        <a:p>
          <a:endParaRPr lang="fr-FR"/>
        </a:p>
      </dgm:t>
    </dgm:pt>
    <dgm:pt modelId="{BAEE15F8-F0E6-479D-9C24-6925A5E40F6F}" type="sibTrans" cxnId="{7AA72318-3FE4-4E64-B76C-6AC8DBF469A2}">
      <dgm:prSet/>
      <dgm:spPr/>
      <dgm:t>
        <a:bodyPr/>
        <a:lstStyle/>
        <a:p>
          <a:endParaRPr lang="fr-FR"/>
        </a:p>
      </dgm:t>
    </dgm:pt>
    <dgm:pt modelId="{CE70B3A4-9BC1-4ADB-8D64-EE933ECE9882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Titre du post</a:t>
          </a:r>
        </a:p>
      </dgm:t>
    </dgm:pt>
    <dgm:pt modelId="{3163AAEA-AC5A-4A78-8688-65A82D532EF8}" type="parTrans" cxnId="{3E8389BC-2BC0-47AB-B8C7-C5D05CF38750}">
      <dgm:prSet/>
      <dgm:spPr/>
      <dgm:t>
        <a:bodyPr/>
        <a:lstStyle/>
        <a:p>
          <a:endParaRPr lang="fr-FR"/>
        </a:p>
      </dgm:t>
    </dgm:pt>
    <dgm:pt modelId="{CA9AFB40-B5D2-4475-87E7-B3B093B5766C}" type="sibTrans" cxnId="{3E8389BC-2BC0-47AB-B8C7-C5D05CF38750}">
      <dgm:prSet/>
      <dgm:spPr/>
      <dgm:t>
        <a:bodyPr/>
        <a:lstStyle/>
        <a:p>
          <a:endParaRPr lang="fr-FR"/>
        </a:p>
      </dgm:t>
    </dgm:pt>
    <dgm:pt modelId="{B3BDF88B-42A4-432A-9BEE-E9691EF7FC86}">
      <dgm:prSet phldrT="[Texte]"/>
      <dgm:spPr>
        <a:ln>
          <a:solidFill>
            <a:srgbClr val="004D40"/>
          </a:solidFill>
        </a:ln>
      </dgm:spPr>
      <dgm:t>
        <a:bodyPr/>
        <a:lstStyle/>
        <a:p>
          <a:r>
            <a:rPr lang="fr-FR" dirty="0">
              <a:latin typeface="Montserrat" panose="00000500000000000000" pitchFamily="2" charset="0"/>
            </a:rPr>
            <a:t>Date de publication et de modification du post</a:t>
          </a:r>
        </a:p>
      </dgm:t>
    </dgm:pt>
    <dgm:pt modelId="{35E77526-F9AB-4BB7-AD0F-5471300FE9B9}" type="parTrans" cxnId="{050D00F6-6D6D-4592-8167-B36F3606C468}">
      <dgm:prSet/>
      <dgm:spPr/>
      <dgm:t>
        <a:bodyPr/>
        <a:lstStyle/>
        <a:p>
          <a:endParaRPr lang="fr-FR"/>
        </a:p>
      </dgm:t>
    </dgm:pt>
    <dgm:pt modelId="{F12B0395-998B-4C8B-AF8D-2C43CEE1717B}" type="sibTrans" cxnId="{050D00F6-6D6D-4592-8167-B36F3606C468}">
      <dgm:prSet/>
      <dgm:spPr/>
      <dgm:t>
        <a:bodyPr/>
        <a:lstStyle/>
        <a:p>
          <a:endParaRPr lang="fr-FR"/>
        </a:p>
      </dgm:t>
    </dgm:pt>
    <dgm:pt modelId="{94BBFD34-F27B-41A9-B7FA-C58D1D04B119}">
      <dgm:prSet phldrT="[Texte]"/>
      <dgm:spPr>
        <a:ln>
          <a:solidFill>
            <a:srgbClr val="004D40"/>
          </a:solidFill>
        </a:ln>
      </dgm:spPr>
      <dgm:t>
        <a:bodyPr/>
        <a:lstStyle/>
        <a:p>
          <a:endParaRPr lang="fr-FR" dirty="0">
            <a:latin typeface="Montserrat" panose="00000500000000000000" pitchFamily="2" charset="0"/>
          </a:endParaRPr>
        </a:p>
      </dgm:t>
    </dgm:pt>
    <dgm:pt modelId="{5C768C53-6801-4F89-96F8-1C4A76C9D9DC}" type="parTrans" cxnId="{73B6F1A6-FEE3-41E4-B478-2B1F2957E4EE}">
      <dgm:prSet/>
      <dgm:spPr/>
      <dgm:t>
        <a:bodyPr/>
        <a:lstStyle/>
        <a:p>
          <a:endParaRPr lang="fr-FR"/>
        </a:p>
      </dgm:t>
    </dgm:pt>
    <dgm:pt modelId="{2B94B3C9-7030-4059-9908-AA081C4EABCA}" type="sibTrans" cxnId="{73B6F1A6-FEE3-41E4-B478-2B1F2957E4EE}">
      <dgm:prSet/>
      <dgm:spPr/>
      <dgm:t>
        <a:bodyPr/>
        <a:lstStyle/>
        <a:p>
          <a:endParaRPr lang="fr-FR"/>
        </a:p>
      </dgm:t>
    </dgm:pt>
    <dgm:pt modelId="{4AAD2825-B82B-4B58-85D9-DCD8D816FA6C}">
      <dgm:prSet phldrT="[Texte]"/>
      <dgm:spPr>
        <a:ln>
          <a:solidFill>
            <a:srgbClr val="004D40"/>
          </a:solidFill>
        </a:ln>
      </dgm:spPr>
      <dgm:t>
        <a:bodyPr/>
        <a:lstStyle/>
        <a:p>
          <a:endParaRPr lang="fr-FR" sz="900" dirty="0">
            <a:latin typeface="Montserrat" panose="00000500000000000000" pitchFamily="2" charset="0"/>
          </a:endParaRPr>
        </a:p>
      </dgm:t>
    </dgm:pt>
    <dgm:pt modelId="{CD321431-2908-4D7E-AFDC-1F4CC01140DB}" type="parTrans" cxnId="{FA3D4974-399B-4B2E-B3B6-19EBC2E773B1}">
      <dgm:prSet/>
      <dgm:spPr/>
      <dgm:t>
        <a:bodyPr/>
        <a:lstStyle/>
        <a:p>
          <a:endParaRPr lang="fr-FR"/>
        </a:p>
      </dgm:t>
    </dgm:pt>
    <dgm:pt modelId="{C6AD37F7-AF96-4F41-8932-D991F926FC40}" type="sibTrans" cxnId="{FA3D4974-399B-4B2E-B3B6-19EBC2E773B1}">
      <dgm:prSet/>
      <dgm:spPr/>
      <dgm:t>
        <a:bodyPr/>
        <a:lstStyle/>
        <a:p>
          <a:endParaRPr lang="fr-FR"/>
        </a:p>
      </dgm:t>
    </dgm:pt>
    <dgm:pt modelId="{54CB945C-E87C-4E8A-8BA2-D2263BB751B5}">
      <dgm:prSet phldrT="[Texte]" custT="1"/>
      <dgm:spPr>
        <a:ln>
          <a:solidFill>
            <a:srgbClr val="004D40"/>
          </a:solidFill>
        </a:ln>
      </dgm:spPr>
      <dgm:t>
        <a:bodyPr/>
        <a:lstStyle/>
        <a:p>
          <a:r>
            <a:rPr lang="fr-FR" sz="1000" dirty="0">
              <a:latin typeface="Montserrat" panose="00000500000000000000" pitchFamily="2" charset="0"/>
            </a:rPr>
            <a:t>SKU</a:t>
          </a:r>
        </a:p>
      </dgm:t>
    </dgm:pt>
    <dgm:pt modelId="{055BB139-C8AB-4026-819B-E915689FB9D5}" type="parTrans" cxnId="{D32E4411-1422-4043-B471-B9D395F28499}">
      <dgm:prSet/>
      <dgm:spPr/>
      <dgm:t>
        <a:bodyPr/>
        <a:lstStyle/>
        <a:p>
          <a:endParaRPr lang="fr-FR"/>
        </a:p>
      </dgm:t>
    </dgm:pt>
    <dgm:pt modelId="{53BE2CA0-A312-433A-9571-DE743B05ADDC}" type="sibTrans" cxnId="{D32E4411-1422-4043-B471-B9D395F28499}">
      <dgm:prSet/>
      <dgm:spPr/>
      <dgm:t>
        <a:bodyPr/>
        <a:lstStyle/>
        <a:p>
          <a:endParaRPr lang="fr-FR"/>
        </a:p>
      </dgm:t>
    </dgm:pt>
    <dgm:pt modelId="{A9FEC373-0686-4288-8177-7F79A2BCF743}" type="pres">
      <dgm:prSet presAssocID="{D714C0CF-C9CB-41DC-9763-8F9E58D3B56A}" presName="Name0" presStyleCnt="0">
        <dgm:presLayoutVars>
          <dgm:dir/>
          <dgm:animLvl val="lvl"/>
          <dgm:resizeHandles val="exact"/>
        </dgm:presLayoutVars>
      </dgm:prSet>
      <dgm:spPr/>
    </dgm:pt>
    <dgm:pt modelId="{F7C497DF-4EB4-4A5F-836E-8A636F15DBE6}" type="pres">
      <dgm:prSet presAssocID="{D714C0CF-C9CB-41DC-9763-8F9E58D3B56A}" presName="tSp" presStyleCnt="0"/>
      <dgm:spPr/>
    </dgm:pt>
    <dgm:pt modelId="{216A5C84-63D3-4DB8-8146-2FFA03B5163C}" type="pres">
      <dgm:prSet presAssocID="{D714C0CF-C9CB-41DC-9763-8F9E58D3B56A}" presName="bSp" presStyleCnt="0"/>
      <dgm:spPr/>
    </dgm:pt>
    <dgm:pt modelId="{2DF4F4E7-FB84-438C-8478-539A96F7B5B9}" type="pres">
      <dgm:prSet presAssocID="{D714C0CF-C9CB-41DC-9763-8F9E58D3B56A}" presName="process" presStyleCnt="0"/>
      <dgm:spPr/>
    </dgm:pt>
    <dgm:pt modelId="{F77D7420-783C-47A2-B719-B946368F899A}" type="pres">
      <dgm:prSet presAssocID="{2CEA1A0C-DDA2-4481-AB3F-E949C76CC71D}" presName="composite1" presStyleCnt="0"/>
      <dgm:spPr/>
    </dgm:pt>
    <dgm:pt modelId="{186E915F-39FA-412B-B596-AEFFB757C42A}" type="pres">
      <dgm:prSet presAssocID="{2CEA1A0C-DDA2-4481-AB3F-E949C76CC71D}" presName="dummyNode1" presStyleLbl="node1" presStyleIdx="0" presStyleCnt="3"/>
      <dgm:spPr/>
    </dgm:pt>
    <dgm:pt modelId="{E156C446-E6B3-48E4-8335-9D27F725B036}" type="pres">
      <dgm:prSet presAssocID="{2CEA1A0C-DDA2-4481-AB3F-E949C76CC71D}" presName="childNode1" presStyleLbl="bgAcc1" presStyleIdx="0" presStyleCnt="3" custScaleX="113318">
        <dgm:presLayoutVars>
          <dgm:bulletEnabled val="1"/>
        </dgm:presLayoutVars>
      </dgm:prSet>
      <dgm:spPr/>
    </dgm:pt>
    <dgm:pt modelId="{660B9FDD-96FF-4C6C-B937-42236EE1B1F2}" type="pres">
      <dgm:prSet presAssocID="{2CEA1A0C-DDA2-4481-AB3F-E949C76CC71D}" presName="childNode1tx" presStyleLbl="bgAcc1" presStyleIdx="0" presStyleCnt="3">
        <dgm:presLayoutVars>
          <dgm:bulletEnabled val="1"/>
        </dgm:presLayoutVars>
      </dgm:prSet>
      <dgm:spPr/>
    </dgm:pt>
    <dgm:pt modelId="{6EDAFA75-A6A3-45B2-AA4D-95897C6A28EC}" type="pres">
      <dgm:prSet presAssocID="{2CEA1A0C-DDA2-4481-AB3F-E949C76CC71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E7B02DA8-A927-4FB7-B014-A9A674A618B4}" type="pres">
      <dgm:prSet presAssocID="{2CEA1A0C-DDA2-4481-AB3F-E949C76CC71D}" presName="connSite1" presStyleCnt="0"/>
      <dgm:spPr/>
    </dgm:pt>
    <dgm:pt modelId="{9AB61DC3-E3E5-4259-9096-82952D17D601}" type="pres">
      <dgm:prSet presAssocID="{55386DBA-22EB-41F7-97F4-91D231AF4A17}" presName="Name9" presStyleLbl="sibTrans2D1" presStyleIdx="0" presStyleCnt="2"/>
      <dgm:spPr/>
    </dgm:pt>
    <dgm:pt modelId="{842FB648-7E4A-440A-8C13-58CE7B7EB7D6}" type="pres">
      <dgm:prSet presAssocID="{2668D5D1-5793-49FB-9EBB-950D39F73018}" presName="composite2" presStyleCnt="0"/>
      <dgm:spPr/>
    </dgm:pt>
    <dgm:pt modelId="{4AA6F2EA-2F7B-4B2F-A82F-5A20D87EFB9B}" type="pres">
      <dgm:prSet presAssocID="{2668D5D1-5793-49FB-9EBB-950D39F73018}" presName="dummyNode2" presStyleLbl="node1" presStyleIdx="0" presStyleCnt="3"/>
      <dgm:spPr/>
    </dgm:pt>
    <dgm:pt modelId="{96A10382-45E1-4FAF-96AF-0EE0150F005B}" type="pres">
      <dgm:prSet presAssocID="{2668D5D1-5793-49FB-9EBB-950D39F73018}" presName="childNode2" presStyleLbl="bgAcc1" presStyleIdx="1" presStyleCnt="3" custScaleX="118376">
        <dgm:presLayoutVars>
          <dgm:bulletEnabled val="1"/>
        </dgm:presLayoutVars>
      </dgm:prSet>
      <dgm:spPr/>
    </dgm:pt>
    <dgm:pt modelId="{68D08750-34CE-4DB2-901B-832F102AB172}" type="pres">
      <dgm:prSet presAssocID="{2668D5D1-5793-49FB-9EBB-950D39F73018}" presName="childNode2tx" presStyleLbl="bgAcc1" presStyleIdx="1" presStyleCnt="3">
        <dgm:presLayoutVars>
          <dgm:bulletEnabled val="1"/>
        </dgm:presLayoutVars>
      </dgm:prSet>
      <dgm:spPr/>
    </dgm:pt>
    <dgm:pt modelId="{53EC550F-5D6D-4684-BD00-DCA24D9C86E0}" type="pres">
      <dgm:prSet presAssocID="{2668D5D1-5793-49FB-9EBB-950D39F73018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61C6BD0B-2FA2-464D-8DDA-18F10DCFFA29}" type="pres">
      <dgm:prSet presAssocID="{2668D5D1-5793-49FB-9EBB-950D39F73018}" presName="connSite2" presStyleCnt="0"/>
      <dgm:spPr/>
    </dgm:pt>
    <dgm:pt modelId="{15983DF9-11DA-4320-ADE3-70DE0C797136}" type="pres">
      <dgm:prSet presAssocID="{21E1E7E5-EDC9-4AB8-8C32-ED0F737C675D}" presName="Name18" presStyleLbl="sibTrans2D1" presStyleIdx="1" presStyleCnt="2"/>
      <dgm:spPr/>
    </dgm:pt>
    <dgm:pt modelId="{1603AC76-2C20-4F4F-A6A9-7EAB31DC5D7B}" type="pres">
      <dgm:prSet presAssocID="{84B95C64-2DFB-48DF-BBD5-9753E7AD2407}" presName="composite1" presStyleCnt="0"/>
      <dgm:spPr/>
    </dgm:pt>
    <dgm:pt modelId="{99F710EB-09EF-4FCD-8C69-704CF9412E03}" type="pres">
      <dgm:prSet presAssocID="{84B95C64-2DFB-48DF-BBD5-9753E7AD2407}" presName="dummyNode1" presStyleLbl="node1" presStyleIdx="1" presStyleCnt="3"/>
      <dgm:spPr/>
    </dgm:pt>
    <dgm:pt modelId="{B6D7745F-1837-4BA9-A43B-D051BBE773AE}" type="pres">
      <dgm:prSet presAssocID="{84B95C64-2DFB-48DF-BBD5-9753E7AD2407}" presName="childNode1" presStyleLbl="bgAcc1" presStyleIdx="2" presStyleCnt="3" custScaleX="110406">
        <dgm:presLayoutVars>
          <dgm:bulletEnabled val="1"/>
        </dgm:presLayoutVars>
      </dgm:prSet>
      <dgm:spPr/>
    </dgm:pt>
    <dgm:pt modelId="{9691335B-2AC0-49B5-96FA-72C4A83C9132}" type="pres">
      <dgm:prSet presAssocID="{84B95C64-2DFB-48DF-BBD5-9753E7AD2407}" presName="childNode1tx" presStyleLbl="bgAcc1" presStyleIdx="2" presStyleCnt="3">
        <dgm:presLayoutVars>
          <dgm:bulletEnabled val="1"/>
        </dgm:presLayoutVars>
      </dgm:prSet>
      <dgm:spPr/>
    </dgm:pt>
    <dgm:pt modelId="{9EF2D70C-9EE8-462E-8846-08C91E33705F}" type="pres">
      <dgm:prSet presAssocID="{84B95C64-2DFB-48DF-BBD5-9753E7AD2407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D61DCD6-B299-4FC4-9E47-1A07BDB8326D}" type="pres">
      <dgm:prSet presAssocID="{84B95C64-2DFB-48DF-BBD5-9753E7AD2407}" presName="connSite1" presStyleCnt="0"/>
      <dgm:spPr/>
    </dgm:pt>
  </dgm:ptLst>
  <dgm:cxnLst>
    <dgm:cxn modelId="{87F64F01-1FAB-4EBA-BEF5-236924884F4E}" srcId="{84B95C64-2DFB-48DF-BBD5-9753E7AD2407}" destId="{F12FC848-75EA-4566-B0BE-39482AA54130}" srcOrd="2" destOrd="0" parTransId="{AA76123C-3BB1-466A-89EC-4AFD7B8C9474}" sibTransId="{AFB8892E-D001-45DE-B520-1A039B290EE1}"/>
    <dgm:cxn modelId="{47F4BF01-154E-4C35-A25D-1CD41748A398}" type="presOf" srcId="{F12FC848-75EA-4566-B0BE-39482AA54130}" destId="{B6D7745F-1837-4BA9-A43B-D051BBE773AE}" srcOrd="0" destOrd="2" presId="urn:microsoft.com/office/officeart/2005/8/layout/hProcess4"/>
    <dgm:cxn modelId="{839ED403-7DC3-4B53-851C-586B5ADB503F}" type="presOf" srcId="{84B95C64-2DFB-48DF-BBD5-9753E7AD2407}" destId="{9EF2D70C-9EE8-462E-8846-08C91E33705F}" srcOrd="0" destOrd="0" presId="urn:microsoft.com/office/officeart/2005/8/layout/hProcess4"/>
    <dgm:cxn modelId="{31A66206-F1D9-4866-AF3B-4FC4CF104CDB}" type="presOf" srcId="{E46F7789-C73E-4245-AA10-811B73649080}" destId="{660B9FDD-96FF-4C6C-B937-42236EE1B1F2}" srcOrd="1" destOrd="4" presId="urn:microsoft.com/office/officeart/2005/8/layout/hProcess4"/>
    <dgm:cxn modelId="{8BC54A09-126D-4EAD-BACE-D0E1181E4955}" type="presOf" srcId="{E46F7789-C73E-4245-AA10-811B73649080}" destId="{E156C446-E6B3-48E4-8335-9D27F725B036}" srcOrd="0" destOrd="4" presId="urn:microsoft.com/office/officeart/2005/8/layout/hProcess4"/>
    <dgm:cxn modelId="{5389BB0B-20CF-4EEB-81B7-07685AF4EAA0}" type="presOf" srcId="{4AAD2825-B82B-4B58-85D9-DCD8D816FA6C}" destId="{E156C446-E6B3-48E4-8335-9D27F725B036}" srcOrd="0" destOrd="0" presId="urn:microsoft.com/office/officeart/2005/8/layout/hProcess4"/>
    <dgm:cxn modelId="{02CCC80B-8D29-4A90-8A00-2083DC54A4BB}" type="presOf" srcId="{94BBFD34-F27B-41A9-B7FA-C58D1D04B119}" destId="{9691335B-2AC0-49B5-96FA-72C4A83C9132}" srcOrd="1" destOrd="0" presId="urn:microsoft.com/office/officeart/2005/8/layout/hProcess4"/>
    <dgm:cxn modelId="{3E40A80E-5AE8-4658-913D-E8499BBF062F}" type="presOf" srcId="{79B20654-D233-4E46-A864-908DBF8DA03C}" destId="{96A10382-45E1-4FAF-96AF-0EE0150F005B}" srcOrd="0" destOrd="0" presId="urn:microsoft.com/office/officeart/2005/8/layout/hProcess4"/>
    <dgm:cxn modelId="{56A9A60F-4DBF-41F9-B6C1-D07F5B5BF2B9}" type="presOf" srcId="{54CB945C-E87C-4E8A-8BA2-D2263BB751B5}" destId="{660B9FDD-96FF-4C6C-B937-42236EE1B1F2}" srcOrd="1" destOrd="1" presId="urn:microsoft.com/office/officeart/2005/8/layout/hProcess4"/>
    <dgm:cxn modelId="{9B9EDE10-6E1A-4FC8-90CF-C0ED76DB10FB}" srcId="{2668D5D1-5793-49FB-9EBB-950D39F73018}" destId="{E5F57D4E-5F9A-400D-8FE5-343717C8D71C}" srcOrd="3" destOrd="0" parTransId="{ABBD6A38-5660-460A-A5FD-0F1636663E76}" sibTransId="{6D45E42C-CCEE-41F3-A306-CE02775BBDB6}"/>
    <dgm:cxn modelId="{D32E4411-1422-4043-B471-B9D395F28499}" srcId="{2CEA1A0C-DDA2-4481-AB3F-E949C76CC71D}" destId="{54CB945C-E87C-4E8A-8BA2-D2263BB751B5}" srcOrd="1" destOrd="0" parTransId="{055BB139-C8AB-4026-819B-E915689FB9D5}" sibTransId="{53BE2CA0-A312-433A-9571-DE743B05ADDC}"/>
    <dgm:cxn modelId="{918EF715-8501-470B-81D3-2151FD7A59A6}" type="presOf" srcId="{31DBD50D-2CC7-4912-ABF8-8750ED56D643}" destId="{68D08750-34CE-4DB2-901B-832F102AB172}" srcOrd="1" destOrd="1" presId="urn:microsoft.com/office/officeart/2005/8/layout/hProcess4"/>
    <dgm:cxn modelId="{7AA72318-3FE4-4E64-B76C-6AC8DBF469A2}" srcId="{84B95C64-2DFB-48DF-BBD5-9753E7AD2407}" destId="{E1CDBAA6-42F6-4D40-B3CF-1BD432E91829}" srcOrd="3" destOrd="0" parTransId="{14856548-CF69-4901-9E23-554883809D16}" sibTransId="{BAEE15F8-F0E6-479D-9C24-6925A5E40F6F}"/>
    <dgm:cxn modelId="{B5DE2219-BA85-4B9B-9F7B-1AAE06C7BA59}" srcId="{2CEA1A0C-DDA2-4481-AB3F-E949C76CC71D}" destId="{EEB3905D-7DE7-45CC-BF84-02E92F1E4997}" srcOrd="6" destOrd="0" parTransId="{90379A46-385F-4E46-9A79-C6E7B104689D}" sibTransId="{BD76FEBE-8876-4777-B4E7-223B9FF07714}"/>
    <dgm:cxn modelId="{2818D422-369F-4293-9A6B-98B89C5FF8B3}" type="presOf" srcId="{E5F57D4E-5F9A-400D-8FE5-343717C8D71C}" destId="{68D08750-34CE-4DB2-901B-832F102AB172}" srcOrd="1" destOrd="3" presId="urn:microsoft.com/office/officeart/2005/8/layout/hProcess4"/>
    <dgm:cxn modelId="{3980E830-ECB9-424A-88C6-E853DB83D67C}" srcId="{84B95C64-2DFB-48DF-BBD5-9753E7AD2407}" destId="{F9CE46AE-FA94-40DC-8E04-F7DB7201B8AB}" srcOrd="1" destOrd="0" parTransId="{FA80A630-5F7C-4198-8DA3-977474718121}" sibTransId="{95E119D1-AD8E-43FF-BDC6-278CD3A48C57}"/>
    <dgm:cxn modelId="{20B1C631-7F8D-49CC-B50F-059A5BDC6427}" type="presOf" srcId="{D714C0CF-C9CB-41DC-9763-8F9E58D3B56A}" destId="{A9FEC373-0686-4288-8177-7F79A2BCF743}" srcOrd="0" destOrd="0" presId="urn:microsoft.com/office/officeart/2005/8/layout/hProcess4"/>
    <dgm:cxn modelId="{77837237-8F89-4B73-9C07-3D5A967664D7}" type="presOf" srcId="{E1CDBAA6-42F6-4D40-B3CF-1BD432E91829}" destId="{B6D7745F-1837-4BA9-A43B-D051BBE773AE}" srcOrd="0" destOrd="3" presId="urn:microsoft.com/office/officeart/2005/8/layout/hProcess4"/>
    <dgm:cxn modelId="{D90D475D-A274-4096-ACB9-D631F307D103}" type="presOf" srcId="{B1A7A68B-6756-4FF4-8C8E-FF0A47C440EA}" destId="{660B9FDD-96FF-4C6C-B937-42236EE1B1F2}" srcOrd="1" destOrd="3" presId="urn:microsoft.com/office/officeart/2005/8/layout/hProcess4"/>
    <dgm:cxn modelId="{A0D2EE41-ED13-4FC6-AF76-0AD38E269CA0}" type="presOf" srcId="{EB520E02-8D86-4027-A6BD-3486A80561AB}" destId="{E156C446-E6B3-48E4-8335-9D27F725B036}" srcOrd="0" destOrd="5" presId="urn:microsoft.com/office/officeart/2005/8/layout/hProcess4"/>
    <dgm:cxn modelId="{5DF75643-D6D3-48A0-94FB-AA3DC25D70B8}" srcId="{D714C0CF-C9CB-41DC-9763-8F9E58D3B56A}" destId="{2CEA1A0C-DDA2-4481-AB3F-E949C76CC71D}" srcOrd="0" destOrd="0" parTransId="{4BB91B8B-BCE6-4D40-82ED-3D4A9DBB12F5}" sibTransId="{55386DBA-22EB-41F7-97F4-91D231AF4A17}"/>
    <dgm:cxn modelId="{4F71006F-BECE-4875-9731-FBCBEB892F95}" srcId="{2668D5D1-5793-49FB-9EBB-950D39F73018}" destId="{79B20654-D233-4E46-A864-908DBF8DA03C}" srcOrd="0" destOrd="0" parTransId="{EDB6D2EE-5889-4438-97DB-47795FD2EACD}" sibTransId="{E1278AD7-AF6B-4558-89E1-FCE60556F3F3}"/>
    <dgm:cxn modelId="{EDB79073-2825-44F5-933F-486E8EFABA46}" type="presOf" srcId="{EEB3905D-7DE7-45CC-BF84-02E92F1E4997}" destId="{E156C446-E6B3-48E4-8335-9D27F725B036}" srcOrd="0" destOrd="6" presId="urn:microsoft.com/office/officeart/2005/8/layout/hProcess4"/>
    <dgm:cxn modelId="{FA3D4974-399B-4B2E-B3B6-19EBC2E773B1}" srcId="{2CEA1A0C-DDA2-4481-AB3F-E949C76CC71D}" destId="{4AAD2825-B82B-4B58-85D9-DCD8D816FA6C}" srcOrd="0" destOrd="0" parTransId="{CD321431-2908-4D7E-AFDC-1F4CC01140DB}" sibTransId="{C6AD37F7-AF96-4F41-8932-D991F926FC40}"/>
    <dgm:cxn modelId="{8C794956-8071-49B0-946E-85DC07A98445}" type="presOf" srcId="{94BBFD34-F27B-41A9-B7FA-C58D1D04B119}" destId="{B6D7745F-1837-4BA9-A43B-D051BBE773AE}" srcOrd="0" destOrd="0" presId="urn:microsoft.com/office/officeart/2005/8/layout/hProcess4"/>
    <dgm:cxn modelId="{250C2877-B78E-4A57-9D29-2660EC6AAAA4}" type="presOf" srcId="{2CEA1A0C-DDA2-4481-AB3F-E949C76CC71D}" destId="{6EDAFA75-A6A3-45B2-AA4D-95897C6A28EC}" srcOrd="0" destOrd="0" presId="urn:microsoft.com/office/officeart/2005/8/layout/hProcess4"/>
    <dgm:cxn modelId="{8864AF78-DBDE-400C-8A29-B230F040895E}" type="presOf" srcId="{D5F17E5D-29A3-4AE7-AF2C-78E685FBE6A3}" destId="{96A10382-45E1-4FAF-96AF-0EE0150F005B}" srcOrd="0" destOrd="2" presId="urn:microsoft.com/office/officeart/2005/8/layout/hProcess4"/>
    <dgm:cxn modelId="{90FB5981-F91C-42E5-893F-B3D2DB1D5C66}" type="presOf" srcId="{2668D5D1-5793-49FB-9EBB-950D39F73018}" destId="{53EC550F-5D6D-4684-BD00-DCA24D9C86E0}" srcOrd="0" destOrd="0" presId="urn:microsoft.com/office/officeart/2005/8/layout/hProcess4"/>
    <dgm:cxn modelId="{D4A64D86-2CA5-4697-9854-B05A15D23918}" type="presOf" srcId="{B3BDF88B-42A4-432A-9BEE-E9691EF7FC86}" destId="{B6D7745F-1837-4BA9-A43B-D051BBE773AE}" srcOrd="0" destOrd="5" presId="urn:microsoft.com/office/officeart/2005/8/layout/hProcess4"/>
    <dgm:cxn modelId="{1BD53787-223D-42D7-8A54-42B3B4806DB6}" srcId="{D714C0CF-C9CB-41DC-9763-8F9E58D3B56A}" destId="{84B95C64-2DFB-48DF-BBD5-9753E7AD2407}" srcOrd="2" destOrd="0" parTransId="{058EA66C-612B-4F4A-96CC-B3589E252019}" sibTransId="{A4BCC6D6-1C8C-4666-A385-DE2BCE34AE4A}"/>
    <dgm:cxn modelId="{17B72C8A-73D2-4DB2-993D-0F5005B0294C}" type="presOf" srcId="{4AAD2825-B82B-4B58-85D9-DCD8D816FA6C}" destId="{660B9FDD-96FF-4C6C-B937-42236EE1B1F2}" srcOrd="1" destOrd="0" presId="urn:microsoft.com/office/officeart/2005/8/layout/hProcess4"/>
    <dgm:cxn modelId="{8E62F08C-6464-45C1-8E3C-724C848B1F25}" type="presOf" srcId="{E5F57D4E-5F9A-400D-8FE5-343717C8D71C}" destId="{96A10382-45E1-4FAF-96AF-0EE0150F005B}" srcOrd="0" destOrd="3" presId="urn:microsoft.com/office/officeart/2005/8/layout/hProcess4"/>
    <dgm:cxn modelId="{46D27A8E-A4E4-4A64-BDF3-9FBBCBBBEBB5}" type="presOf" srcId="{B3BDF88B-42A4-432A-9BEE-E9691EF7FC86}" destId="{9691335B-2AC0-49B5-96FA-72C4A83C9132}" srcOrd="1" destOrd="5" presId="urn:microsoft.com/office/officeart/2005/8/layout/hProcess4"/>
    <dgm:cxn modelId="{4346A48E-CD11-410B-9FEE-77B5B2D335CB}" type="presOf" srcId="{E1CDBAA6-42F6-4D40-B3CF-1BD432E91829}" destId="{9691335B-2AC0-49B5-96FA-72C4A83C9132}" srcOrd="1" destOrd="3" presId="urn:microsoft.com/office/officeart/2005/8/layout/hProcess4"/>
    <dgm:cxn modelId="{B76B8991-B2A8-4B71-A9FF-1DC8BB91B734}" srcId="{2CEA1A0C-DDA2-4481-AB3F-E949C76CC71D}" destId="{B1A7A68B-6756-4FF4-8C8E-FF0A47C440EA}" srcOrd="3" destOrd="0" parTransId="{24C363EA-6955-4A67-B636-226A58675D89}" sibTransId="{E48C58FE-A297-4515-B788-68602E25150A}"/>
    <dgm:cxn modelId="{B0033192-E49B-4AC0-9C6D-CA30CDAD2940}" type="presOf" srcId="{EB520E02-8D86-4027-A6BD-3486A80561AB}" destId="{660B9FDD-96FF-4C6C-B937-42236EE1B1F2}" srcOrd="1" destOrd="5" presId="urn:microsoft.com/office/officeart/2005/8/layout/hProcess4"/>
    <dgm:cxn modelId="{691A0894-14B7-4EC3-AB37-7428C9C09F75}" type="presOf" srcId="{EEB3905D-7DE7-45CC-BF84-02E92F1E4997}" destId="{660B9FDD-96FF-4C6C-B937-42236EE1B1F2}" srcOrd="1" destOrd="6" presId="urn:microsoft.com/office/officeart/2005/8/layout/hProcess4"/>
    <dgm:cxn modelId="{64294A94-A293-4E59-BEFB-86290B5C8648}" type="presOf" srcId="{F9CE46AE-FA94-40DC-8E04-F7DB7201B8AB}" destId="{9691335B-2AC0-49B5-96FA-72C4A83C9132}" srcOrd="1" destOrd="1" presId="urn:microsoft.com/office/officeart/2005/8/layout/hProcess4"/>
    <dgm:cxn modelId="{12998594-B58A-4627-A0BC-8845C5AB2FB9}" srcId="{2668D5D1-5793-49FB-9EBB-950D39F73018}" destId="{D5F17E5D-29A3-4AE7-AF2C-78E685FBE6A3}" srcOrd="2" destOrd="0" parTransId="{5F4467C1-8F07-435C-8B07-43F07CD37101}" sibTransId="{7179F8E7-D3E3-4989-ACD6-9B5C858186F4}"/>
    <dgm:cxn modelId="{9484A7A2-9602-480F-A3A4-B635EBDE07BC}" type="presOf" srcId="{D5F17E5D-29A3-4AE7-AF2C-78E685FBE6A3}" destId="{68D08750-34CE-4DB2-901B-832F102AB172}" srcOrd="1" destOrd="2" presId="urn:microsoft.com/office/officeart/2005/8/layout/hProcess4"/>
    <dgm:cxn modelId="{4E1AF5A2-A204-425C-BD55-2A5B180DED89}" srcId="{D714C0CF-C9CB-41DC-9763-8F9E58D3B56A}" destId="{2668D5D1-5793-49FB-9EBB-950D39F73018}" srcOrd="1" destOrd="0" parTransId="{11CA7066-C7A7-4E4B-9DFB-57476C610FEB}" sibTransId="{21E1E7E5-EDC9-4AB8-8C32-ED0F737C675D}"/>
    <dgm:cxn modelId="{73B6F1A6-FEE3-41E4-B478-2B1F2957E4EE}" srcId="{84B95C64-2DFB-48DF-BBD5-9753E7AD2407}" destId="{94BBFD34-F27B-41A9-B7FA-C58D1D04B119}" srcOrd="0" destOrd="0" parTransId="{5C768C53-6801-4F89-96F8-1C4A76C9D9DC}" sibTransId="{2B94B3C9-7030-4059-9908-AA081C4EABCA}"/>
    <dgm:cxn modelId="{F5535DA8-8C3A-42FA-A46D-C453BC7C404B}" srcId="{2668D5D1-5793-49FB-9EBB-950D39F73018}" destId="{31DBD50D-2CC7-4912-ABF8-8750ED56D643}" srcOrd="1" destOrd="0" parTransId="{AB2E8F1F-1C01-4A0D-B3DB-6DC94AFCB38E}" sibTransId="{B529228A-3AE5-424C-9F09-7E8839F0868D}"/>
    <dgm:cxn modelId="{1E24B0A8-6747-4A01-9E7D-8876806293F6}" type="presOf" srcId="{21E1E7E5-EDC9-4AB8-8C32-ED0F737C675D}" destId="{15983DF9-11DA-4320-ADE3-70DE0C797136}" srcOrd="0" destOrd="0" presId="urn:microsoft.com/office/officeart/2005/8/layout/hProcess4"/>
    <dgm:cxn modelId="{1686E6AF-D3BD-4BCD-8313-93E3A332F2B1}" srcId="{2CEA1A0C-DDA2-4481-AB3F-E949C76CC71D}" destId="{EB520E02-8D86-4027-A6BD-3486A80561AB}" srcOrd="5" destOrd="0" parTransId="{CBB8DE11-B1E9-4E85-B18D-97A301D2E09E}" sibTransId="{9322630E-B4C1-4E4C-80FD-54950579B82A}"/>
    <dgm:cxn modelId="{B8321CB5-9FB8-4CB1-B8D8-B82F754B6B9C}" type="presOf" srcId="{1A91ABDB-4743-4BA1-8EDC-2697A98E014B}" destId="{660B9FDD-96FF-4C6C-B937-42236EE1B1F2}" srcOrd="1" destOrd="2" presId="urn:microsoft.com/office/officeart/2005/8/layout/hProcess4"/>
    <dgm:cxn modelId="{2CA6BEB9-5BB6-4910-9BEC-07C5173B8489}" type="presOf" srcId="{1A91ABDB-4743-4BA1-8EDC-2697A98E014B}" destId="{E156C446-E6B3-48E4-8335-9D27F725B036}" srcOrd="0" destOrd="2" presId="urn:microsoft.com/office/officeart/2005/8/layout/hProcess4"/>
    <dgm:cxn modelId="{3E8389BC-2BC0-47AB-B8C7-C5D05CF38750}" srcId="{84B95C64-2DFB-48DF-BBD5-9753E7AD2407}" destId="{CE70B3A4-9BC1-4ADB-8D64-EE933ECE9882}" srcOrd="4" destOrd="0" parTransId="{3163AAEA-AC5A-4A78-8688-65A82D532EF8}" sibTransId="{CA9AFB40-B5D2-4475-87E7-B3B093B5766C}"/>
    <dgm:cxn modelId="{DE2963BD-296D-4E6B-B08B-7D0774EB50A9}" type="presOf" srcId="{B1A7A68B-6756-4FF4-8C8E-FF0A47C440EA}" destId="{E156C446-E6B3-48E4-8335-9D27F725B036}" srcOrd="0" destOrd="3" presId="urn:microsoft.com/office/officeart/2005/8/layout/hProcess4"/>
    <dgm:cxn modelId="{3D645EC4-A8BD-4B1D-B71D-0096C4CEFACD}" type="presOf" srcId="{31DBD50D-2CC7-4912-ABF8-8750ED56D643}" destId="{96A10382-45E1-4FAF-96AF-0EE0150F005B}" srcOrd="0" destOrd="1" presId="urn:microsoft.com/office/officeart/2005/8/layout/hProcess4"/>
    <dgm:cxn modelId="{F13F56CA-AFD3-43B0-8314-F190A88CB43F}" srcId="{2CEA1A0C-DDA2-4481-AB3F-E949C76CC71D}" destId="{1A91ABDB-4743-4BA1-8EDC-2697A98E014B}" srcOrd="2" destOrd="0" parTransId="{5E86CB59-28A1-48C9-9A25-3529E57D2204}" sibTransId="{C29B49FE-1AC7-4953-886D-19B4151F7D18}"/>
    <dgm:cxn modelId="{F2416ED1-2D2B-4059-B406-779493513C8A}" type="presOf" srcId="{CE70B3A4-9BC1-4ADB-8D64-EE933ECE9882}" destId="{B6D7745F-1837-4BA9-A43B-D051BBE773AE}" srcOrd="0" destOrd="4" presId="urn:microsoft.com/office/officeart/2005/8/layout/hProcess4"/>
    <dgm:cxn modelId="{58DA04D5-24AC-4D37-9974-DB0E5D85A113}" type="presOf" srcId="{CE70B3A4-9BC1-4ADB-8D64-EE933ECE9882}" destId="{9691335B-2AC0-49B5-96FA-72C4A83C9132}" srcOrd="1" destOrd="4" presId="urn:microsoft.com/office/officeart/2005/8/layout/hProcess4"/>
    <dgm:cxn modelId="{78BE08E4-7634-4865-8C37-721A086A9C79}" type="presOf" srcId="{F9CE46AE-FA94-40DC-8E04-F7DB7201B8AB}" destId="{B6D7745F-1837-4BA9-A43B-D051BBE773AE}" srcOrd="0" destOrd="1" presId="urn:microsoft.com/office/officeart/2005/8/layout/hProcess4"/>
    <dgm:cxn modelId="{AA06D2EB-6806-4635-8E0A-7A56B79F338B}" type="presOf" srcId="{54CB945C-E87C-4E8A-8BA2-D2263BB751B5}" destId="{E156C446-E6B3-48E4-8335-9D27F725B036}" srcOrd="0" destOrd="1" presId="urn:microsoft.com/office/officeart/2005/8/layout/hProcess4"/>
    <dgm:cxn modelId="{52CBA8EF-E2DC-4D72-88FC-6A0B84FB41C1}" type="presOf" srcId="{79B20654-D233-4E46-A864-908DBF8DA03C}" destId="{68D08750-34CE-4DB2-901B-832F102AB172}" srcOrd="1" destOrd="0" presId="urn:microsoft.com/office/officeart/2005/8/layout/hProcess4"/>
    <dgm:cxn modelId="{050D00F6-6D6D-4592-8167-B36F3606C468}" srcId="{84B95C64-2DFB-48DF-BBD5-9753E7AD2407}" destId="{B3BDF88B-42A4-432A-9BEE-E9691EF7FC86}" srcOrd="5" destOrd="0" parTransId="{35E77526-F9AB-4BB7-AD0F-5471300FE9B9}" sibTransId="{F12B0395-998B-4C8B-AF8D-2C43CEE1717B}"/>
    <dgm:cxn modelId="{C55660FA-41BF-4536-B98B-91C7836A3CA5}" srcId="{2CEA1A0C-DDA2-4481-AB3F-E949C76CC71D}" destId="{E46F7789-C73E-4245-AA10-811B73649080}" srcOrd="4" destOrd="0" parTransId="{F39FA77B-08CE-4CC0-85BE-95BEAF64A1BE}" sibTransId="{A393063E-CA6F-485C-942B-27BD7C143C75}"/>
    <dgm:cxn modelId="{B4A8D5FD-1E54-452A-8FA5-829BB4E70B49}" type="presOf" srcId="{55386DBA-22EB-41F7-97F4-91D231AF4A17}" destId="{9AB61DC3-E3E5-4259-9096-82952D17D601}" srcOrd="0" destOrd="0" presId="urn:microsoft.com/office/officeart/2005/8/layout/hProcess4"/>
    <dgm:cxn modelId="{C71601FF-B3F7-420D-BC90-FF45C02FA489}" type="presOf" srcId="{F12FC848-75EA-4566-B0BE-39482AA54130}" destId="{9691335B-2AC0-49B5-96FA-72C4A83C9132}" srcOrd="1" destOrd="2" presId="urn:microsoft.com/office/officeart/2005/8/layout/hProcess4"/>
    <dgm:cxn modelId="{C94A783C-A293-4D91-991F-BABB016BF8C7}" type="presParOf" srcId="{A9FEC373-0686-4288-8177-7F79A2BCF743}" destId="{F7C497DF-4EB4-4A5F-836E-8A636F15DBE6}" srcOrd="0" destOrd="0" presId="urn:microsoft.com/office/officeart/2005/8/layout/hProcess4"/>
    <dgm:cxn modelId="{FB1A7D9F-3E62-4EFB-BA38-0ACBB3BAE5AB}" type="presParOf" srcId="{A9FEC373-0686-4288-8177-7F79A2BCF743}" destId="{216A5C84-63D3-4DB8-8146-2FFA03B5163C}" srcOrd="1" destOrd="0" presId="urn:microsoft.com/office/officeart/2005/8/layout/hProcess4"/>
    <dgm:cxn modelId="{613CC7D3-E039-475A-8308-424674E3140C}" type="presParOf" srcId="{A9FEC373-0686-4288-8177-7F79A2BCF743}" destId="{2DF4F4E7-FB84-438C-8478-539A96F7B5B9}" srcOrd="2" destOrd="0" presId="urn:microsoft.com/office/officeart/2005/8/layout/hProcess4"/>
    <dgm:cxn modelId="{F112962C-34D2-455F-8949-53274BB7806A}" type="presParOf" srcId="{2DF4F4E7-FB84-438C-8478-539A96F7B5B9}" destId="{F77D7420-783C-47A2-B719-B946368F899A}" srcOrd="0" destOrd="0" presId="urn:microsoft.com/office/officeart/2005/8/layout/hProcess4"/>
    <dgm:cxn modelId="{270F5935-4C17-4D23-BBB0-5B422A84132F}" type="presParOf" srcId="{F77D7420-783C-47A2-B719-B946368F899A}" destId="{186E915F-39FA-412B-B596-AEFFB757C42A}" srcOrd="0" destOrd="0" presId="urn:microsoft.com/office/officeart/2005/8/layout/hProcess4"/>
    <dgm:cxn modelId="{CD2774C9-ADE0-42E0-BF59-447E9B245808}" type="presParOf" srcId="{F77D7420-783C-47A2-B719-B946368F899A}" destId="{E156C446-E6B3-48E4-8335-9D27F725B036}" srcOrd="1" destOrd="0" presId="urn:microsoft.com/office/officeart/2005/8/layout/hProcess4"/>
    <dgm:cxn modelId="{9ED52A89-FD4D-4FAB-943B-053F746378E3}" type="presParOf" srcId="{F77D7420-783C-47A2-B719-B946368F899A}" destId="{660B9FDD-96FF-4C6C-B937-42236EE1B1F2}" srcOrd="2" destOrd="0" presId="urn:microsoft.com/office/officeart/2005/8/layout/hProcess4"/>
    <dgm:cxn modelId="{DC00496D-A1C5-4D18-B93C-E5EA35C3DECF}" type="presParOf" srcId="{F77D7420-783C-47A2-B719-B946368F899A}" destId="{6EDAFA75-A6A3-45B2-AA4D-95897C6A28EC}" srcOrd="3" destOrd="0" presId="urn:microsoft.com/office/officeart/2005/8/layout/hProcess4"/>
    <dgm:cxn modelId="{352482BC-8C82-42DC-A6DC-0FB57954CB46}" type="presParOf" srcId="{F77D7420-783C-47A2-B719-B946368F899A}" destId="{E7B02DA8-A927-4FB7-B014-A9A674A618B4}" srcOrd="4" destOrd="0" presId="urn:microsoft.com/office/officeart/2005/8/layout/hProcess4"/>
    <dgm:cxn modelId="{4D1DD7CF-B8C0-49F3-82BC-5C8D5670E642}" type="presParOf" srcId="{2DF4F4E7-FB84-438C-8478-539A96F7B5B9}" destId="{9AB61DC3-E3E5-4259-9096-82952D17D601}" srcOrd="1" destOrd="0" presId="urn:microsoft.com/office/officeart/2005/8/layout/hProcess4"/>
    <dgm:cxn modelId="{9BB6E221-4C36-4663-B716-7FB811E9AD92}" type="presParOf" srcId="{2DF4F4E7-FB84-438C-8478-539A96F7B5B9}" destId="{842FB648-7E4A-440A-8C13-58CE7B7EB7D6}" srcOrd="2" destOrd="0" presId="urn:microsoft.com/office/officeart/2005/8/layout/hProcess4"/>
    <dgm:cxn modelId="{BC850C67-A609-45D7-ACD0-7407AF2A887E}" type="presParOf" srcId="{842FB648-7E4A-440A-8C13-58CE7B7EB7D6}" destId="{4AA6F2EA-2F7B-4B2F-A82F-5A20D87EFB9B}" srcOrd="0" destOrd="0" presId="urn:microsoft.com/office/officeart/2005/8/layout/hProcess4"/>
    <dgm:cxn modelId="{AD1DC835-574C-4AF0-A8C0-2533613E28E7}" type="presParOf" srcId="{842FB648-7E4A-440A-8C13-58CE7B7EB7D6}" destId="{96A10382-45E1-4FAF-96AF-0EE0150F005B}" srcOrd="1" destOrd="0" presId="urn:microsoft.com/office/officeart/2005/8/layout/hProcess4"/>
    <dgm:cxn modelId="{D4AE592F-C8F6-46F3-8AA4-321A4F54A231}" type="presParOf" srcId="{842FB648-7E4A-440A-8C13-58CE7B7EB7D6}" destId="{68D08750-34CE-4DB2-901B-832F102AB172}" srcOrd="2" destOrd="0" presId="urn:microsoft.com/office/officeart/2005/8/layout/hProcess4"/>
    <dgm:cxn modelId="{0DBCB76C-1342-4F4A-876A-C211A2C1179E}" type="presParOf" srcId="{842FB648-7E4A-440A-8C13-58CE7B7EB7D6}" destId="{53EC550F-5D6D-4684-BD00-DCA24D9C86E0}" srcOrd="3" destOrd="0" presId="urn:microsoft.com/office/officeart/2005/8/layout/hProcess4"/>
    <dgm:cxn modelId="{60B56A3B-DA0C-4034-A0AB-30A5FDCA88D9}" type="presParOf" srcId="{842FB648-7E4A-440A-8C13-58CE7B7EB7D6}" destId="{61C6BD0B-2FA2-464D-8DDA-18F10DCFFA29}" srcOrd="4" destOrd="0" presId="urn:microsoft.com/office/officeart/2005/8/layout/hProcess4"/>
    <dgm:cxn modelId="{E3F69947-DA4C-41A8-80E4-0359603F0559}" type="presParOf" srcId="{2DF4F4E7-FB84-438C-8478-539A96F7B5B9}" destId="{15983DF9-11DA-4320-ADE3-70DE0C797136}" srcOrd="3" destOrd="0" presId="urn:microsoft.com/office/officeart/2005/8/layout/hProcess4"/>
    <dgm:cxn modelId="{A8DA17C4-7D2C-4927-88A6-44AF5CF10CBD}" type="presParOf" srcId="{2DF4F4E7-FB84-438C-8478-539A96F7B5B9}" destId="{1603AC76-2C20-4F4F-A6A9-7EAB31DC5D7B}" srcOrd="4" destOrd="0" presId="urn:microsoft.com/office/officeart/2005/8/layout/hProcess4"/>
    <dgm:cxn modelId="{28EE7309-7238-4A48-9729-8C0624212B16}" type="presParOf" srcId="{1603AC76-2C20-4F4F-A6A9-7EAB31DC5D7B}" destId="{99F710EB-09EF-4FCD-8C69-704CF9412E03}" srcOrd="0" destOrd="0" presId="urn:microsoft.com/office/officeart/2005/8/layout/hProcess4"/>
    <dgm:cxn modelId="{2DA53DC4-DBA5-41D2-BF33-2AF377E5D0D2}" type="presParOf" srcId="{1603AC76-2C20-4F4F-A6A9-7EAB31DC5D7B}" destId="{B6D7745F-1837-4BA9-A43B-D051BBE773AE}" srcOrd="1" destOrd="0" presId="urn:microsoft.com/office/officeart/2005/8/layout/hProcess4"/>
    <dgm:cxn modelId="{364C4479-CBCF-4E7A-B446-5715D73C649D}" type="presParOf" srcId="{1603AC76-2C20-4F4F-A6A9-7EAB31DC5D7B}" destId="{9691335B-2AC0-49B5-96FA-72C4A83C9132}" srcOrd="2" destOrd="0" presId="urn:microsoft.com/office/officeart/2005/8/layout/hProcess4"/>
    <dgm:cxn modelId="{0E4E7841-D5AF-4C1B-A66A-6775DE1CE3D5}" type="presParOf" srcId="{1603AC76-2C20-4F4F-A6A9-7EAB31DC5D7B}" destId="{9EF2D70C-9EE8-462E-8846-08C91E33705F}" srcOrd="3" destOrd="0" presId="urn:microsoft.com/office/officeart/2005/8/layout/hProcess4"/>
    <dgm:cxn modelId="{5616AFCE-DBFC-4D53-BE26-7776B53CAD2C}" type="presParOf" srcId="{1603AC76-2C20-4F4F-A6A9-7EAB31DC5D7B}" destId="{AD61DCD6-B299-4FC4-9E47-1A07BDB8326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6C446-E6B3-48E4-8335-9D27F725B036}">
      <dsp:nvSpPr>
        <dsp:cNvPr id="0" name=""/>
        <dsp:cNvSpPr/>
      </dsp:nvSpPr>
      <dsp:spPr>
        <a:xfrm>
          <a:off x="86527" y="849825"/>
          <a:ext cx="2243576" cy="16329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4D4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900" kern="1200" dirty="0">
            <a:latin typeface="Montserrat" panose="00000500000000000000" pitchFamily="2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SKU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Type de produit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Statistiques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Données de publication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Caractéristiques fiscales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Métadonnées supplémentaires</a:t>
          </a:r>
        </a:p>
      </dsp:txBody>
      <dsp:txXfrm>
        <a:off x="124107" y="887405"/>
        <a:ext cx="2168416" cy="1207910"/>
      </dsp:txXfrm>
    </dsp:sp>
    <dsp:sp modelId="{9AB61DC3-E3E5-4259-9096-82952D17D601}">
      <dsp:nvSpPr>
        <dsp:cNvPr id="0" name=""/>
        <dsp:cNvSpPr/>
      </dsp:nvSpPr>
      <dsp:spPr>
        <a:xfrm>
          <a:off x="1295762" y="1004882"/>
          <a:ext cx="2507321" cy="2507321"/>
        </a:xfrm>
        <a:prstGeom prst="leftCircularArrow">
          <a:avLst>
            <a:gd name="adj1" fmla="val 3345"/>
            <a:gd name="adj2" fmla="val 413547"/>
            <a:gd name="adj3" fmla="val 2189058"/>
            <a:gd name="adj4" fmla="val 9024489"/>
            <a:gd name="adj5" fmla="val 3903"/>
          </a:avLst>
        </a:prstGeom>
        <a:solidFill>
          <a:srgbClr val="004D4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AFA75-A6A3-45B2-AA4D-95897C6A28EC}">
      <dsp:nvSpPr>
        <dsp:cNvPr id="0" name=""/>
        <dsp:cNvSpPr/>
      </dsp:nvSpPr>
      <dsp:spPr>
        <a:xfrm>
          <a:off x="658345" y="2132896"/>
          <a:ext cx="1759905" cy="699856"/>
        </a:xfrm>
        <a:prstGeom prst="roundRect">
          <a:avLst>
            <a:gd name="adj" fmla="val 10000"/>
          </a:avLst>
        </a:prstGeom>
        <a:solidFill>
          <a:srgbClr val="004D4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latin typeface="Montserrat" panose="00000500000000000000" pitchFamily="2" charset="0"/>
            </a:rPr>
            <a:t>Données détaillées</a:t>
          </a:r>
        </a:p>
      </dsp:txBody>
      <dsp:txXfrm>
        <a:off x="678843" y="2153394"/>
        <a:ext cx="1718909" cy="658860"/>
      </dsp:txXfrm>
    </dsp:sp>
    <dsp:sp modelId="{96A10382-45E1-4FAF-96AF-0EE0150F005B}">
      <dsp:nvSpPr>
        <dsp:cNvPr id="0" name=""/>
        <dsp:cNvSpPr/>
      </dsp:nvSpPr>
      <dsp:spPr>
        <a:xfrm>
          <a:off x="2817666" y="849825"/>
          <a:ext cx="2343719" cy="16329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4D4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Identification des colonnes inutiles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Correction des anomalies SKU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Traitement des valeurs manquantes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Suppression des doublons</a:t>
          </a:r>
        </a:p>
      </dsp:txBody>
      <dsp:txXfrm>
        <a:off x="2855246" y="1237334"/>
        <a:ext cx="2268559" cy="1207910"/>
      </dsp:txXfrm>
    </dsp:sp>
    <dsp:sp modelId="{15983DF9-11DA-4320-ADE3-70DE0C797136}">
      <dsp:nvSpPr>
        <dsp:cNvPr id="0" name=""/>
        <dsp:cNvSpPr/>
      </dsp:nvSpPr>
      <dsp:spPr>
        <a:xfrm>
          <a:off x="4066390" y="-220619"/>
          <a:ext cx="2669574" cy="2669574"/>
        </a:xfrm>
        <a:prstGeom prst="circularArrow">
          <a:avLst>
            <a:gd name="adj1" fmla="val 3142"/>
            <a:gd name="adj2" fmla="val 386547"/>
            <a:gd name="adj3" fmla="val 19437942"/>
            <a:gd name="adj4" fmla="val 12575511"/>
            <a:gd name="adj5" fmla="val 3666"/>
          </a:avLst>
        </a:prstGeom>
        <a:solidFill>
          <a:srgbClr val="004D4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C550F-5D6D-4684-BD00-DCA24D9C86E0}">
      <dsp:nvSpPr>
        <dsp:cNvPr id="0" name=""/>
        <dsp:cNvSpPr/>
      </dsp:nvSpPr>
      <dsp:spPr>
        <a:xfrm>
          <a:off x="3439555" y="499897"/>
          <a:ext cx="1759905" cy="699856"/>
        </a:xfrm>
        <a:prstGeom prst="roundRect">
          <a:avLst>
            <a:gd name="adj" fmla="val 10000"/>
          </a:avLst>
        </a:prstGeom>
        <a:solidFill>
          <a:srgbClr val="004D4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latin typeface="Montserrat" panose="00000500000000000000" pitchFamily="2" charset="0"/>
            </a:rPr>
            <a:t>Nettoyage</a:t>
          </a:r>
        </a:p>
      </dsp:txBody>
      <dsp:txXfrm>
        <a:off x="3460053" y="520395"/>
        <a:ext cx="1718909" cy="658860"/>
      </dsp:txXfrm>
    </dsp:sp>
    <dsp:sp modelId="{B6D7745F-1837-4BA9-A43B-D051BBE773AE}">
      <dsp:nvSpPr>
        <dsp:cNvPr id="0" name=""/>
        <dsp:cNvSpPr/>
      </dsp:nvSpPr>
      <dsp:spPr>
        <a:xfrm>
          <a:off x="5598876" y="849825"/>
          <a:ext cx="2185921" cy="16329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4D4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000" kern="1200" dirty="0">
            <a:latin typeface="Montserrat" panose="00000500000000000000" pitchFamily="2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SKU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Type de produit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Ventes totales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Titre du post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Montserrat" panose="00000500000000000000" pitchFamily="2" charset="0"/>
            </a:rPr>
            <a:t>Date de publication et de modification du post</a:t>
          </a:r>
        </a:p>
      </dsp:txBody>
      <dsp:txXfrm>
        <a:off x="5636456" y="887405"/>
        <a:ext cx="2110761" cy="1207910"/>
      </dsp:txXfrm>
    </dsp:sp>
    <dsp:sp modelId="{9EF2D70C-9EE8-462E-8846-08C91E33705F}">
      <dsp:nvSpPr>
        <dsp:cNvPr id="0" name=""/>
        <dsp:cNvSpPr/>
      </dsp:nvSpPr>
      <dsp:spPr>
        <a:xfrm>
          <a:off x="6141866" y="2132896"/>
          <a:ext cx="1759905" cy="699856"/>
        </a:xfrm>
        <a:prstGeom prst="roundRect">
          <a:avLst>
            <a:gd name="adj" fmla="val 10000"/>
          </a:avLst>
        </a:prstGeom>
        <a:solidFill>
          <a:srgbClr val="004D4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latin typeface="Montserrat" panose="00000500000000000000" pitchFamily="2" charset="0"/>
            </a:rPr>
            <a:t>Données finales conservées</a:t>
          </a:r>
        </a:p>
      </dsp:txBody>
      <dsp:txXfrm>
        <a:off x="6162364" y="2153394"/>
        <a:ext cx="1718909" cy="658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7059A04-75C3-0AC8-E353-41A657136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637CAC4A-3C5D-8FB8-CA14-09659540E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09B63A03-7298-71E0-C399-5DDB5D666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0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917861C-2EEE-C691-97EA-140C334C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8B81120C-8EF6-B9A7-D3DB-A55986F81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C3148DE3-1C64-634E-2C7E-B3F85DD18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854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56C673F3-5040-246D-9414-D947EB8FA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ECC36828-DFE1-0FA3-2B9E-3554161E5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C2A1FD9F-539D-3689-DC5F-DF2CEC0E6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690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029680D0-5098-5A4F-F5CF-08FEB083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>
            <a:extLst>
              <a:ext uri="{FF2B5EF4-FFF2-40B4-BE49-F238E27FC236}">
                <a16:creationId xmlns:a16="http://schemas.microsoft.com/office/drawing/2014/main" id="{232D71A8-0593-BB65-A17D-5C8701C9C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>
            <a:extLst>
              <a:ext uri="{FF2B5EF4-FFF2-40B4-BE49-F238E27FC236}">
                <a16:creationId xmlns:a16="http://schemas.microsoft.com/office/drawing/2014/main" id="{25A844AC-FBB5-4D52-202A-4952E9905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113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02F1A190-8111-FEAD-C1CD-B37788C6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379E5095-2506-52AD-1B14-70313983C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F1961146-8CB7-A511-FBE7-8B8796E60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818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EE18E1AB-252E-88FB-3FFB-09BDE5E93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FE6A27BB-6DC2-0663-9DE3-223CC87AE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FED748E4-8254-6648-3327-43FE790FC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137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C5D3373A-B817-AEE2-53A1-37875479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CED36261-FBCF-1BC8-070A-BE8FC6DA5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AC6572F9-8DA4-9E0F-BA45-EB2E140E6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607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5795DBB-2C9E-8330-2C20-DD016688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E08DDBD6-ED6B-8877-2356-5551286C6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B96755A3-88F9-CDFA-44F1-97C7EA389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3413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54B564D-AE6F-0D25-AD7C-CAF42601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CA55FC37-FF3D-5BAF-6B9D-C5717FDE9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D2A29214-976F-17B9-E216-F00BBD768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418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8684B83-A4D4-7DC0-DEF9-78E8DDB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6591E4C7-6152-6B48-5F82-3464D6F56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090466F4-F63A-0183-F6EB-DCA35243E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802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CD40A7A6-249E-C8EB-9B48-7DC0939D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56440939-CE3D-BFDA-D37E-9489694D6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F93AE79B-35CC-0F5D-C178-3B5B33209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769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86F52C7-A0C0-439B-EE53-9A3EC5D5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F22E0101-F0EE-4F61-1243-5F08BC48C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D43DAB9E-249F-7943-D268-6219DC361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94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50" y="1515943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32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Optimiser la gestion des données d’une boutique avec Python </a:t>
            </a:r>
            <a:endParaRPr sz="32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897715" y="3925885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 : Yung Charlotte</a:t>
            </a:r>
            <a:endParaRPr sz="16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897715" y="4253066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Cursus : Data Analyst </a:t>
            </a:r>
            <a:endParaRPr sz="16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6459110" y="458432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Mars 2025</a:t>
            </a:r>
            <a:endParaRPr sz="16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5DEE69A-6922-6CC3-2C73-9F15070DF0BA}"/>
              </a:ext>
            </a:extLst>
          </p:cNvPr>
          <p:cNvSpPr txBox="1"/>
          <p:nvPr/>
        </p:nvSpPr>
        <p:spPr>
          <a:xfrm>
            <a:off x="781050" y="2840940"/>
            <a:ext cx="758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Montserrat" panose="00000500000000000000" pitchFamily="2" charset="0"/>
              </a:rPr>
              <a:t>Présentation sur l'optimisation de la gestion des données d'une boutique en utilisant Python pour l'analyse et l'amélioration des opérations.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122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1238E4A-0E2B-149A-B19D-B342410C9212}"/>
              </a:ext>
            </a:extLst>
          </p:cNvPr>
          <p:cNvSpPr txBox="1"/>
          <p:nvPr/>
        </p:nvSpPr>
        <p:spPr>
          <a:xfrm>
            <a:off x="1663262" y="721345"/>
            <a:ext cx="6985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0000500000000000000" pitchFamily="2" charset="0"/>
              </a:rPr>
              <a:t>Fichier ERP (Enterprise Resource Planning)</a:t>
            </a:r>
          </a:p>
          <a:p>
            <a:endParaRPr lang="fr-FR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6CE6F4E-2E35-65FC-CB5B-68988C5A33AC}"/>
              </a:ext>
            </a:extLst>
          </p:cNvPr>
          <p:cNvSpPr txBox="1"/>
          <p:nvPr/>
        </p:nvSpPr>
        <p:spPr>
          <a:xfrm>
            <a:off x="895525" y="1616463"/>
            <a:ext cx="7372175" cy="1384995"/>
          </a:xfrm>
          <a:prstGeom prst="rect">
            <a:avLst/>
          </a:prstGeom>
          <a:solidFill>
            <a:srgbClr val="004D40"/>
          </a:solidFill>
          <a:ln>
            <a:solidFill>
              <a:srgbClr val="004D4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Montserrat" panose="00000500000000000000" pitchFamily="2" charset="0"/>
              </a:rPr>
              <a:t>Présentation du fichier </a:t>
            </a:r>
          </a:p>
          <a:p>
            <a:pPr algn="ctr"/>
            <a:endParaRPr lang="fr-FR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Nombre de lignes et colonnes : 825 observations et 6 colonnes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Type de données : Informations produits</a:t>
            </a:r>
          </a:p>
          <a:p>
            <a:endParaRPr lang="fr-FR" dirty="0">
              <a:latin typeface="Montserrat" panose="00000500000000000000" pitchFamily="2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D713686-2230-B022-EBCE-8AA1E00A4FAC}"/>
              </a:ext>
            </a:extLst>
          </p:cNvPr>
          <p:cNvSpPr txBox="1"/>
          <p:nvPr/>
        </p:nvSpPr>
        <p:spPr>
          <a:xfrm>
            <a:off x="895525" y="3227721"/>
            <a:ext cx="3676475" cy="1384995"/>
          </a:xfrm>
          <a:prstGeom prst="rect">
            <a:avLst/>
          </a:prstGeom>
          <a:solidFill>
            <a:srgbClr val="004D40"/>
          </a:solidFill>
          <a:ln>
            <a:solidFill>
              <a:srgbClr val="004D4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Montserrat" panose="00000500000000000000" pitchFamily="2" charset="0"/>
              </a:rPr>
              <a:t>Données essentielles </a:t>
            </a:r>
          </a:p>
          <a:p>
            <a:endParaRPr lang="fr-FR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ID Produit </a:t>
            </a: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Disponibilité sur le site</a:t>
            </a:r>
            <a:b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Prix                                </a:t>
            </a: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Stock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AC5BB16-9D93-C653-29A6-CC8FC66717A5}"/>
              </a:ext>
            </a:extLst>
          </p:cNvPr>
          <p:cNvSpPr txBox="1"/>
          <p:nvPr/>
        </p:nvSpPr>
        <p:spPr>
          <a:xfrm>
            <a:off x="4765810" y="3227720"/>
            <a:ext cx="3501890" cy="1384995"/>
          </a:xfrm>
          <a:prstGeom prst="rect">
            <a:avLst/>
          </a:prstGeom>
          <a:solidFill>
            <a:srgbClr val="004D40"/>
          </a:solidFill>
          <a:ln>
            <a:solidFill>
              <a:srgbClr val="004D4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Montserrat" panose="00000500000000000000" pitchFamily="2" charset="0"/>
              </a:rPr>
              <a:t>Nettoyage </a:t>
            </a:r>
            <a:b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fr-FR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-     Rectification des incohérences du      </a:t>
            </a:r>
            <a:b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      statut des stocks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-    Correction des valeurs négatives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66657C7-5847-947E-634D-7880F3DC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A45666EE-F1D0-6C93-665E-78AC7F52753C}"/>
              </a:ext>
            </a:extLst>
          </p:cNvPr>
          <p:cNvSpPr/>
          <p:nvPr/>
        </p:nvSpPr>
        <p:spPr>
          <a:xfrm>
            <a:off x="-1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E8990FF2-7CCF-63C6-FDE9-5D21FC82C039}"/>
              </a:ext>
            </a:extLst>
          </p:cNvPr>
          <p:cNvSpPr txBox="1"/>
          <p:nvPr/>
        </p:nvSpPr>
        <p:spPr>
          <a:xfrm>
            <a:off x="1012175" y="161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C219E68-3019-F9EB-9C7A-61E154ACBD1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6ABC8A95-591D-B904-C87C-8739BB0068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542067"/>
              </p:ext>
            </p:extLst>
          </p:nvPr>
        </p:nvGraphicFramePr>
        <p:xfrm>
          <a:off x="577849" y="1649375"/>
          <a:ext cx="7988300" cy="3332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D063B7C6-FD03-7BE5-E1F9-AABC4AE29A43}"/>
              </a:ext>
            </a:extLst>
          </p:cNvPr>
          <p:cNvSpPr txBox="1"/>
          <p:nvPr/>
        </p:nvSpPr>
        <p:spPr>
          <a:xfrm>
            <a:off x="1553775" y="695100"/>
            <a:ext cx="402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0000500000000000000" pitchFamily="2" charset="0"/>
              </a:rPr>
              <a:t>Fichier WEB</a:t>
            </a:r>
          </a:p>
        </p:txBody>
      </p:sp>
    </p:spTree>
    <p:extLst>
      <p:ext uri="{BB962C8B-B14F-4D97-AF65-F5344CB8AC3E}">
        <p14:creationId xmlns:p14="http://schemas.microsoft.com/office/powerpoint/2010/main" val="120421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DD9353D-7C01-1E0F-617B-0B6AD3F8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6CC83A5F-6072-31A2-FBB5-1646D1A4193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9F87BC7-C9CF-B2EF-2570-1F2BB5CF4C61}"/>
              </a:ext>
            </a:extLst>
          </p:cNvPr>
          <p:cNvSpPr txBox="1"/>
          <p:nvPr/>
        </p:nvSpPr>
        <p:spPr>
          <a:xfrm>
            <a:off x="895525" y="122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B3A49ED2-FC42-FCF9-8F51-14BC614D711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6E7EE7E-BDE4-457B-60CE-E33F0BA5C0F6}"/>
              </a:ext>
            </a:extLst>
          </p:cNvPr>
          <p:cNvSpPr txBox="1"/>
          <p:nvPr/>
        </p:nvSpPr>
        <p:spPr>
          <a:xfrm>
            <a:off x="1561975" y="695100"/>
            <a:ext cx="402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0000500000000000000" pitchFamily="2" charset="0"/>
              </a:rPr>
              <a:t>Fichier LIAISON</a:t>
            </a:r>
          </a:p>
        </p:txBody>
      </p:sp>
      <p:pic>
        <p:nvPicPr>
          <p:cNvPr id="7" name="Graphique 6" descr="Dossier avec un remplissage uni">
            <a:extLst>
              <a:ext uri="{FF2B5EF4-FFF2-40B4-BE49-F238E27FC236}">
                <a16:creationId xmlns:a16="http://schemas.microsoft.com/office/drawing/2014/main" id="{2BFAF964-00F3-5196-ECCC-49A560CCB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829" y="1806400"/>
            <a:ext cx="765350" cy="76535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72927D4-4DD3-2BA4-4516-056E0F401B1F}"/>
              </a:ext>
            </a:extLst>
          </p:cNvPr>
          <p:cNvSpPr txBox="1"/>
          <p:nvPr/>
        </p:nvSpPr>
        <p:spPr>
          <a:xfrm>
            <a:off x="1375179" y="1880925"/>
            <a:ext cx="3526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Contenu du fichier</a:t>
            </a:r>
            <a:br>
              <a:rPr lang="fr-FR" b="1" dirty="0">
                <a:latin typeface="Montserrat" panose="00000500000000000000" pitchFamily="2" charset="0"/>
              </a:rPr>
            </a:br>
            <a:endParaRPr lang="fr-FR" b="1" dirty="0"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Nombre de colonnes : 2</a:t>
            </a:r>
          </a:p>
          <a:p>
            <a:r>
              <a:rPr lang="fr-FR" dirty="0">
                <a:latin typeface="Montserrat" panose="00000500000000000000" pitchFamily="2" charset="0"/>
              </a:rPr>
              <a:t>Nombre d’observations : 825</a:t>
            </a:r>
          </a:p>
        </p:txBody>
      </p:sp>
      <p:pic>
        <p:nvPicPr>
          <p:cNvPr id="10" name="Graphique 9" descr="Document contour">
            <a:extLst>
              <a:ext uri="{FF2B5EF4-FFF2-40B4-BE49-F238E27FC236}">
                <a16:creationId xmlns:a16="http://schemas.microsoft.com/office/drawing/2014/main" id="{1FF3CBA5-F905-9565-B87F-BDBB0C97FC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404" y="1880925"/>
            <a:ext cx="765350" cy="76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297568A-9235-3293-F5AD-F9FADED2DC6A}"/>
              </a:ext>
            </a:extLst>
          </p:cNvPr>
          <p:cNvSpPr txBox="1"/>
          <p:nvPr/>
        </p:nvSpPr>
        <p:spPr>
          <a:xfrm>
            <a:off x="5666754" y="1880925"/>
            <a:ext cx="2451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Données</a:t>
            </a:r>
            <a:r>
              <a:rPr lang="fr-FR" dirty="0">
                <a:latin typeface="Montserrat" panose="00000500000000000000" pitchFamily="2" charset="0"/>
              </a:rPr>
              <a:t> 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- ID du produit</a:t>
            </a:r>
          </a:p>
          <a:p>
            <a:r>
              <a:rPr lang="fr-FR" dirty="0">
                <a:latin typeface="Montserrat" panose="00000500000000000000" pitchFamily="2" charset="0"/>
              </a:rPr>
              <a:t>- SKU</a:t>
            </a:r>
          </a:p>
        </p:txBody>
      </p:sp>
      <p:pic>
        <p:nvPicPr>
          <p:cNvPr id="13" name="Graphique 12" descr="Avertissement avec un remplissage uni">
            <a:extLst>
              <a:ext uri="{FF2B5EF4-FFF2-40B4-BE49-F238E27FC236}">
                <a16:creationId xmlns:a16="http://schemas.microsoft.com/office/drawing/2014/main" id="{B39D80D5-64F2-65A3-9B95-E0D673E96B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5616" y="3563252"/>
            <a:ext cx="765350" cy="76535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51ADD76-804F-8181-E036-39001F430355}"/>
              </a:ext>
            </a:extLst>
          </p:cNvPr>
          <p:cNvSpPr txBox="1"/>
          <p:nvPr/>
        </p:nvSpPr>
        <p:spPr>
          <a:xfrm>
            <a:off x="3579175" y="3636105"/>
            <a:ext cx="4406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Anomalies détectées</a:t>
            </a:r>
          </a:p>
          <a:p>
            <a:endParaRPr lang="fr-FR" b="1" dirty="0">
              <a:latin typeface="Montserrat" panose="00000500000000000000" pitchFamily="2" charset="0"/>
            </a:endParaRPr>
          </a:p>
          <a:p>
            <a:r>
              <a:rPr lang="fr-FR" dirty="0">
                <a:latin typeface="Montserrat" panose="00000500000000000000" pitchFamily="2" charset="0"/>
              </a:rPr>
              <a:t>825 valeurs présentes pour « product_id »</a:t>
            </a:r>
          </a:p>
          <a:p>
            <a:r>
              <a:rPr lang="fr-FR" dirty="0">
                <a:latin typeface="Montserrat" panose="00000500000000000000" pitchFamily="2" charset="0"/>
              </a:rPr>
              <a:t>731 valeurs présentes pour « sku » </a:t>
            </a:r>
          </a:p>
          <a:p>
            <a:r>
              <a:rPr lang="fr-FR" dirty="0">
                <a:latin typeface="Montserrat" panose="00000500000000000000" pitchFamily="2" charset="0"/>
              </a:rPr>
              <a:t>91 valeurs manquantes</a:t>
            </a:r>
          </a:p>
          <a:p>
            <a:endParaRPr lang="fr-FR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4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EF0FA56C-6223-9204-C0F7-D05563A0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C1FD7F69-BF9E-8CAC-1309-5D696667BAA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07DE15FD-6870-7715-13CD-5443DC2F51D9}"/>
              </a:ext>
            </a:extLst>
          </p:cNvPr>
          <p:cNvSpPr txBox="1"/>
          <p:nvPr/>
        </p:nvSpPr>
        <p:spPr>
          <a:xfrm>
            <a:off x="895525" y="122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E052104-27C4-51BF-C7C2-B9F1E3D3C83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F77CF0A-A315-7531-A8F9-3648D04B1A48}"/>
              </a:ext>
            </a:extLst>
          </p:cNvPr>
          <p:cNvSpPr txBox="1"/>
          <p:nvPr/>
        </p:nvSpPr>
        <p:spPr>
          <a:xfrm>
            <a:off x="3897975" y="2493595"/>
            <a:ext cx="5518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004D40"/>
                </a:solidFill>
                <a:latin typeface="Montserrat" panose="00000500000000000000" pitchFamily="2" charset="0"/>
              </a:rPr>
              <a:t>Défi</a:t>
            </a:r>
          </a:p>
          <a:p>
            <a:endParaRPr lang="fr-FR" sz="18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- Gestion des valeurs manquantes</a:t>
            </a: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- Compréhension des incohérences</a:t>
            </a: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tx1"/>
                </a:solidFill>
                <a:latin typeface="Montserrat" panose="00000500000000000000" pitchFamily="2" charset="0"/>
              </a:rPr>
              <a:t>- Sélection des données pertinentes</a:t>
            </a:r>
          </a:p>
          <a:p>
            <a:endParaRPr lang="fr-FR" sz="1800" dirty="0">
              <a:solidFill>
                <a:srgbClr val="004D40"/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Image 8" descr="Une image contenant ordinateur, ordinateur portable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D663E6DE-0A5D-D1EC-778A-04A7668F4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5" y="1691440"/>
            <a:ext cx="3564219" cy="28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5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Flèche : chevron 4">
            <a:extLst>
              <a:ext uri="{FF2B5EF4-FFF2-40B4-BE49-F238E27FC236}">
                <a16:creationId xmlns:a16="http://schemas.microsoft.com/office/drawing/2014/main" id="{1D69F462-96F1-8934-21A9-1A7F3C3FC1FB}"/>
              </a:ext>
            </a:extLst>
          </p:cNvPr>
          <p:cNvSpPr txBox="1"/>
          <p:nvPr/>
        </p:nvSpPr>
        <p:spPr>
          <a:xfrm>
            <a:off x="5408662" y="2120176"/>
            <a:ext cx="841567" cy="33662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6510" tIns="16510" rIns="16510" bIns="1651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600" kern="1200" dirty="0"/>
              <a:t>1</a:t>
            </a:r>
          </a:p>
        </p:txBody>
      </p:sp>
      <p:sp>
        <p:nvSpPr>
          <p:cNvPr id="8" name="Flèche : chevron 7">
            <a:extLst>
              <a:ext uri="{FF2B5EF4-FFF2-40B4-BE49-F238E27FC236}">
                <a16:creationId xmlns:a16="http://schemas.microsoft.com/office/drawing/2014/main" id="{6C3C5CF9-909E-BFBA-8E9A-68600F2624C5}"/>
              </a:ext>
            </a:extLst>
          </p:cNvPr>
          <p:cNvSpPr/>
          <p:nvPr/>
        </p:nvSpPr>
        <p:spPr>
          <a:xfrm rot="5400000">
            <a:off x="1403653" y="1808252"/>
            <a:ext cx="1062946" cy="733646"/>
          </a:xfrm>
          <a:prstGeom prst="chevron">
            <a:avLst/>
          </a:prstGeom>
          <a:solidFill>
            <a:srgbClr val="004D40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Flèche : chevron 8">
            <a:extLst>
              <a:ext uri="{FF2B5EF4-FFF2-40B4-BE49-F238E27FC236}">
                <a16:creationId xmlns:a16="http://schemas.microsoft.com/office/drawing/2014/main" id="{AC69BD99-9C6E-D8F7-E158-4606EA032BE4}"/>
              </a:ext>
            </a:extLst>
          </p:cNvPr>
          <p:cNvSpPr/>
          <p:nvPr/>
        </p:nvSpPr>
        <p:spPr>
          <a:xfrm rot="5400000">
            <a:off x="1403653" y="2990877"/>
            <a:ext cx="1062946" cy="733646"/>
          </a:xfrm>
          <a:prstGeom prst="chevron">
            <a:avLst/>
          </a:prstGeom>
          <a:solidFill>
            <a:srgbClr val="004D40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Flèche : chevron 9">
            <a:extLst>
              <a:ext uri="{FF2B5EF4-FFF2-40B4-BE49-F238E27FC236}">
                <a16:creationId xmlns:a16="http://schemas.microsoft.com/office/drawing/2014/main" id="{D3A8BA1D-F2D8-A0DB-D26B-C226462F7825}"/>
              </a:ext>
            </a:extLst>
          </p:cNvPr>
          <p:cNvSpPr/>
          <p:nvPr/>
        </p:nvSpPr>
        <p:spPr>
          <a:xfrm rot="5400000">
            <a:off x="1403653" y="4173502"/>
            <a:ext cx="1062946" cy="733646"/>
          </a:xfrm>
          <a:prstGeom prst="chevron">
            <a:avLst/>
          </a:prstGeom>
          <a:solidFill>
            <a:srgbClr val="004D40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B5BC625-6254-6AA1-D5C0-6E67824CF9BB}"/>
              </a:ext>
            </a:extLst>
          </p:cNvPr>
          <p:cNvSpPr txBox="1"/>
          <p:nvPr/>
        </p:nvSpPr>
        <p:spPr>
          <a:xfrm>
            <a:off x="1722474" y="1981558"/>
            <a:ext cx="42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AD09D7E-754F-20E6-0812-9B11B8F19AFC}"/>
              </a:ext>
            </a:extLst>
          </p:cNvPr>
          <p:cNvSpPr txBox="1"/>
          <p:nvPr/>
        </p:nvSpPr>
        <p:spPr>
          <a:xfrm>
            <a:off x="1722473" y="3191480"/>
            <a:ext cx="42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C66C867-C5D8-D3E0-4BA2-3AEE696DB1D2}"/>
              </a:ext>
            </a:extLst>
          </p:cNvPr>
          <p:cNvSpPr txBox="1"/>
          <p:nvPr/>
        </p:nvSpPr>
        <p:spPr>
          <a:xfrm>
            <a:off x="1722472" y="4366795"/>
            <a:ext cx="42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4D02C72-7659-5ABE-9F68-46C0EAD589D9}"/>
              </a:ext>
            </a:extLst>
          </p:cNvPr>
          <p:cNvSpPr txBox="1"/>
          <p:nvPr/>
        </p:nvSpPr>
        <p:spPr>
          <a:xfrm>
            <a:off x="2456120" y="1928852"/>
            <a:ext cx="39127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Jointure ERP et LIAISON</a:t>
            </a:r>
          </a:p>
          <a:p>
            <a:r>
              <a:rPr lang="fr-FR" sz="1200" i="1" dirty="0">
                <a:solidFill>
                  <a:schemeClr val="tx1"/>
                </a:solidFill>
                <a:latin typeface="Montserrat" panose="00000500000000000000" pitchFamily="2" charset="0"/>
              </a:rPr>
              <a:t>Associer chaque produit à son SKU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81F898D-2D17-E194-BA64-AA1FF050C265}"/>
              </a:ext>
            </a:extLst>
          </p:cNvPr>
          <p:cNvSpPr txBox="1"/>
          <p:nvPr/>
        </p:nvSpPr>
        <p:spPr>
          <a:xfrm>
            <a:off x="2456119" y="3111478"/>
            <a:ext cx="39127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Analyse des problèmes</a:t>
            </a:r>
          </a:p>
          <a:p>
            <a:r>
              <a:rPr lang="fr-FR" sz="1200" i="1" dirty="0">
                <a:solidFill>
                  <a:schemeClr val="tx1"/>
                </a:solidFill>
                <a:latin typeface="Montserrat" panose="00000500000000000000" pitchFamily="2" charset="0"/>
              </a:rPr>
              <a:t>91 valeurs manquantes dans la colonne SKU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B3A8DC-1CDB-7EB0-E3CC-4C9348181C00}"/>
              </a:ext>
            </a:extLst>
          </p:cNvPr>
          <p:cNvSpPr txBox="1"/>
          <p:nvPr/>
        </p:nvSpPr>
        <p:spPr>
          <a:xfrm>
            <a:off x="2456119" y="4382183"/>
            <a:ext cx="41785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Décision</a:t>
            </a:r>
          </a:p>
          <a:p>
            <a:r>
              <a:rPr lang="fr-FR" sz="1200" i="1" dirty="0">
                <a:solidFill>
                  <a:schemeClr val="tx1"/>
                </a:solidFill>
                <a:latin typeface="Montserrat" panose="00000500000000000000" pitchFamily="2" charset="0"/>
              </a:rPr>
              <a:t>Conservation des lignes avec un SKU uniquement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35335CF2-D465-DC45-FCED-01F9A2C0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C4E6AA0D-8D32-A645-D92E-5A35942F832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58CE9B47-C492-8D8E-F699-C768DF55F6F1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BA1E5454-F5EA-BF1B-69D7-7DFBAF2B000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Flèche : chevron 4">
            <a:extLst>
              <a:ext uri="{FF2B5EF4-FFF2-40B4-BE49-F238E27FC236}">
                <a16:creationId xmlns:a16="http://schemas.microsoft.com/office/drawing/2014/main" id="{BA05C0BB-0C5F-C7CA-8D29-57657B5216C3}"/>
              </a:ext>
            </a:extLst>
          </p:cNvPr>
          <p:cNvSpPr txBox="1"/>
          <p:nvPr/>
        </p:nvSpPr>
        <p:spPr>
          <a:xfrm>
            <a:off x="5408662" y="2120176"/>
            <a:ext cx="841567" cy="33662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6510" tIns="16510" rIns="16510" bIns="1651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600" kern="1200" dirty="0"/>
              <a:t>1</a:t>
            </a:r>
          </a:p>
        </p:txBody>
      </p:sp>
      <p:sp>
        <p:nvSpPr>
          <p:cNvPr id="8" name="Flèche : chevron 7">
            <a:extLst>
              <a:ext uri="{FF2B5EF4-FFF2-40B4-BE49-F238E27FC236}">
                <a16:creationId xmlns:a16="http://schemas.microsoft.com/office/drawing/2014/main" id="{07F0D569-B1ED-4A01-62F8-B15D43BB307F}"/>
              </a:ext>
            </a:extLst>
          </p:cNvPr>
          <p:cNvSpPr/>
          <p:nvPr/>
        </p:nvSpPr>
        <p:spPr>
          <a:xfrm rot="5400000">
            <a:off x="1403653" y="1808252"/>
            <a:ext cx="1062946" cy="733646"/>
          </a:xfrm>
          <a:prstGeom prst="chevron">
            <a:avLst/>
          </a:prstGeom>
          <a:solidFill>
            <a:srgbClr val="004D40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Flèche : chevron 8">
            <a:extLst>
              <a:ext uri="{FF2B5EF4-FFF2-40B4-BE49-F238E27FC236}">
                <a16:creationId xmlns:a16="http://schemas.microsoft.com/office/drawing/2014/main" id="{1C32F04C-B936-3045-A828-CF1C653C0CC2}"/>
              </a:ext>
            </a:extLst>
          </p:cNvPr>
          <p:cNvSpPr/>
          <p:nvPr/>
        </p:nvSpPr>
        <p:spPr>
          <a:xfrm rot="5400000">
            <a:off x="1403653" y="2990877"/>
            <a:ext cx="1062946" cy="733646"/>
          </a:xfrm>
          <a:prstGeom prst="chevron">
            <a:avLst/>
          </a:prstGeom>
          <a:solidFill>
            <a:srgbClr val="004D40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Flèche : chevron 9">
            <a:extLst>
              <a:ext uri="{FF2B5EF4-FFF2-40B4-BE49-F238E27FC236}">
                <a16:creationId xmlns:a16="http://schemas.microsoft.com/office/drawing/2014/main" id="{95DDD9E9-160C-3F12-C544-F55ABD25B5D8}"/>
              </a:ext>
            </a:extLst>
          </p:cNvPr>
          <p:cNvSpPr/>
          <p:nvPr/>
        </p:nvSpPr>
        <p:spPr>
          <a:xfrm rot="5400000">
            <a:off x="1403653" y="4173502"/>
            <a:ext cx="1062946" cy="733646"/>
          </a:xfrm>
          <a:prstGeom prst="chevron">
            <a:avLst/>
          </a:prstGeom>
          <a:solidFill>
            <a:srgbClr val="004D40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7E822AB-003E-BB87-5476-2193C1938A82}"/>
              </a:ext>
            </a:extLst>
          </p:cNvPr>
          <p:cNvSpPr txBox="1"/>
          <p:nvPr/>
        </p:nvSpPr>
        <p:spPr>
          <a:xfrm>
            <a:off x="1722474" y="1981558"/>
            <a:ext cx="42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C1FE31F-3F2A-75FD-4778-9134C70A587A}"/>
              </a:ext>
            </a:extLst>
          </p:cNvPr>
          <p:cNvSpPr txBox="1"/>
          <p:nvPr/>
        </p:nvSpPr>
        <p:spPr>
          <a:xfrm>
            <a:off x="1722473" y="3191480"/>
            <a:ext cx="42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3FBD197-4057-7CAD-759A-8C466D6FF3CB}"/>
              </a:ext>
            </a:extLst>
          </p:cNvPr>
          <p:cNvSpPr txBox="1"/>
          <p:nvPr/>
        </p:nvSpPr>
        <p:spPr>
          <a:xfrm>
            <a:off x="1722472" y="4366795"/>
            <a:ext cx="42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156E457-7E9C-82E3-0E66-F466A9A11BA9}"/>
              </a:ext>
            </a:extLst>
          </p:cNvPr>
          <p:cNvSpPr txBox="1"/>
          <p:nvPr/>
        </p:nvSpPr>
        <p:spPr>
          <a:xfrm>
            <a:off x="2456120" y="1928852"/>
            <a:ext cx="496540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Jointure MERGE et WEB</a:t>
            </a:r>
          </a:p>
          <a:p>
            <a:r>
              <a:rPr lang="fr-FR" sz="1200" i="1" dirty="0">
                <a:solidFill>
                  <a:schemeClr val="tx1"/>
                </a:solidFill>
                <a:latin typeface="Montserrat" panose="00000500000000000000" pitchFamily="2" charset="0"/>
              </a:rPr>
              <a:t>Compléter les informations produits avec les données web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5CFDE74-3414-F659-5DF2-285493D23847}"/>
              </a:ext>
            </a:extLst>
          </p:cNvPr>
          <p:cNvSpPr txBox="1"/>
          <p:nvPr/>
        </p:nvSpPr>
        <p:spPr>
          <a:xfrm>
            <a:off x="2456119" y="3111478"/>
            <a:ext cx="39127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Analyse des problèmes</a:t>
            </a:r>
          </a:p>
          <a:p>
            <a:r>
              <a:rPr lang="fr-FR" sz="1200" i="1" dirty="0">
                <a:solidFill>
                  <a:schemeClr val="tx1"/>
                </a:solidFill>
                <a:latin typeface="Montserrat" panose="00000500000000000000" pitchFamily="2" charset="0"/>
              </a:rPr>
              <a:t>20 lignes sans correspondance trouvées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6DD54B4-D1EE-22B1-4635-259EA3F871B2}"/>
              </a:ext>
            </a:extLst>
          </p:cNvPr>
          <p:cNvSpPr txBox="1"/>
          <p:nvPr/>
        </p:nvSpPr>
        <p:spPr>
          <a:xfrm>
            <a:off x="2456119" y="4382183"/>
            <a:ext cx="41785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Décision</a:t>
            </a:r>
          </a:p>
          <a:p>
            <a:r>
              <a:rPr lang="fr-FR" sz="1200" i="1" dirty="0">
                <a:solidFill>
                  <a:schemeClr val="tx1"/>
                </a:solidFill>
                <a:latin typeface="Montserrat" panose="00000500000000000000" pitchFamily="2" charset="0"/>
              </a:rPr>
              <a:t>Suppression des 20 lignes sans correspondances</a:t>
            </a:r>
          </a:p>
        </p:txBody>
      </p:sp>
    </p:spTree>
    <p:extLst>
      <p:ext uri="{BB962C8B-B14F-4D97-AF65-F5344CB8AC3E}">
        <p14:creationId xmlns:p14="http://schemas.microsoft.com/office/powerpoint/2010/main" val="156570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92CB29-3685-B0E2-92F5-E7D6D78E370B}"/>
              </a:ext>
            </a:extLst>
          </p:cNvPr>
          <p:cNvSpPr txBox="1"/>
          <p:nvPr/>
        </p:nvSpPr>
        <p:spPr>
          <a:xfrm>
            <a:off x="507093" y="1584812"/>
            <a:ext cx="8129814" cy="70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Méthodes statistiques </a:t>
            </a:r>
            <a:b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</a:b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employées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E8357AB3-E1A6-6602-E3CD-6F25A7B81347}"/>
              </a:ext>
            </a:extLst>
          </p:cNvPr>
          <p:cNvGrpSpPr/>
          <p:nvPr/>
        </p:nvGrpSpPr>
        <p:grpSpPr>
          <a:xfrm>
            <a:off x="395545" y="3753301"/>
            <a:ext cx="8352909" cy="277001"/>
            <a:chOff x="145537" y="3391804"/>
            <a:chExt cx="8352909" cy="277001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1652D52-19CD-015B-7FD4-00524102745B}"/>
                </a:ext>
              </a:extLst>
            </p:cNvPr>
            <p:cNvSpPr txBox="1"/>
            <p:nvPr/>
          </p:nvSpPr>
          <p:spPr>
            <a:xfrm>
              <a:off x="145537" y="3391806"/>
              <a:ext cx="1733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Montserrat" panose="00000500000000000000" pitchFamily="2" charset="0"/>
                </a:rPr>
                <a:t>Boîte à moustache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96D5BCEE-8EB3-170C-AA75-66DACD7AAD14}"/>
                </a:ext>
              </a:extLst>
            </p:cNvPr>
            <p:cNvSpPr txBox="1"/>
            <p:nvPr/>
          </p:nvSpPr>
          <p:spPr>
            <a:xfrm>
              <a:off x="1931856" y="3391804"/>
              <a:ext cx="20798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Montserrat" panose="00000500000000000000" pitchFamily="2" charset="0"/>
                </a:rPr>
                <a:t>Statistiques descriptives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79A50A68-4CD9-CC13-C557-D0A35FB2776A}"/>
                </a:ext>
              </a:extLst>
            </p:cNvPr>
            <p:cNvSpPr txBox="1"/>
            <p:nvPr/>
          </p:nvSpPr>
          <p:spPr>
            <a:xfrm>
              <a:off x="4064788" y="3391805"/>
              <a:ext cx="21903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Montserrat" panose="00000500000000000000" pitchFamily="2" charset="0"/>
                </a:rPr>
                <a:t>Histogramme des z-score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FE5E187B-7EB1-99E2-4739-4B86D826B746}"/>
                </a:ext>
              </a:extLst>
            </p:cNvPr>
            <p:cNvSpPr txBox="1"/>
            <p:nvPr/>
          </p:nvSpPr>
          <p:spPr>
            <a:xfrm>
              <a:off x="6308139" y="3391805"/>
              <a:ext cx="21903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Montserrat" panose="00000500000000000000" pitchFamily="2" charset="0"/>
                </a:rPr>
                <a:t>Intervalle Interquartile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40E43FCF-0E6B-8A3C-B3AD-AF1B35E59550}"/>
              </a:ext>
            </a:extLst>
          </p:cNvPr>
          <p:cNvGrpSpPr/>
          <p:nvPr/>
        </p:nvGrpSpPr>
        <p:grpSpPr>
          <a:xfrm>
            <a:off x="741017" y="2351798"/>
            <a:ext cx="7661965" cy="1160804"/>
            <a:chOff x="431773" y="2231002"/>
            <a:chExt cx="7661965" cy="1160804"/>
          </a:xfrm>
        </p:grpSpPr>
        <p:pic>
          <p:nvPicPr>
            <p:cNvPr id="11" name="Image 10" descr="Une image contenant diagramme, texte, capture d’écran, ligne&#10;&#10;Le contenu généré par l’IA peut être incorrect.">
              <a:extLst>
                <a:ext uri="{FF2B5EF4-FFF2-40B4-BE49-F238E27FC236}">
                  <a16:creationId xmlns:a16="http://schemas.microsoft.com/office/drawing/2014/main" id="{5EFB5BD9-723B-6557-D9BD-2AC3C27AF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773" y="2231002"/>
              <a:ext cx="1160804" cy="1160804"/>
            </a:xfrm>
            <a:prstGeom prst="rect">
              <a:avLst/>
            </a:prstGeom>
          </p:spPr>
        </p:pic>
        <p:pic>
          <p:nvPicPr>
            <p:cNvPr id="18" name="Graphique 17" descr="Graphique à barres avec un remplissage uni">
              <a:extLst>
                <a:ext uri="{FF2B5EF4-FFF2-40B4-BE49-F238E27FC236}">
                  <a16:creationId xmlns:a16="http://schemas.microsoft.com/office/drawing/2014/main" id="{56841D35-9136-F4A6-ED58-4A4FE55EB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9634" y="2679424"/>
              <a:ext cx="712381" cy="712381"/>
            </a:xfrm>
            <a:prstGeom prst="rect">
              <a:avLst/>
            </a:prstGeom>
          </p:spPr>
        </p:pic>
        <p:pic>
          <p:nvPicPr>
            <p:cNvPr id="22" name="Graphique 21" descr="Tableau avec un remplissage uni">
              <a:extLst>
                <a:ext uri="{FF2B5EF4-FFF2-40B4-BE49-F238E27FC236}">
                  <a16:creationId xmlns:a16="http://schemas.microsoft.com/office/drawing/2014/main" id="{8EE2BC9F-E403-0E60-CF18-48149B112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10293" y="2651927"/>
              <a:ext cx="712381" cy="712381"/>
            </a:xfrm>
            <a:prstGeom prst="rect">
              <a:avLst/>
            </a:prstGeom>
          </p:spPr>
        </p:pic>
        <p:pic>
          <p:nvPicPr>
            <p:cNvPr id="25" name="Image 24" descr="Une image contenant diagramme, capture d’écran, Plan, Rectangle&#10;&#10;Le contenu généré par l’IA peut être incorrect.">
              <a:extLst>
                <a:ext uri="{FF2B5EF4-FFF2-40B4-BE49-F238E27FC236}">
                  <a16:creationId xmlns:a16="http://schemas.microsoft.com/office/drawing/2014/main" id="{FDC3F970-1ED6-4A52-529D-179996341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12846" y="2531310"/>
              <a:ext cx="1380892" cy="832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D8A3590D-DF53-83E5-969F-F9E70672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78DBD76C-A7A2-3DFA-9E83-7E516CE84D2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60FB43FA-75F8-B2EA-ADBD-D66B54CE45C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287B4CBE-FF0A-608A-9116-D14CCF5A0BF2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 descr="Une image contenant texte, ligne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FBC61CAF-8B81-5999-BB8D-E395E1A7E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6102"/>
            <a:ext cx="9144000" cy="31106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EC455CB-8B90-F6AA-D596-716921C09B48}"/>
              </a:ext>
            </a:extLst>
          </p:cNvPr>
          <p:cNvSpPr txBox="1"/>
          <p:nvPr/>
        </p:nvSpPr>
        <p:spPr>
          <a:xfrm>
            <a:off x="3083442" y="1598325"/>
            <a:ext cx="312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Répartition des prix de vente</a:t>
            </a:r>
          </a:p>
        </p:txBody>
      </p:sp>
    </p:spTree>
    <p:extLst>
      <p:ext uri="{BB962C8B-B14F-4D97-AF65-F5344CB8AC3E}">
        <p14:creationId xmlns:p14="http://schemas.microsoft.com/office/powerpoint/2010/main" val="75072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5DED2626-CC38-56ED-C745-96F5A2C5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28F8BECF-E599-66D1-3D4E-34D3B633134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DA2E49F9-65D1-5107-2E48-A691A362E7D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C8DFB827-3F40-9CF3-737E-B88DE3BD3C6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E08FD7-9EED-10E6-F666-79B0407D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43" y="1727450"/>
            <a:ext cx="5314733" cy="33972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66565F-169F-6314-B770-02F6D59F7249}"/>
              </a:ext>
            </a:extLst>
          </p:cNvPr>
          <p:cNvSpPr txBox="1"/>
          <p:nvPr/>
        </p:nvSpPr>
        <p:spPr>
          <a:xfrm>
            <a:off x="5816009" y="2294904"/>
            <a:ext cx="2966484" cy="2262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Majorité des prix entre 0 et -1</a:t>
            </a:r>
            <a:r>
              <a:rPr lang="fr-FR" sz="1200" b="1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  <a:r>
              <a:rPr lang="fr-FR" sz="12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Majorité des articles sont vendus à des prix inférieurs à la moyenne.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Quelques articles avec un </a:t>
            </a:r>
            <a:r>
              <a:rPr lang="fr-FR" sz="12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z-score supérieur à 0</a:t>
            </a:r>
            <a:r>
              <a:rPr lang="fr-FR" sz="1200" b="1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  <a:br>
              <a:rPr lang="fr-FR" sz="1200" b="1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1200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fr-FR" sz="12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ndiquant des prix légèrement supérieurs à la moyenne.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b="1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Quelques z-score &gt; 3 :</a:t>
            </a:r>
            <a:br>
              <a:rPr lang="fr-FR" sz="1200" b="1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1200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Article haut de gamme </a:t>
            </a:r>
            <a:endParaRPr lang="fr-FR" sz="1200" kern="100" dirty="0">
              <a:effectLst/>
              <a:latin typeface="Montserrat" panose="00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52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11824BF8-E8B4-006B-C9B7-F967B694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CA5836C8-B99D-E397-0052-859BDD41EF8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53ED46E7-F662-0D97-2C9B-0E64DC57FDE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91959A4F-742D-1445-F017-26FF59ABF1B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 descr="Une image contenant capture d’écran, ligne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E68811B4-120B-EE11-A03A-C33A11441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2588"/>
            <a:ext cx="5488781" cy="267153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EA56512-3715-7632-208E-D8BC04D44995}"/>
              </a:ext>
            </a:extLst>
          </p:cNvPr>
          <p:cNvSpPr txBox="1"/>
          <p:nvPr/>
        </p:nvSpPr>
        <p:spPr>
          <a:xfrm>
            <a:off x="5488781" y="1932581"/>
            <a:ext cx="3242930" cy="153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dirty="0">
                <a:solidFill>
                  <a:srgbClr val="004D40"/>
                </a:solidFill>
                <a:latin typeface="Montserrat" panose="00000500000000000000" pitchFamily="2" charset="0"/>
              </a:rPr>
              <a:t>Seuils IQR 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>
                <a:latin typeface="Montserrat" panose="00000500000000000000" pitchFamily="2" charset="0"/>
              </a:rPr>
              <a:t>Limite inférieure : 0 € (modifiée)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Limite supérieure : 84,09 €</a:t>
            </a:r>
          </a:p>
          <a:p>
            <a:endParaRPr lang="fr-FR" sz="12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1200" dirty="0">
                <a:solidFill>
                  <a:srgbClr val="004D40"/>
                </a:solidFill>
                <a:latin typeface="Montserrat" panose="00000500000000000000" pitchFamily="2" charset="0"/>
              </a:rPr>
              <a:t>Outliers </a:t>
            </a:r>
          </a:p>
          <a:p>
            <a:pPr>
              <a:lnSpc>
                <a:spcPct val="150000"/>
              </a:lnSpc>
            </a:pPr>
            <a:r>
              <a:rPr lang="fr-FR" sz="1200" dirty="0">
                <a:latin typeface="Montserrat" panose="00000500000000000000" pitchFamily="2" charset="0"/>
              </a:rPr>
              <a:t>31 articles outliers (4,34% du total)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3EBE83A-9F53-D07F-D33C-9DE32D628B56}"/>
              </a:ext>
            </a:extLst>
          </p:cNvPr>
          <p:cNvSpPr txBox="1"/>
          <p:nvPr/>
        </p:nvSpPr>
        <p:spPr>
          <a:xfrm>
            <a:off x="5658903" y="3668241"/>
            <a:ext cx="3242930" cy="1384995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200" dirty="0">
                <a:latin typeface="Montserrat" panose="00000500000000000000" pitchFamily="2" charset="0"/>
              </a:rPr>
              <a:t>Limite de l’analyse /!\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1200" dirty="0">
                <a:latin typeface="Montserrat" panose="00000500000000000000" pitchFamily="2" charset="0"/>
              </a:rPr>
              <a:t>Validation métier nécessaire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latin typeface="Montserrat" panose="00000500000000000000" pitchFamily="2" charset="0"/>
              </a:rPr>
              <a:t>Impact des promotions / remises non pris en compte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latin typeface="Montserrat" panose="00000500000000000000" pitchFamily="2" charset="0"/>
              </a:rPr>
              <a:t>Perception client absente de l’analyse </a:t>
            </a:r>
          </a:p>
        </p:txBody>
      </p:sp>
    </p:spTree>
    <p:extLst>
      <p:ext uri="{BB962C8B-B14F-4D97-AF65-F5344CB8AC3E}">
        <p14:creationId xmlns:p14="http://schemas.microsoft.com/office/powerpoint/2010/main" val="4139634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012175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1375A82-DBCA-B48E-EEF6-7646E9A16204}"/>
              </a:ext>
            </a:extLst>
          </p:cNvPr>
          <p:cNvSpPr txBox="1"/>
          <p:nvPr/>
        </p:nvSpPr>
        <p:spPr>
          <a:xfrm>
            <a:off x="2368318" y="1587758"/>
            <a:ext cx="4407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Distribution du Chiffre d'Affaires par produit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40EE90-CEF9-71C6-0D64-7F728E23FD34}"/>
              </a:ext>
            </a:extLst>
          </p:cNvPr>
          <p:cNvSpPr txBox="1"/>
          <p:nvPr/>
        </p:nvSpPr>
        <p:spPr>
          <a:xfrm>
            <a:off x="579474" y="4755952"/>
            <a:ext cx="8181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i="1" dirty="0">
                <a:latin typeface="Montserrat" panose="00000500000000000000" pitchFamily="2" charset="0"/>
              </a:rPr>
              <a:t>Concentration du CA sur un nombre limité de produits. Certains articles très chers génèrent un impact significatif sur le CA, malgré des ventes faibles.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305C07-D348-4C2A-C5B7-BCD59A357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0" y="1955459"/>
            <a:ext cx="7924800" cy="28004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CDA2512-673A-4C06-1626-D1AF4D08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3A87AD12-A280-96E1-796D-7CE9040D5AA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811CDC20-2ECD-BFAC-0710-B9F2168966E5}"/>
              </a:ext>
            </a:extLst>
          </p:cNvPr>
          <p:cNvSpPr txBox="1"/>
          <p:nvPr/>
        </p:nvSpPr>
        <p:spPr>
          <a:xfrm>
            <a:off x="1012175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DA8CD2C-75E3-47F8-2A1C-6220DCFE9DC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2F17E63-47A0-FFBC-16DB-0D626C6785D1}"/>
              </a:ext>
            </a:extLst>
          </p:cNvPr>
          <p:cNvSpPr txBox="1"/>
          <p:nvPr/>
        </p:nvSpPr>
        <p:spPr>
          <a:xfrm>
            <a:off x="2615609" y="1469338"/>
            <a:ext cx="391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Application de la Loi de Pareto (80/20)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5CF04E-3818-1C85-B2BB-52FA1182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5" y="2004585"/>
            <a:ext cx="5540339" cy="286066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99C6E02-5DCE-B9E7-CD48-EE8A30D60181}"/>
              </a:ext>
            </a:extLst>
          </p:cNvPr>
          <p:cNvSpPr txBox="1"/>
          <p:nvPr/>
        </p:nvSpPr>
        <p:spPr>
          <a:xfrm>
            <a:off x="5996762" y="2465419"/>
            <a:ext cx="29558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Montserrat" panose="00000500000000000000" pitchFamily="2" charset="0"/>
              </a:rPr>
              <a:t>420</a:t>
            </a:r>
            <a:r>
              <a:rPr lang="fr-FR" sz="1200" dirty="0">
                <a:latin typeface="Montserrat" panose="00000500000000000000" pitchFamily="2" charset="0"/>
              </a:rPr>
              <a:t> articles représentent </a:t>
            </a:r>
            <a:r>
              <a:rPr lang="fr-FR" sz="1200" b="1" dirty="0">
                <a:latin typeface="Montserrat" panose="00000500000000000000" pitchFamily="2" charset="0"/>
              </a:rPr>
              <a:t>80 % du CA</a:t>
            </a:r>
            <a:r>
              <a:rPr lang="fr-FR" sz="1200" dirty="0">
                <a:latin typeface="Montserrat" panose="00000500000000000000" pitchFamily="2" charset="0"/>
              </a:rPr>
              <a:t>, soit </a:t>
            </a:r>
            <a:r>
              <a:rPr lang="fr-FR" sz="1200" b="1" dirty="0">
                <a:latin typeface="Montserrat" panose="00000500000000000000" pitchFamily="2" charset="0"/>
              </a:rPr>
              <a:t>58,82 %</a:t>
            </a:r>
            <a:r>
              <a:rPr lang="fr-FR" sz="1200" dirty="0">
                <a:latin typeface="Montserrat" panose="00000500000000000000" pitchFamily="2" charset="0"/>
              </a:rPr>
              <a:t> des références disponibles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Déviation par rapport à la règle 80/20 :</a:t>
            </a:r>
            <a:r>
              <a:rPr lang="fr-FR" sz="1200" dirty="0">
                <a:latin typeface="Montserrat" panose="00000500000000000000" pitchFamily="2" charset="0"/>
              </a:rPr>
              <a:t> La répartition du CA suggère une dispersion plus équilibrée des ventes, avec moins de concentration que la loi de Pareto classique.</a:t>
            </a:r>
          </a:p>
        </p:txBody>
      </p:sp>
    </p:spTree>
    <p:extLst>
      <p:ext uri="{BB962C8B-B14F-4D97-AF65-F5344CB8AC3E}">
        <p14:creationId xmlns:p14="http://schemas.microsoft.com/office/powerpoint/2010/main" val="184860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8D3FF0F-DD24-6789-06A7-E71112AB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50479A39-2A3E-296E-5F64-1A62063A89D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B9B7ED2E-1C77-D9B4-0F72-05FAC681FAC6}"/>
              </a:ext>
            </a:extLst>
          </p:cNvPr>
          <p:cNvSpPr txBox="1"/>
          <p:nvPr/>
        </p:nvSpPr>
        <p:spPr>
          <a:xfrm>
            <a:off x="1012175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ADB5EFEF-7023-CEA2-9452-89DD1B88031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70041F2-DF16-6771-D24C-D0B101E52538}"/>
              </a:ext>
            </a:extLst>
          </p:cNvPr>
          <p:cNvSpPr txBox="1"/>
          <p:nvPr/>
        </p:nvSpPr>
        <p:spPr>
          <a:xfrm>
            <a:off x="2615609" y="1469338"/>
            <a:ext cx="391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Rotation du Stock et Valeur Marchande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3C5D20E-5928-5E66-BB01-EA771410C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98" y="1856261"/>
            <a:ext cx="7039804" cy="239376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17EC8D3-E428-CFE3-EF21-5F50E3FF651F}"/>
              </a:ext>
            </a:extLst>
          </p:cNvPr>
          <p:cNvSpPr txBox="1"/>
          <p:nvPr/>
        </p:nvSpPr>
        <p:spPr>
          <a:xfrm>
            <a:off x="1052098" y="4219857"/>
            <a:ext cx="6720302" cy="89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200" dirty="0">
                <a:latin typeface="Montserrat" panose="00000500000000000000" pitchFamily="2" charset="0"/>
              </a:rPr>
              <a:t>Valeur marchande du  stock : 494 682 €</a:t>
            </a:r>
          </a:p>
          <a:p>
            <a:pPr algn="ctr">
              <a:lnSpc>
                <a:spcPct val="150000"/>
              </a:lnSpc>
            </a:pPr>
            <a:r>
              <a:rPr lang="fr-FR" sz="1200" dirty="0">
                <a:latin typeface="Montserrat" panose="00000500000000000000" pitchFamily="2" charset="0"/>
              </a:rPr>
              <a:t>Ce stock à </a:t>
            </a:r>
            <a:r>
              <a:rPr lang="fr-FR" sz="1200" b="1" dirty="0">
                <a:latin typeface="Montserrat" panose="00000500000000000000" pitchFamily="2" charset="0"/>
              </a:rPr>
              <a:t>forte valeur</a:t>
            </a:r>
            <a:r>
              <a:rPr lang="fr-FR" sz="1200" dirty="0">
                <a:latin typeface="Montserrat" panose="00000500000000000000" pitchFamily="2" charset="0"/>
              </a:rPr>
              <a:t> montre une </a:t>
            </a:r>
            <a:r>
              <a:rPr lang="fr-FR" sz="1200" b="1" dirty="0">
                <a:latin typeface="Montserrat" panose="00000500000000000000" pitchFamily="2" charset="0"/>
              </a:rPr>
              <a:t>immobilisation du capital</a:t>
            </a:r>
            <a:r>
              <a:rPr lang="fr-FR" sz="1200" dirty="0">
                <a:latin typeface="Montserrat" panose="00000500000000000000" pitchFamily="2" charset="0"/>
              </a:rPr>
              <a:t> importante, avec des produits qui </a:t>
            </a:r>
            <a:r>
              <a:rPr lang="fr-FR" sz="1200" b="1" dirty="0">
                <a:latin typeface="Montserrat" panose="00000500000000000000" pitchFamily="2" charset="0"/>
              </a:rPr>
              <a:t>peinent à se vendre rapidement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988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5FE320D-B0C4-B11D-E373-502C21C44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807910DB-F794-2654-5695-351ED36D67D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39EB678F-5601-5805-692D-AA9C0E66B562}"/>
              </a:ext>
            </a:extLst>
          </p:cNvPr>
          <p:cNvSpPr txBox="1"/>
          <p:nvPr/>
        </p:nvSpPr>
        <p:spPr>
          <a:xfrm>
            <a:off x="1012175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79D12B7E-AFBD-3437-F4D3-752EB380D34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22D12B0-4099-5085-4CA8-CA23E52CED4B}"/>
              </a:ext>
            </a:extLst>
          </p:cNvPr>
          <p:cNvSpPr txBox="1"/>
          <p:nvPr/>
        </p:nvSpPr>
        <p:spPr>
          <a:xfrm>
            <a:off x="2615609" y="1469338"/>
            <a:ext cx="391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Taux de marge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97E928-D8D3-C834-DC61-C66F688A964D}"/>
              </a:ext>
            </a:extLst>
          </p:cNvPr>
          <p:cNvSpPr txBox="1"/>
          <p:nvPr/>
        </p:nvSpPr>
        <p:spPr>
          <a:xfrm>
            <a:off x="69112" y="1713093"/>
            <a:ext cx="9005776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100" dirty="0">
                <a:latin typeface="Montserrat" panose="00000500000000000000" pitchFamily="2" charset="0"/>
              </a:rPr>
              <a:t>Les catégories </a:t>
            </a:r>
            <a:r>
              <a:rPr lang="fr-FR" sz="1100" b="1" dirty="0">
                <a:latin typeface="Montserrat" panose="00000500000000000000" pitchFamily="2" charset="0"/>
              </a:rPr>
              <a:t>Cognac</a:t>
            </a:r>
            <a:r>
              <a:rPr lang="fr-FR" sz="1100" dirty="0">
                <a:latin typeface="Montserrat" panose="00000500000000000000" pitchFamily="2" charset="0"/>
              </a:rPr>
              <a:t> (82,32 %), </a:t>
            </a:r>
            <a:r>
              <a:rPr lang="fr-FR" sz="1100" b="1" dirty="0">
                <a:latin typeface="Montserrat" panose="00000500000000000000" pitchFamily="2" charset="0"/>
              </a:rPr>
              <a:t>Whisky</a:t>
            </a:r>
            <a:r>
              <a:rPr lang="fr-FR" sz="1100" dirty="0">
                <a:latin typeface="Montserrat" panose="00000500000000000000" pitchFamily="2" charset="0"/>
              </a:rPr>
              <a:t> (81,74 %) et </a:t>
            </a:r>
            <a:r>
              <a:rPr lang="fr-FR" sz="1100" b="1" dirty="0">
                <a:latin typeface="Montserrat" panose="00000500000000000000" pitchFamily="2" charset="0"/>
              </a:rPr>
              <a:t>Gin</a:t>
            </a:r>
            <a:r>
              <a:rPr lang="fr-FR" sz="1100" dirty="0">
                <a:latin typeface="Montserrat" panose="00000500000000000000" pitchFamily="2" charset="0"/>
              </a:rPr>
              <a:t> (74,83 %) affichent des marges élevées, tandis que </a:t>
            </a:r>
            <a:r>
              <a:rPr lang="fr-FR" sz="1100" b="1" dirty="0">
                <a:latin typeface="Montserrat" panose="00000500000000000000" pitchFamily="2" charset="0"/>
              </a:rPr>
              <a:t>Champagne</a:t>
            </a:r>
            <a:r>
              <a:rPr lang="fr-FR" sz="1100" dirty="0">
                <a:latin typeface="Montserrat" panose="00000500000000000000" pitchFamily="2" charset="0"/>
              </a:rPr>
              <a:t> (35,44 %), </a:t>
            </a:r>
            <a:r>
              <a:rPr lang="fr-FR" sz="1100" b="1" dirty="0">
                <a:latin typeface="Montserrat" panose="00000500000000000000" pitchFamily="2" charset="0"/>
              </a:rPr>
              <a:t>Vin</a:t>
            </a:r>
            <a:r>
              <a:rPr lang="fr-FR" sz="1100" dirty="0">
                <a:latin typeface="Montserrat" panose="00000500000000000000" pitchFamily="2" charset="0"/>
              </a:rPr>
              <a:t> (61,50 %) et </a:t>
            </a:r>
            <a:r>
              <a:rPr lang="fr-FR" sz="1100" b="1" dirty="0">
                <a:latin typeface="Montserrat" panose="00000500000000000000" pitchFamily="2" charset="0"/>
              </a:rPr>
              <a:t>Huile d'olive</a:t>
            </a:r>
            <a:r>
              <a:rPr lang="fr-FR" sz="1100" dirty="0">
                <a:latin typeface="Montserrat" panose="00000500000000000000" pitchFamily="2" charset="0"/>
              </a:rPr>
              <a:t> (33,41 %) présentent des marges plus modérées,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F8F0C2E-F843-3529-0231-0B448A980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92" y="2415224"/>
            <a:ext cx="8086215" cy="272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4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B9E9AFA-49E7-86A0-CCDA-71303214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10474F51-1D78-7170-361F-C57A2AF611B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8E519EDD-A23D-4BB3-EA60-9230B034F119}"/>
              </a:ext>
            </a:extLst>
          </p:cNvPr>
          <p:cNvSpPr txBox="1"/>
          <p:nvPr/>
        </p:nvSpPr>
        <p:spPr>
          <a:xfrm>
            <a:off x="1012175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5CA41B49-2D0E-6CA0-A123-D77FC269AAA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F05C5E8-D9AA-3DAD-9AC8-564C8C817C0F}"/>
              </a:ext>
            </a:extLst>
          </p:cNvPr>
          <p:cNvSpPr txBox="1"/>
          <p:nvPr/>
        </p:nvSpPr>
        <p:spPr>
          <a:xfrm>
            <a:off x="2615609" y="1469338"/>
            <a:ext cx="391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Corrélations et tendance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02A7D89-454A-7186-2094-D352385268B8}"/>
              </a:ext>
            </a:extLst>
          </p:cNvPr>
          <p:cNvSpPr txBox="1"/>
          <p:nvPr/>
        </p:nvSpPr>
        <p:spPr>
          <a:xfrm>
            <a:off x="4130749" y="2089337"/>
            <a:ext cx="4795283" cy="255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200" dirty="0">
                <a:solidFill>
                  <a:srgbClr val="004D40"/>
                </a:solidFill>
                <a:latin typeface="Montserrat" panose="00000500000000000000" pitchFamily="2" charset="0"/>
              </a:rPr>
              <a:t>Prix vs Quantité vendue : </a:t>
            </a:r>
            <a:br>
              <a:rPr lang="fr-FR" sz="1200" dirty="0">
                <a:solidFill>
                  <a:srgbClr val="004D40"/>
                </a:solidFill>
                <a:latin typeface="Montserrat" panose="00000500000000000000" pitchFamily="2" charset="0"/>
              </a:rPr>
            </a:br>
            <a:r>
              <a:rPr lang="fr-FR" sz="1200" dirty="0">
                <a:latin typeface="Montserrat" panose="00000500000000000000" pitchFamily="2" charset="0"/>
              </a:rPr>
              <a:t>Corrélation négative de </a:t>
            </a:r>
            <a:r>
              <a:rPr lang="fr-FR" sz="1200" b="1" dirty="0">
                <a:latin typeface="Montserrat" panose="00000500000000000000" pitchFamily="2" charset="0"/>
              </a:rPr>
              <a:t>-0,11</a:t>
            </a:r>
            <a:r>
              <a:rPr lang="fr-FR" sz="1200" dirty="0">
                <a:latin typeface="Montserrat" panose="00000500000000000000" pitchFamily="2" charset="0"/>
              </a:rPr>
              <a:t>, indiquant que les produits plus chers se vendent en quantités plus faibles.</a:t>
            </a:r>
          </a:p>
          <a:p>
            <a:pPr algn="ctr">
              <a:lnSpc>
                <a:spcPct val="150000"/>
              </a:lnSpc>
            </a:pPr>
            <a:r>
              <a:rPr lang="fr-FR" sz="1200" dirty="0">
                <a:solidFill>
                  <a:srgbClr val="004D40"/>
                </a:solidFill>
                <a:latin typeface="Montserrat" panose="00000500000000000000" pitchFamily="2" charset="0"/>
              </a:rPr>
              <a:t>Prix vs CA : 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>
                <a:latin typeface="Montserrat" panose="00000500000000000000" pitchFamily="2" charset="0"/>
              </a:rPr>
              <a:t>Corrélation de </a:t>
            </a:r>
            <a:r>
              <a:rPr lang="fr-FR" sz="1200" b="1" dirty="0">
                <a:latin typeface="Montserrat" panose="00000500000000000000" pitchFamily="2" charset="0"/>
              </a:rPr>
              <a:t>-0,27</a:t>
            </a:r>
            <a:r>
              <a:rPr lang="fr-FR" sz="1200" dirty="0">
                <a:latin typeface="Montserrat" panose="00000500000000000000" pitchFamily="2" charset="0"/>
              </a:rPr>
              <a:t>, confirmant que les produits chers génèrent moins de ventes.</a:t>
            </a:r>
          </a:p>
          <a:p>
            <a:pPr algn="ctr">
              <a:lnSpc>
                <a:spcPct val="150000"/>
              </a:lnSpc>
            </a:pPr>
            <a:r>
              <a:rPr lang="fr-FR" sz="1200" dirty="0">
                <a:solidFill>
                  <a:srgbClr val="004D40"/>
                </a:solidFill>
                <a:latin typeface="Montserrat" panose="00000500000000000000" pitchFamily="2" charset="0"/>
              </a:rPr>
              <a:t>Stock vs CA : 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>
                <a:latin typeface="Montserrat" panose="00000500000000000000" pitchFamily="2" charset="0"/>
              </a:rPr>
              <a:t>Corrélation de </a:t>
            </a:r>
            <a:r>
              <a:rPr lang="fr-FR" sz="1200" b="1" dirty="0">
                <a:latin typeface="Montserrat" panose="00000500000000000000" pitchFamily="2" charset="0"/>
              </a:rPr>
              <a:t>0,29</a:t>
            </a:r>
            <a:r>
              <a:rPr lang="fr-FR" sz="1200" dirty="0">
                <a:latin typeface="Montserrat" panose="00000500000000000000" pitchFamily="2" charset="0"/>
              </a:rPr>
              <a:t>, suggérant qu'un stock plus élevé peut potentiellement augmenter le chiffre d'affaires.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AE76EE-AABF-8A0F-D82F-FA89D321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4" y="1973520"/>
            <a:ext cx="3245367" cy="31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13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A4CBBB1-C97C-E7F7-02D9-64E0A6F2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586C3708-A047-42F4-A87E-C1BCC18B2F05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8D40125C-8183-7BD8-5B36-C0489EB22D2E}"/>
              </a:ext>
            </a:extLst>
          </p:cNvPr>
          <p:cNvSpPr txBox="1"/>
          <p:nvPr/>
        </p:nvSpPr>
        <p:spPr>
          <a:xfrm>
            <a:off x="1012175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B53112E7-D058-85FE-C642-D9EBB41D883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0CCA58D-2FBE-42F8-346B-B791EDA1B3BC}"/>
              </a:ext>
            </a:extLst>
          </p:cNvPr>
          <p:cNvSpPr txBox="1"/>
          <p:nvPr/>
        </p:nvSpPr>
        <p:spPr>
          <a:xfrm>
            <a:off x="2615609" y="1607021"/>
            <a:ext cx="391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Limites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C9F1DA6-0C4C-96C4-4289-CF26AB193C89}"/>
              </a:ext>
            </a:extLst>
          </p:cNvPr>
          <p:cNvGrpSpPr/>
          <p:nvPr/>
        </p:nvGrpSpPr>
        <p:grpSpPr>
          <a:xfrm>
            <a:off x="1058980" y="2301521"/>
            <a:ext cx="7026039" cy="915119"/>
            <a:chOff x="1012175" y="2113831"/>
            <a:chExt cx="7026039" cy="915119"/>
          </a:xfrm>
        </p:grpSpPr>
        <p:pic>
          <p:nvPicPr>
            <p:cNvPr id="4" name="Graphique 3" descr="Sablier 60% contour">
              <a:extLst>
                <a:ext uri="{FF2B5EF4-FFF2-40B4-BE49-F238E27FC236}">
                  <a16:creationId xmlns:a16="http://schemas.microsoft.com/office/drawing/2014/main" id="{836A9E1A-055A-CD42-1EAE-6EEF5374D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2175" y="2113831"/>
              <a:ext cx="914400" cy="914400"/>
            </a:xfrm>
            <a:prstGeom prst="rect">
              <a:avLst/>
            </a:prstGeom>
          </p:spPr>
        </p:pic>
        <p:pic>
          <p:nvPicPr>
            <p:cNvPr id="9" name="Graphique 8" descr="Filtrer avec un remplissage uni">
              <a:extLst>
                <a:ext uri="{FF2B5EF4-FFF2-40B4-BE49-F238E27FC236}">
                  <a16:creationId xmlns:a16="http://schemas.microsoft.com/office/drawing/2014/main" id="{AF042234-88A6-B573-F2DE-670A07F7A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14800" y="2114550"/>
              <a:ext cx="914400" cy="914400"/>
            </a:xfrm>
            <a:prstGeom prst="rect">
              <a:avLst/>
            </a:prstGeom>
          </p:spPr>
        </p:pic>
        <p:pic>
          <p:nvPicPr>
            <p:cNvPr id="12" name="Graphique 11" descr="Marketing contour">
              <a:extLst>
                <a:ext uri="{FF2B5EF4-FFF2-40B4-BE49-F238E27FC236}">
                  <a16:creationId xmlns:a16="http://schemas.microsoft.com/office/drawing/2014/main" id="{363C4F58-D8AE-3B2C-E155-FF722671D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23814" y="2113831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0136E7B-9C42-9FEA-852E-458188AC93A8}"/>
              </a:ext>
            </a:extLst>
          </p:cNvPr>
          <p:cNvGrpSpPr/>
          <p:nvPr/>
        </p:nvGrpSpPr>
        <p:grpSpPr>
          <a:xfrm>
            <a:off x="744280" y="3433461"/>
            <a:ext cx="7655440" cy="693781"/>
            <a:chOff x="744280" y="3058081"/>
            <a:chExt cx="7655440" cy="693781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105E95AA-D231-80D1-703B-41FD1CF19E97}"/>
                </a:ext>
              </a:extLst>
            </p:cNvPr>
            <p:cNvSpPr txBox="1"/>
            <p:nvPr/>
          </p:nvSpPr>
          <p:spPr>
            <a:xfrm>
              <a:off x="744280" y="3058081"/>
              <a:ext cx="15523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Montserrat" panose="00000500000000000000" pitchFamily="2" charset="0"/>
                </a:rPr>
                <a:t>Effet de saisonnalité non pris en compte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D4B76778-2B27-CF87-501E-ABEA57D74418}"/>
                </a:ext>
              </a:extLst>
            </p:cNvPr>
            <p:cNvSpPr txBox="1"/>
            <p:nvPr/>
          </p:nvSpPr>
          <p:spPr>
            <a:xfrm>
              <a:off x="3842629" y="3058081"/>
              <a:ext cx="15523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Montserrat" panose="00000500000000000000" pitchFamily="2" charset="0"/>
                </a:rPr>
                <a:t>Données historiques restreintes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E55461E-B7D0-8583-C420-8AB2C60DFA7B}"/>
                </a:ext>
              </a:extLst>
            </p:cNvPr>
            <p:cNvSpPr txBox="1"/>
            <p:nvPr/>
          </p:nvSpPr>
          <p:spPr>
            <a:xfrm>
              <a:off x="6964325" y="3105531"/>
              <a:ext cx="14353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latin typeface="Montserrat" panose="00000500000000000000" pitchFamily="2" charset="0"/>
                </a:rPr>
                <a:t>Influence des promotions et du marketing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8270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520150D-ECBD-38DA-2017-2CC3EFBEF7E6}"/>
              </a:ext>
            </a:extLst>
          </p:cNvPr>
          <p:cNvGrpSpPr/>
          <p:nvPr/>
        </p:nvGrpSpPr>
        <p:grpSpPr>
          <a:xfrm>
            <a:off x="648583" y="1963883"/>
            <a:ext cx="116959" cy="2439217"/>
            <a:chOff x="520994" y="1584251"/>
            <a:chExt cx="116959" cy="2439217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F392F268-4934-2D4F-1606-5449E61A2F67}"/>
                </a:ext>
              </a:extLst>
            </p:cNvPr>
            <p:cNvSpPr>
              <a:spLocks/>
            </p:cNvSpPr>
            <p:nvPr/>
          </p:nvSpPr>
          <p:spPr>
            <a:xfrm>
              <a:off x="520994" y="1584251"/>
              <a:ext cx="116959" cy="308344"/>
            </a:xfrm>
            <a:prstGeom prst="roundRect">
              <a:avLst/>
            </a:prstGeom>
            <a:solidFill>
              <a:srgbClr val="004D40"/>
            </a:solidFill>
            <a:ln>
              <a:solidFill>
                <a:srgbClr val="004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25C2DFA4-8127-C073-9E4B-92F5534E13E1}"/>
                </a:ext>
              </a:extLst>
            </p:cNvPr>
            <p:cNvSpPr>
              <a:spLocks/>
            </p:cNvSpPr>
            <p:nvPr/>
          </p:nvSpPr>
          <p:spPr>
            <a:xfrm>
              <a:off x="520994" y="2117215"/>
              <a:ext cx="116959" cy="308344"/>
            </a:xfrm>
            <a:prstGeom prst="roundRect">
              <a:avLst/>
            </a:prstGeom>
            <a:solidFill>
              <a:srgbClr val="004D40"/>
            </a:solidFill>
            <a:ln>
              <a:solidFill>
                <a:srgbClr val="004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E050C38-58EA-711E-C394-4B9D9CE05328}"/>
                </a:ext>
              </a:extLst>
            </p:cNvPr>
            <p:cNvSpPr>
              <a:spLocks/>
            </p:cNvSpPr>
            <p:nvPr/>
          </p:nvSpPr>
          <p:spPr>
            <a:xfrm>
              <a:off x="520994" y="2650179"/>
              <a:ext cx="116959" cy="308344"/>
            </a:xfrm>
            <a:prstGeom prst="roundRect">
              <a:avLst/>
            </a:prstGeom>
            <a:solidFill>
              <a:srgbClr val="004D40"/>
            </a:solidFill>
            <a:ln>
              <a:solidFill>
                <a:srgbClr val="004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98D60DD5-4642-081A-E591-3930BC17E5CC}"/>
                </a:ext>
              </a:extLst>
            </p:cNvPr>
            <p:cNvSpPr>
              <a:spLocks/>
            </p:cNvSpPr>
            <p:nvPr/>
          </p:nvSpPr>
          <p:spPr>
            <a:xfrm>
              <a:off x="520994" y="3183143"/>
              <a:ext cx="116959" cy="308344"/>
            </a:xfrm>
            <a:prstGeom prst="roundRect">
              <a:avLst/>
            </a:prstGeom>
            <a:solidFill>
              <a:srgbClr val="004D40"/>
            </a:solidFill>
            <a:ln>
              <a:solidFill>
                <a:srgbClr val="004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38BC7E44-BDB1-CC0A-4225-5FAAF4D316BC}"/>
                </a:ext>
              </a:extLst>
            </p:cNvPr>
            <p:cNvSpPr>
              <a:spLocks/>
            </p:cNvSpPr>
            <p:nvPr/>
          </p:nvSpPr>
          <p:spPr>
            <a:xfrm>
              <a:off x="520994" y="3715124"/>
              <a:ext cx="116959" cy="308344"/>
            </a:xfrm>
            <a:prstGeom prst="roundRect">
              <a:avLst/>
            </a:prstGeom>
            <a:solidFill>
              <a:srgbClr val="004D40"/>
            </a:solidFill>
            <a:ln>
              <a:solidFill>
                <a:srgbClr val="004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F7F5C1D-BCA0-A15F-BF91-BC7600224B2E}"/>
              </a:ext>
            </a:extLst>
          </p:cNvPr>
          <p:cNvGrpSpPr/>
          <p:nvPr/>
        </p:nvGrpSpPr>
        <p:grpSpPr>
          <a:xfrm>
            <a:off x="895525" y="1964799"/>
            <a:ext cx="3444949" cy="2438367"/>
            <a:chOff x="765542" y="1584534"/>
            <a:chExt cx="3444949" cy="243836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4BE2E61F-3F77-54DF-D67C-9F4EF8B88349}"/>
                </a:ext>
              </a:extLst>
            </p:cNvPr>
            <p:cNvSpPr txBox="1">
              <a:spLocks/>
            </p:cNvSpPr>
            <p:nvPr/>
          </p:nvSpPr>
          <p:spPr>
            <a:xfrm>
              <a:off x="765543" y="1584534"/>
              <a:ext cx="26025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Affiner l’analyse des marges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571D307-9775-BE87-1B0C-11151A184910}"/>
                </a:ext>
              </a:extLst>
            </p:cNvPr>
            <p:cNvSpPr txBox="1"/>
            <p:nvPr/>
          </p:nvSpPr>
          <p:spPr>
            <a:xfrm>
              <a:off x="765543" y="2127783"/>
              <a:ext cx="27857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Optimiser la gestion des stocks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D5FBD76-AEBA-E117-B51E-B4CF573B7584}"/>
                </a:ext>
              </a:extLst>
            </p:cNvPr>
            <p:cNvSpPr txBox="1"/>
            <p:nvPr/>
          </p:nvSpPr>
          <p:spPr>
            <a:xfrm>
              <a:off x="765542" y="2650179"/>
              <a:ext cx="34449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Améliorer la stratégie de mise en vente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CA823A2-1D04-7BB7-3FA1-8A3B39C17A06}"/>
                </a:ext>
              </a:extLst>
            </p:cNvPr>
            <p:cNvSpPr txBox="1"/>
            <p:nvPr/>
          </p:nvSpPr>
          <p:spPr>
            <a:xfrm>
              <a:off x="765542" y="3183426"/>
              <a:ext cx="2964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Analyser les tendances de vente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26F5337-482A-90CF-97B7-F04BC4D0C067}"/>
                </a:ext>
              </a:extLst>
            </p:cNvPr>
            <p:cNvSpPr txBox="1"/>
            <p:nvPr/>
          </p:nvSpPr>
          <p:spPr>
            <a:xfrm>
              <a:off x="765542" y="3715124"/>
              <a:ext cx="3314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Correction et fiabilisation des données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414000" y="1826312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dirty="0">
                <a:latin typeface="Montserrat" panose="00000500000000000000" pitchFamily="2" charset="0"/>
              </a:rPr>
              <a:t>Ce qui a bien marché : L'analyse des données et la compréhension de leurs « relations » à travers les fichiers. </a:t>
            </a:r>
          </a:p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latin typeface="Montserrat" panose="00000500000000000000" pitchFamily="2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dirty="0">
                <a:latin typeface="Montserrat" panose="00000500000000000000" pitchFamily="2" charset="0"/>
              </a:rPr>
              <a:t>Difficulté rencontrée : Déterminer les données à conserver ou à supprimer. </a:t>
            </a:r>
          </a:p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latin typeface="Montserrat" panose="00000500000000000000" pitchFamily="2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sz="1600" dirty="0">
                <a:latin typeface="Montserrat" panose="00000500000000000000" pitchFamily="2" charset="0"/>
              </a:rPr>
              <a:t>Besoin d'entraînement : Approfondir les méthodes d'analyse des données inutiles pour mieux les identifier et les éliminer.</a:t>
            </a:r>
            <a:endParaRPr sz="1600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849</Words>
  <Application>Microsoft Office PowerPoint</Application>
  <PresentationFormat>Affichage à l'écran (16:9)</PresentationFormat>
  <Paragraphs>148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Symbol</vt:lpstr>
      <vt:lpstr>Arial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C Yung</cp:lastModifiedBy>
  <cp:revision>4</cp:revision>
  <dcterms:modified xsi:type="dcterms:W3CDTF">2025-03-14T11:59:05Z</dcterms:modified>
</cp:coreProperties>
</file>