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1" r:id="rId2"/>
    <p:sldId id="2562" r:id="rId3"/>
    <p:sldId id="2564" r:id="rId4"/>
    <p:sldId id="2565" r:id="rId5"/>
    <p:sldId id="2566" r:id="rId6"/>
    <p:sldId id="2568" r:id="rId7"/>
    <p:sldId id="2570" r:id="rId8"/>
    <p:sldId id="2572" r:id="rId9"/>
    <p:sldId id="2573" r:id="rId10"/>
    <p:sldId id="2574" r:id="rId11"/>
    <p:sldId id="2577" r:id="rId12"/>
    <p:sldId id="2578" r:id="rId13"/>
    <p:sldId id="2580" r:id="rId14"/>
    <p:sldId id="2582" r:id="rId15"/>
    <p:sldId id="2584" r:id="rId1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étection de faux billets avec Python : Projet Data Analyst pour l’ONCFM" id="{E42C40EA-2D9C-41FA-87BA-DD96E75DE4D7}">
          <p14:sldIdLst>
            <p14:sldId id="2561"/>
            <p14:sldId id="2562"/>
          </p14:sldIdLst>
        </p14:section>
        <p14:section name="Contexte et objectifs du projet" id="{81C9FED2-9B72-44CB-8112-8CEAB81F4FE9}">
          <p14:sldIdLst>
            <p14:sldId id="2564"/>
            <p14:sldId id="2565"/>
            <p14:sldId id="2566"/>
          </p14:sldIdLst>
        </p14:section>
        <p14:section name="Analyse exploratoire et préparation des données" id="{B7559F57-4E81-44C4-BACA-3D5F46764419}">
          <p14:sldIdLst>
            <p14:sldId id="2568"/>
            <p14:sldId id="2570"/>
          </p14:sldIdLst>
        </p14:section>
        <p14:section name="Construction des modèles de détection" id="{1F30DF54-B655-4258-B778-74C518C40A65}">
          <p14:sldIdLst>
            <p14:sldId id="2572"/>
            <p14:sldId id="2573"/>
            <p14:sldId id="2574"/>
          </p14:sldIdLst>
        </p14:section>
        <p14:section name="Validation, interprétation et choix du modèle final" id="{2736512D-4E2B-4006-9E4A-CF6138D2C0DD}">
          <p14:sldIdLst>
            <p14:sldId id="2577"/>
            <p14:sldId id="2578"/>
          </p14:sldIdLst>
        </p14:section>
        <p14:section name="Application pratique et perspectives d’évolution" id="{C511588E-9C82-4C50-B020-FD1F282D31B4}">
          <p14:sldIdLst>
            <p14:sldId id="2580"/>
            <p14:sldId id="2582"/>
          </p14:sldIdLst>
        </p14:section>
        <p14:section name="Conclusion" id="{4A3D6CEC-938D-4C4F-9D88-30D25A762DAE}">
          <p14:sldIdLst>
            <p14:sldId id="25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57" d="100"/>
          <a:sy n="57" d="100"/>
        </p:scale>
        <p:origin x="1260" y="28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ata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ata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13DFE32-DC25-4353-AED9-04B94F62252E}"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D568C0F-22AE-4951-B0DA-CC2D52EA9BB9}">
      <dgm:prSet/>
      <dgm:spPr/>
      <dgm:t>
        <a:bodyPr/>
        <a:lstStyle/>
        <a:p>
          <a:r>
            <a:rPr lang="fr-FR" b="1" i="0" baseline="0"/>
            <a:t>Contexte et objectifs du projet</a:t>
          </a:r>
          <a:br>
            <a:rPr lang="fr-FR" b="0" i="0" baseline="0"/>
          </a:br>
          <a:r>
            <a:rPr lang="fr-FR" b="0" i="1" baseline="0"/>
            <a:t>Présentation de la mission et des enjeux pour l’ONCFM</a:t>
          </a:r>
          <a:endParaRPr lang="en-US"/>
        </a:p>
      </dgm:t>
    </dgm:pt>
    <dgm:pt modelId="{45F43246-B773-4247-9BB6-8CC203E2BDB9}" type="parTrans" cxnId="{5E290702-4744-4416-9653-74B788C69817}">
      <dgm:prSet/>
      <dgm:spPr/>
      <dgm:t>
        <a:bodyPr/>
        <a:lstStyle/>
        <a:p>
          <a:endParaRPr lang="en-US"/>
        </a:p>
      </dgm:t>
    </dgm:pt>
    <dgm:pt modelId="{ED71B819-71A9-4FA9-9E08-517C573C9C3D}" type="sibTrans" cxnId="{5E290702-4744-4416-9653-74B788C69817}">
      <dgm:prSet/>
      <dgm:spPr/>
      <dgm:t>
        <a:bodyPr/>
        <a:lstStyle/>
        <a:p>
          <a:endParaRPr lang="en-US"/>
        </a:p>
      </dgm:t>
    </dgm:pt>
    <dgm:pt modelId="{46466A8E-DFEE-47AC-8AF3-9AD60046D48B}">
      <dgm:prSet/>
      <dgm:spPr/>
      <dgm:t>
        <a:bodyPr/>
        <a:lstStyle/>
        <a:p>
          <a:r>
            <a:rPr lang="fr-FR" b="1" i="0" baseline="0"/>
            <a:t>Analyse exploratoire et préparation des données</a:t>
          </a:r>
          <a:br>
            <a:rPr lang="fr-FR" b="0" i="0" baseline="0"/>
          </a:br>
          <a:r>
            <a:rPr lang="fr-FR" b="0" i="1" baseline="0"/>
            <a:t>Nettoyage, traitement des valeurs manquantes et standardisation</a:t>
          </a:r>
          <a:endParaRPr lang="en-US"/>
        </a:p>
      </dgm:t>
    </dgm:pt>
    <dgm:pt modelId="{C5187381-B6C0-4D2D-B826-656726275382}" type="parTrans" cxnId="{AFC5B9FA-4F44-410B-9C1C-77BDD8E2D12A}">
      <dgm:prSet/>
      <dgm:spPr/>
      <dgm:t>
        <a:bodyPr/>
        <a:lstStyle/>
        <a:p>
          <a:endParaRPr lang="en-US"/>
        </a:p>
      </dgm:t>
    </dgm:pt>
    <dgm:pt modelId="{9B737132-03E5-49AF-AC60-A08C9E5AB9A9}" type="sibTrans" cxnId="{AFC5B9FA-4F44-410B-9C1C-77BDD8E2D12A}">
      <dgm:prSet/>
      <dgm:spPr/>
      <dgm:t>
        <a:bodyPr/>
        <a:lstStyle/>
        <a:p>
          <a:endParaRPr lang="en-US"/>
        </a:p>
      </dgm:t>
    </dgm:pt>
    <dgm:pt modelId="{A268FB27-53CA-4A82-AEBD-853B585E29D0}">
      <dgm:prSet/>
      <dgm:spPr/>
      <dgm:t>
        <a:bodyPr/>
        <a:lstStyle/>
        <a:p>
          <a:r>
            <a:rPr lang="fr-FR" b="1" i="0" baseline="0"/>
            <a:t>Construction et évaluation des modèles</a:t>
          </a:r>
          <a:br>
            <a:rPr lang="fr-FR" b="0" i="0" baseline="0"/>
          </a:br>
          <a:r>
            <a:rPr lang="fr-FR" b="0" i="1" baseline="0"/>
            <a:t>Tests des algorithmes de classification et comparaison des performances</a:t>
          </a:r>
          <a:endParaRPr lang="en-US"/>
        </a:p>
      </dgm:t>
    </dgm:pt>
    <dgm:pt modelId="{645BACFE-6B2A-4394-A3E3-7FB2BCCFE5BD}" type="parTrans" cxnId="{42594B34-CA56-46D3-B309-705448229B68}">
      <dgm:prSet/>
      <dgm:spPr/>
      <dgm:t>
        <a:bodyPr/>
        <a:lstStyle/>
        <a:p>
          <a:endParaRPr lang="en-US"/>
        </a:p>
      </dgm:t>
    </dgm:pt>
    <dgm:pt modelId="{80139777-08EF-4A2D-94AB-BFA2A85C187F}" type="sibTrans" cxnId="{42594B34-CA56-46D3-B309-705448229B68}">
      <dgm:prSet/>
      <dgm:spPr/>
      <dgm:t>
        <a:bodyPr/>
        <a:lstStyle/>
        <a:p>
          <a:endParaRPr lang="en-US"/>
        </a:p>
      </dgm:t>
    </dgm:pt>
    <dgm:pt modelId="{5E7427A3-3892-4979-9EC2-7FA2B791C61C}">
      <dgm:prSet/>
      <dgm:spPr/>
      <dgm:t>
        <a:bodyPr/>
        <a:lstStyle/>
        <a:p>
          <a:r>
            <a:rPr lang="fr-FR" b="1" i="0" baseline="0"/>
            <a:t>Choix et interprétation du modèle final</a:t>
          </a:r>
          <a:br>
            <a:rPr lang="fr-FR" b="0" i="0" baseline="0"/>
          </a:br>
          <a:r>
            <a:rPr lang="fr-FR" b="0" i="1" baseline="0"/>
            <a:t>Sélection de la régression logistique et analyse des coefficients</a:t>
          </a:r>
          <a:endParaRPr lang="en-US"/>
        </a:p>
      </dgm:t>
    </dgm:pt>
    <dgm:pt modelId="{3E65F147-573A-4946-99F1-F9EF1E5ECFB0}" type="parTrans" cxnId="{F177FB18-661C-4CB9-B7C3-E87514648434}">
      <dgm:prSet/>
      <dgm:spPr/>
      <dgm:t>
        <a:bodyPr/>
        <a:lstStyle/>
        <a:p>
          <a:endParaRPr lang="en-US"/>
        </a:p>
      </dgm:t>
    </dgm:pt>
    <dgm:pt modelId="{A6F0192A-53A4-4D4F-88B0-4A94FAAD0CB8}" type="sibTrans" cxnId="{F177FB18-661C-4CB9-B7C3-E87514648434}">
      <dgm:prSet/>
      <dgm:spPr/>
      <dgm:t>
        <a:bodyPr/>
        <a:lstStyle/>
        <a:p>
          <a:endParaRPr lang="en-US"/>
        </a:p>
      </dgm:t>
    </dgm:pt>
    <dgm:pt modelId="{AC45EF13-9C36-417D-8695-855043964D49}">
      <dgm:prSet/>
      <dgm:spPr/>
      <dgm:t>
        <a:bodyPr/>
        <a:lstStyle/>
        <a:p>
          <a:r>
            <a:rPr lang="fr-FR" b="1" i="0" baseline="0"/>
            <a:t>Application de prédiction et perspectives</a:t>
          </a:r>
          <a:br>
            <a:rPr lang="fr-FR" b="0" i="0" baseline="0"/>
          </a:br>
          <a:r>
            <a:rPr lang="fr-FR" b="0" i="1" baseline="0"/>
            <a:t>Mise en œuvre sur de nouveaux billets et pistes d’amélioration futures</a:t>
          </a:r>
          <a:endParaRPr lang="en-US"/>
        </a:p>
      </dgm:t>
    </dgm:pt>
    <dgm:pt modelId="{7A1F2005-D9FC-4BBD-B721-50BADC5F5338}" type="parTrans" cxnId="{FFFA8AD6-A811-4849-8C4C-5DEFCF1F3FAE}">
      <dgm:prSet/>
      <dgm:spPr/>
      <dgm:t>
        <a:bodyPr/>
        <a:lstStyle/>
        <a:p>
          <a:endParaRPr lang="en-US"/>
        </a:p>
      </dgm:t>
    </dgm:pt>
    <dgm:pt modelId="{AA96B61D-3529-4026-AF68-463D1D19A77C}" type="sibTrans" cxnId="{FFFA8AD6-A811-4849-8C4C-5DEFCF1F3FAE}">
      <dgm:prSet/>
      <dgm:spPr/>
      <dgm:t>
        <a:bodyPr/>
        <a:lstStyle/>
        <a:p>
          <a:endParaRPr lang="en-US"/>
        </a:p>
      </dgm:t>
    </dgm:pt>
    <dgm:pt modelId="{BC261C97-954C-407C-B1C6-A233F6773B13}" type="pres">
      <dgm:prSet presAssocID="{513DFE32-DC25-4353-AED9-04B94F62252E}" presName="root" presStyleCnt="0">
        <dgm:presLayoutVars>
          <dgm:dir/>
          <dgm:resizeHandles val="exact"/>
        </dgm:presLayoutVars>
      </dgm:prSet>
      <dgm:spPr/>
    </dgm:pt>
    <dgm:pt modelId="{62BE1DC1-2184-4829-81A7-8C37093B7D57}" type="pres">
      <dgm:prSet presAssocID="{DD568C0F-22AE-4951-B0DA-CC2D52EA9BB9}" presName="compNode" presStyleCnt="0"/>
      <dgm:spPr/>
    </dgm:pt>
    <dgm:pt modelId="{8F907B9F-0B81-44C3-884A-61DF8C1FA56D}" type="pres">
      <dgm:prSet presAssocID="{DD568C0F-22AE-4951-B0DA-CC2D52EA9BB9}" presName="bgRect" presStyleLbl="bgShp" presStyleIdx="0" presStyleCnt="5"/>
      <dgm:spPr/>
    </dgm:pt>
    <dgm:pt modelId="{2DAF3C88-6B08-4D27-B2CA-C07D4DB13563}" type="pres">
      <dgm:prSet presAssocID="{DD568C0F-22AE-4951-B0DA-CC2D52EA9BB9}"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ille"/>
        </a:ext>
      </dgm:extLst>
    </dgm:pt>
    <dgm:pt modelId="{E2D5FDAC-1756-47A0-BF11-5AF109BEA0E7}" type="pres">
      <dgm:prSet presAssocID="{DD568C0F-22AE-4951-B0DA-CC2D52EA9BB9}" presName="spaceRect" presStyleCnt="0"/>
      <dgm:spPr/>
    </dgm:pt>
    <dgm:pt modelId="{42F7FE11-8557-460B-B3D5-54D8F381B1BD}" type="pres">
      <dgm:prSet presAssocID="{DD568C0F-22AE-4951-B0DA-CC2D52EA9BB9}" presName="parTx" presStyleLbl="revTx" presStyleIdx="0" presStyleCnt="5">
        <dgm:presLayoutVars>
          <dgm:chMax val="0"/>
          <dgm:chPref val="0"/>
        </dgm:presLayoutVars>
      </dgm:prSet>
      <dgm:spPr/>
    </dgm:pt>
    <dgm:pt modelId="{8A4810A4-EBE2-4A73-B1A9-481A358175CC}" type="pres">
      <dgm:prSet presAssocID="{ED71B819-71A9-4FA9-9E08-517C573C9C3D}" presName="sibTrans" presStyleCnt="0"/>
      <dgm:spPr/>
    </dgm:pt>
    <dgm:pt modelId="{54E88F63-2828-4D90-848F-DA680D1EC62B}" type="pres">
      <dgm:prSet presAssocID="{46466A8E-DFEE-47AC-8AF3-9AD60046D48B}" presName="compNode" presStyleCnt="0"/>
      <dgm:spPr/>
    </dgm:pt>
    <dgm:pt modelId="{D85E4F70-E8FB-4638-9490-29CEF332E091}" type="pres">
      <dgm:prSet presAssocID="{46466A8E-DFEE-47AC-8AF3-9AD60046D48B}" presName="bgRect" presStyleLbl="bgShp" presStyleIdx="1" presStyleCnt="5"/>
      <dgm:spPr/>
    </dgm:pt>
    <dgm:pt modelId="{647E1FA7-735B-4DE2-BFBF-1CB9B062D87A}" type="pres">
      <dgm:prSet presAssocID="{46466A8E-DFEE-47AC-8AF3-9AD60046D48B}"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che"/>
        </a:ext>
      </dgm:extLst>
    </dgm:pt>
    <dgm:pt modelId="{940333BF-99D9-45F1-9D8C-4DD0D8A8C0EF}" type="pres">
      <dgm:prSet presAssocID="{46466A8E-DFEE-47AC-8AF3-9AD60046D48B}" presName="spaceRect" presStyleCnt="0"/>
      <dgm:spPr/>
    </dgm:pt>
    <dgm:pt modelId="{2420E9EF-0355-445F-8F8D-68390840E513}" type="pres">
      <dgm:prSet presAssocID="{46466A8E-DFEE-47AC-8AF3-9AD60046D48B}" presName="parTx" presStyleLbl="revTx" presStyleIdx="1" presStyleCnt="5">
        <dgm:presLayoutVars>
          <dgm:chMax val="0"/>
          <dgm:chPref val="0"/>
        </dgm:presLayoutVars>
      </dgm:prSet>
      <dgm:spPr/>
    </dgm:pt>
    <dgm:pt modelId="{C8B292E5-7D49-49D7-AF19-CD534446E694}" type="pres">
      <dgm:prSet presAssocID="{9B737132-03E5-49AF-AC60-A08C9E5AB9A9}" presName="sibTrans" presStyleCnt="0"/>
      <dgm:spPr/>
    </dgm:pt>
    <dgm:pt modelId="{B3F3F275-BB52-4C1B-A453-9B6B149572D1}" type="pres">
      <dgm:prSet presAssocID="{A268FB27-53CA-4A82-AEBD-853B585E29D0}" presName="compNode" presStyleCnt="0"/>
      <dgm:spPr/>
    </dgm:pt>
    <dgm:pt modelId="{E606A352-9F90-4104-8E8B-515ED198E0FB}" type="pres">
      <dgm:prSet presAssocID="{A268FB27-53CA-4A82-AEBD-853B585E29D0}" presName="bgRect" presStyleLbl="bgShp" presStyleIdx="2" presStyleCnt="5"/>
      <dgm:spPr/>
    </dgm:pt>
    <dgm:pt modelId="{214B393E-6A76-41EF-8E27-C6DBF23C165E}" type="pres">
      <dgm:prSet presAssocID="{A268FB27-53CA-4A82-AEBD-853B585E29D0}"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r chart"/>
        </a:ext>
      </dgm:extLst>
    </dgm:pt>
    <dgm:pt modelId="{73812F45-E830-4145-B911-C83F4581D551}" type="pres">
      <dgm:prSet presAssocID="{A268FB27-53CA-4A82-AEBD-853B585E29D0}" presName="spaceRect" presStyleCnt="0"/>
      <dgm:spPr/>
    </dgm:pt>
    <dgm:pt modelId="{9E09679E-331B-4508-8E50-6B071316DDF1}" type="pres">
      <dgm:prSet presAssocID="{A268FB27-53CA-4A82-AEBD-853B585E29D0}" presName="parTx" presStyleLbl="revTx" presStyleIdx="2" presStyleCnt="5">
        <dgm:presLayoutVars>
          <dgm:chMax val="0"/>
          <dgm:chPref val="0"/>
        </dgm:presLayoutVars>
      </dgm:prSet>
      <dgm:spPr/>
    </dgm:pt>
    <dgm:pt modelId="{46BF0E99-808B-444B-A7CB-872175EFBEEB}" type="pres">
      <dgm:prSet presAssocID="{80139777-08EF-4A2D-94AB-BFA2A85C187F}" presName="sibTrans" presStyleCnt="0"/>
      <dgm:spPr/>
    </dgm:pt>
    <dgm:pt modelId="{F60FBAB6-CCF8-4B6C-901C-D3679EE4C6A0}" type="pres">
      <dgm:prSet presAssocID="{5E7427A3-3892-4979-9EC2-7FA2B791C61C}" presName="compNode" presStyleCnt="0"/>
      <dgm:spPr/>
    </dgm:pt>
    <dgm:pt modelId="{336ACACC-4263-4E4A-9383-C2C5F10D7AC4}" type="pres">
      <dgm:prSet presAssocID="{5E7427A3-3892-4979-9EC2-7FA2B791C61C}" presName="bgRect" presStyleLbl="bgShp" presStyleIdx="3" presStyleCnt="5"/>
      <dgm:spPr/>
    </dgm:pt>
    <dgm:pt modelId="{B5BE79F0-4D87-4554-A62C-45B86B8EBF67}" type="pres">
      <dgm:prSet presAssocID="{5E7427A3-3892-4979-9EC2-7FA2B791C61C}"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ad with Gears"/>
        </a:ext>
      </dgm:extLst>
    </dgm:pt>
    <dgm:pt modelId="{44778730-D8C3-4839-87E6-2CFB5D7A14BF}" type="pres">
      <dgm:prSet presAssocID="{5E7427A3-3892-4979-9EC2-7FA2B791C61C}" presName="spaceRect" presStyleCnt="0"/>
      <dgm:spPr/>
    </dgm:pt>
    <dgm:pt modelId="{86A5A509-91E3-4251-894D-DE5128834202}" type="pres">
      <dgm:prSet presAssocID="{5E7427A3-3892-4979-9EC2-7FA2B791C61C}" presName="parTx" presStyleLbl="revTx" presStyleIdx="3" presStyleCnt="5">
        <dgm:presLayoutVars>
          <dgm:chMax val="0"/>
          <dgm:chPref val="0"/>
        </dgm:presLayoutVars>
      </dgm:prSet>
      <dgm:spPr/>
    </dgm:pt>
    <dgm:pt modelId="{E5C9653F-3058-489A-A6A9-34845CF964EC}" type="pres">
      <dgm:prSet presAssocID="{A6F0192A-53A4-4D4F-88B0-4A94FAAD0CB8}" presName="sibTrans" presStyleCnt="0"/>
      <dgm:spPr/>
    </dgm:pt>
    <dgm:pt modelId="{0A6F67CE-F9EE-40B0-B857-318D75524A47}" type="pres">
      <dgm:prSet presAssocID="{AC45EF13-9C36-417D-8695-855043964D49}" presName="compNode" presStyleCnt="0"/>
      <dgm:spPr/>
    </dgm:pt>
    <dgm:pt modelId="{E6048CB7-8F0F-4BC4-860B-639E25060785}" type="pres">
      <dgm:prSet presAssocID="{AC45EF13-9C36-417D-8695-855043964D49}" presName="bgRect" presStyleLbl="bgShp" presStyleIdx="4" presStyleCnt="5"/>
      <dgm:spPr/>
    </dgm:pt>
    <dgm:pt modelId="{C0042F07-4814-4969-8BCB-81FC2C6572BA}" type="pres">
      <dgm:prSet presAssocID="{AC45EF13-9C36-417D-8695-855043964D49}"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Upward trend"/>
        </a:ext>
      </dgm:extLst>
    </dgm:pt>
    <dgm:pt modelId="{0E406CDC-737A-487F-906F-DEB8B516D044}" type="pres">
      <dgm:prSet presAssocID="{AC45EF13-9C36-417D-8695-855043964D49}" presName="spaceRect" presStyleCnt="0"/>
      <dgm:spPr/>
    </dgm:pt>
    <dgm:pt modelId="{9C36B099-65EE-417D-9D46-DFF184DE581E}" type="pres">
      <dgm:prSet presAssocID="{AC45EF13-9C36-417D-8695-855043964D49}" presName="parTx" presStyleLbl="revTx" presStyleIdx="4" presStyleCnt="5">
        <dgm:presLayoutVars>
          <dgm:chMax val="0"/>
          <dgm:chPref val="0"/>
        </dgm:presLayoutVars>
      </dgm:prSet>
      <dgm:spPr/>
    </dgm:pt>
  </dgm:ptLst>
  <dgm:cxnLst>
    <dgm:cxn modelId="{5E290702-4744-4416-9653-74B788C69817}" srcId="{513DFE32-DC25-4353-AED9-04B94F62252E}" destId="{DD568C0F-22AE-4951-B0DA-CC2D52EA9BB9}" srcOrd="0" destOrd="0" parTransId="{45F43246-B773-4247-9BB6-8CC203E2BDB9}" sibTransId="{ED71B819-71A9-4FA9-9E08-517C573C9C3D}"/>
    <dgm:cxn modelId="{F177FB18-661C-4CB9-B7C3-E87514648434}" srcId="{513DFE32-DC25-4353-AED9-04B94F62252E}" destId="{5E7427A3-3892-4979-9EC2-7FA2B791C61C}" srcOrd="3" destOrd="0" parTransId="{3E65F147-573A-4946-99F1-F9EF1E5ECFB0}" sibTransId="{A6F0192A-53A4-4D4F-88B0-4A94FAAD0CB8}"/>
    <dgm:cxn modelId="{58051F21-BEF3-4A94-95E4-F231879C3126}" type="presOf" srcId="{DD568C0F-22AE-4951-B0DA-CC2D52EA9BB9}" destId="{42F7FE11-8557-460B-B3D5-54D8F381B1BD}" srcOrd="0" destOrd="0" presId="urn:microsoft.com/office/officeart/2018/2/layout/IconVerticalSolidList"/>
    <dgm:cxn modelId="{42594B34-CA56-46D3-B309-705448229B68}" srcId="{513DFE32-DC25-4353-AED9-04B94F62252E}" destId="{A268FB27-53CA-4A82-AEBD-853B585E29D0}" srcOrd="2" destOrd="0" parTransId="{645BACFE-6B2A-4394-A3E3-7FB2BCCFE5BD}" sibTransId="{80139777-08EF-4A2D-94AB-BFA2A85C187F}"/>
    <dgm:cxn modelId="{1236D243-9F32-4CDA-8161-6B2AB8544FA9}" type="presOf" srcId="{513DFE32-DC25-4353-AED9-04B94F62252E}" destId="{BC261C97-954C-407C-B1C6-A233F6773B13}" srcOrd="0" destOrd="0" presId="urn:microsoft.com/office/officeart/2018/2/layout/IconVerticalSolidList"/>
    <dgm:cxn modelId="{5DCDB56B-B67C-4070-BF40-E0EA8EDF3261}" type="presOf" srcId="{5E7427A3-3892-4979-9EC2-7FA2B791C61C}" destId="{86A5A509-91E3-4251-894D-DE5128834202}" srcOrd="0" destOrd="0" presId="urn:microsoft.com/office/officeart/2018/2/layout/IconVerticalSolidList"/>
    <dgm:cxn modelId="{FAC5B39E-E29D-48EE-BCF4-CB12325E5EC9}" type="presOf" srcId="{A268FB27-53CA-4A82-AEBD-853B585E29D0}" destId="{9E09679E-331B-4508-8E50-6B071316DDF1}" srcOrd="0" destOrd="0" presId="urn:microsoft.com/office/officeart/2018/2/layout/IconVerticalSolidList"/>
    <dgm:cxn modelId="{5BCF33BC-34E4-4218-BFC0-3DD5412D9D6D}" type="presOf" srcId="{46466A8E-DFEE-47AC-8AF3-9AD60046D48B}" destId="{2420E9EF-0355-445F-8F8D-68390840E513}" srcOrd="0" destOrd="0" presId="urn:microsoft.com/office/officeart/2018/2/layout/IconVerticalSolidList"/>
    <dgm:cxn modelId="{FFFA8AD6-A811-4849-8C4C-5DEFCF1F3FAE}" srcId="{513DFE32-DC25-4353-AED9-04B94F62252E}" destId="{AC45EF13-9C36-417D-8695-855043964D49}" srcOrd="4" destOrd="0" parTransId="{7A1F2005-D9FC-4BBD-B721-50BADC5F5338}" sibTransId="{AA96B61D-3529-4026-AF68-463D1D19A77C}"/>
    <dgm:cxn modelId="{3FD4D2EA-B07B-4456-AF67-A2B5104E9CA9}" type="presOf" srcId="{AC45EF13-9C36-417D-8695-855043964D49}" destId="{9C36B099-65EE-417D-9D46-DFF184DE581E}" srcOrd="0" destOrd="0" presId="urn:microsoft.com/office/officeart/2018/2/layout/IconVerticalSolidList"/>
    <dgm:cxn modelId="{AFC5B9FA-4F44-410B-9C1C-77BDD8E2D12A}" srcId="{513DFE32-DC25-4353-AED9-04B94F62252E}" destId="{46466A8E-DFEE-47AC-8AF3-9AD60046D48B}" srcOrd="1" destOrd="0" parTransId="{C5187381-B6C0-4D2D-B826-656726275382}" sibTransId="{9B737132-03E5-49AF-AC60-A08C9E5AB9A9}"/>
    <dgm:cxn modelId="{3B2954AE-B3B3-4AAF-AF75-4F56B4DF8683}" type="presParOf" srcId="{BC261C97-954C-407C-B1C6-A233F6773B13}" destId="{62BE1DC1-2184-4829-81A7-8C37093B7D57}" srcOrd="0" destOrd="0" presId="urn:microsoft.com/office/officeart/2018/2/layout/IconVerticalSolidList"/>
    <dgm:cxn modelId="{64D1D52C-2D36-47EE-9E5C-79E7969D1741}" type="presParOf" srcId="{62BE1DC1-2184-4829-81A7-8C37093B7D57}" destId="{8F907B9F-0B81-44C3-884A-61DF8C1FA56D}" srcOrd="0" destOrd="0" presId="urn:microsoft.com/office/officeart/2018/2/layout/IconVerticalSolidList"/>
    <dgm:cxn modelId="{9FAF27B5-2606-4EF4-A4D2-7B86BB0E7595}" type="presParOf" srcId="{62BE1DC1-2184-4829-81A7-8C37093B7D57}" destId="{2DAF3C88-6B08-4D27-B2CA-C07D4DB13563}" srcOrd="1" destOrd="0" presId="urn:microsoft.com/office/officeart/2018/2/layout/IconVerticalSolidList"/>
    <dgm:cxn modelId="{EA428599-09CC-4483-BCFE-DDABFD497231}" type="presParOf" srcId="{62BE1DC1-2184-4829-81A7-8C37093B7D57}" destId="{E2D5FDAC-1756-47A0-BF11-5AF109BEA0E7}" srcOrd="2" destOrd="0" presId="urn:microsoft.com/office/officeart/2018/2/layout/IconVerticalSolidList"/>
    <dgm:cxn modelId="{34909EFD-7799-4F39-895A-804306B366A7}" type="presParOf" srcId="{62BE1DC1-2184-4829-81A7-8C37093B7D57}" destId="{42F7FE11-8557-460B-B3D5-54D8F381B1BD}" srcOrd="3" destOrd="0" presId="urn:microsoft.com/office/officeart/2018/2/layout/IconVerticalSolidList"/>
    <dgm:cxn modelId="{9075A914-5AB6-40E0-BCC3-56C1BE7AFC8D}" type="presParOf" srcId="{BC261C97-954C-407C-B1C6-A233F6773B13}" destId="{8A4810A4-EBE2-4A73-B1A9-481A358175CC}" srcOrd="1" destOrd="0" presId="urn:microsoft.com/office/officeart/2018/2/layout/IconVerticalSolidList"/>
    <dgm:cxn modelId="{4C798803-E5B8-4E11-8B2B-98E7A3C20038}" type="presParOf" srcId="{BC261C97-954C-407C-B1C6-A233F6773B13}" destId="{54E88F63-2828-4D90-848F-DA680D1EC62B}" srcOrd="2" destOrd="0" presId="urn:microsoft.com/office/officeart/2018/2/layout/IconVerticalSolidList"/>
    <dgm:cxn modelId="{B771A844-C47E-463A-A3BB-7EBD684F6F34}" type="presParOf" srcId="{54E88F63-2828-4D90-848F-DA680D1EC62B}" destId="{D85E4F70-E8FB-4638-9490-29CEF332E091}" srcOrd="0" destOrd="0" presId="urn:microsoft.com/office/officeart/2018/2/layout/IconVerticalSolidList"/>
    <dgm:cxn modelId="{F6915C02-FF9C-4A54-88D9-6F38E20C0DF0}" type="presParOf" srcId="{54E88F63-2828-4D90-848F-DA680D1EC62B}" destId="{647E1FA7-735B-4DE2-BFBF-1CB9B062D87A}" srcOrd="1" destOrd="0" presId="urn:microsoft.com/office/officeart/2018/2/layout/IconVerticalSolidList"/>
    <dgm:cxn modelId="{A644BADD-8410-4D27-98C1-9E09D045111E}" type="presParOf" srcId="{54E88F63-2828-4D90-848F-DA680D1EC62B}" destId="{940333BF-99D9-45F1-9D8C-4DD0D8A8C0EF}" srcOrd="2" destOrd="0" presId="urn:microsoft.com/office/officeart/2018/2/layout/IconVerticalSolidList"/>
    <dgm:cxn modelId="{4DBA4C82-5E81-488B-9B6B-912B3B12E408}" type="presParOf" srcId="{54E88F63-2828-4D90-848F-DA680D1EC62B}" destId="{2420E9EF-0355-445F-8F8D-68390840E513}" srcOrd="3" destOrd="0" presId="urn:microsoft.com/office/officeart/2018/2/layout/IconVerticalSolidList"/>
    <dgm:cxn modelId="{C86822D5-6F3E-4EC7-BAFD-1897C866A535}" type="presParOf" srcId="{BC261C97-954C-407C-B1C6-A233F6773B13}" destId="{C8B292E5-7D49-49D7-AF19-CD534446E694}" srcOrd="3" destOrd="0" presId="urn:microsoft.com/office/officeart/2018/2/layout/IconVerticalSolidList"/>
    <dgm:cxn modelId="{7D2E4530-34CB-42AB-B4C3-50D56B030EFA}" type="presParOf" srcId="{BC261C97-954C-407C-B1C6-A233F6773B13}" destId="{B3F3F275-BB52-4C1B-A453-9B6B149572D1}" srcOrd="4" destOrd="0" presId="urn:microsoft.com/office/officeart/2018/2/layout/IconVerticalSolidList"/>
    <dgm:cxn modelId="{EBF846C8-5EBC-4B88-AD83-E560175B2B77}" type="presParOf" srcId="{B3F3F275-BB52-4C1B-A453-9B6B149572D1}" destId="{E606A352-9F90-4104-8E8B-515ED198E0FB}" srcOrd="0" destOrd="0" presId="urn:microsoft.com/office/officeart/2018/2/layout/IconVerticalSolidList"/>
    <dgm:cxn modelId="{541CCA51-8890-4520-B3BA-AFB17D5D1EF7}" type="presParOf" srcId="{B3F3F275-BB52-4C1B-A453-9B6B149572D1}" destId="{214B393E-6A76-41EF-8E27-C6DBF23C165E}" srcOrd="1" destOrd="0" presId="urn:microsoft.com/office/officeart/2018/2/layout/IconVerticalSolidList"/>
    <dgm:cxn modelId="{44485542-1C9C-4167-9ACA-39F9E9B0CEBF}" type="presParOf" srcId="{B3F3F275-BB52-4C1B-A453-9B6B149572D1}" destId="{73812F45-E830-4145-B911-C83F4581D551}" srcOrd="2" destOrd="0" presId="urn:microsoft.com/office/officeart/2018/2/layout/IconVerticalSolidList"/>
    <dgm:cxn modelId="{E42C2B9B-29F5-4950-BAC7-1777005D71BE}" type="presParOf" srcId="{B3F3F275-BB52-4C1B-A453-9B6B149572D1}" destId="{9E09679E-331B-4508-8E50-6B071316DDF1}" srcOrd="3" destOrd="0" presId="urn:microsoft.com/office/officeart/2018/2/layout/IconVerticalSolidList"/>
    <dgm:cxn modelId="{5D3F7686-C167-4E48-8A6D-80E13EE96EF7}" type="presParOf" srcId="{BC261C97-954C-407C-B1C6-A233F6773B13}" destId="{46BF0E99-808B-444B-A7CB-872175EFBEEB}" srcOrd="5" destOrd="0" presId="urn:microsoft.com/office/officeart/2018/2/layout/IconVerticalSolidList"/>
    <dgm:cxn modelId="{B748261A-8C08-454B-8A0E-B77EF71EED58}" type="presParOf" srcId="{BC261C97-954C-407C-B1C6-A233F6773B13}" destId="{F60FBAB6-CCF8-4B6C-901C-D3679EE4C6A0}" srcOrd="6" destOrd="0" presId="urn:microsoft.com/office/officeart/2018/2/layout/IconVerticalSolidList"/>
    <dgm:cxn modelId="{D326157D-BF49-416E-B5E5-E398D585617C}" type="presParOf" srcId="{F60FBAB6-CCF8-4B6C-901C-D3679EE4C6A0}" destId="{336ACACC-4263-4E4A-9383-C2C5F10D7AC4}" srcOrd="0" destOrd="0" presId="urn:microsoft.com/office/officeart/2018/2/layout/IconVerticalSolidList"/>
    <dgm:cxn modelId="{BAA3CD2E-A3CD-4096-AA56-3A60D3C9ED03}" type="presParOf" srcId="{F60FBAB6-CCF8-4B6C-901C-D3679EE4C6A0}" destId="{B5BE79F0-4D87-4554-A62C-45B86B8EBF67}" srcOrd="1" destOrd="0" presId="urn:microsoft.com/office/officeart/2018/2/layout/IconVerticalSolidList"/>
    <dgm:cxn modelId="{16AC1E19-9D69-4F0E-B567-A4D9D3D13C89}" type="presParOf" srcId="{F60FBAB6-CCF8-4B6C-901C-D3679EE4C6A0}" destId="{44778730-D8C3-4839-87E6-2CFB5D7A14BF}" srcOrd="2" destOrd="0" presId="urn:microsoft.com/office/officeart/2018/2/layout/IconVerticalSolidList"/>
    <dgm:cxn modelId="{1B6AD948-511E-4423-999A-284C959758CE}" type="presParOf" srcId="{F60FBAB6-CCF8-4B6C-901C-D3679EE4C6A0}" destId="{86A5A509-91E3-4251-894D-DE5128834202}" srcOrd="3" destOrd="0" presId="urn:microsoft.com/office/officeart/2018/2/layout/IconVerticalSolidList"/>
    <dgm:cxn modelId="{E83F225A-B0A6-4F58-8BF7-AA049151C927}" type="presParOf" srcId="{BC261C97-954C-407C-B1C6-A233F6773B13}" destId="{E5C9653F-3058-489A-A6A9-34845CF964EC}" srcOrd="7" destOrd="0" presId="urn:microsoft.com/office/officeart/2018/2/layout/IconVerticalSolidList"/>
    <dgm:cxn modelId="{2AF99347-FAF8-4EF6-AEF9-253C383761B6}" type="presParOf" srcId="{BC261C97-954C-407C-B1C6-A233F6773B13}" destId="{0A6F67CE-F9EE-40B0-B857-318D75524A47}" srcOrd="8" destOrd="0" presId="urn:microsoft.com/office/officeart/2018/2/layout/IconVerticalSolidList"/>
    <dgm:cxn modelId="{ED68C6B6-FDC2-4B1A-9D03-6E80E84AEBC5}" type="presParOf" srcId="{0A6F67CE-F9EE-40B0-B857-318D75524A47}" destId="{E6048CB7-8F0F-4BC4-860B-639E25060785}" srcOrd="0" destOrd="0" presId="urn:microsoft.com/office/officeart/2018/2/layout/IconVerticalSolidList"/>
    <dgm:cxn modelId="{A422D441-BB33-4483-9D94-FB633E82752B}" type="presParOf" srcId="{0A6F67CE-F9EE-40B0-B857-318D75524A47}" destId="{C0042F07-4814-4969-8BCB-81FC2C6572BA}" srcOrd="1" destOrd="0" presId="urn:microsoft.com/office/officeart/2018/2/layout/IconVerticalSolidList"/>
    <dgm:cxn modelId="{2636720A-E4D2-4D31-9A5E-7AE22C58184A}" type="presParOf" srcId="{0A6F67CE-F9EE-40B0-B857-318D75524A47}" destId="{0E406CDC-737A-487F-906F-DEB8B516D044}" srcOrd="2" destOrd="0" presId="urn:microsoft.com/office/officeart/2018/2/layout/IconVerticalSolidList"/>
    <dgm:cxn modelId="{64196B24-D947-4EC6-8732-9D34FAE3C173}" type="presParOf" srcId="{0A6F67CE-F9EE-40B0-B857-318D75524A47}" destId="{9C36B099-65EE-417D-9D46-DFF184DE581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417276B-9622-495B-AAF3-E7E387766B9D}" type="doc">
      <dgm:prSet loTypeId="urn:microsoft.com/office/officeart/2024/3/layout/verticalVisualTextBlock1" loCatId="Picture" qsTypeId="urn:microsoft.com/office/officeart/2005/8/quickstyle/simple4" qsCatId="simple" csTypeId="urn:microsoft.com/office/officeart/2005/8/colors/accent0_1" csCatId="mainScheme" phldr="1"/>
      <dgm:spPr/>
      <dgm:t>
        <a:bodyPr/>
        <a:lstStyle/>
        <a:p>
          <a:endParaRPr lang="fr-FR"/>
        </a:p>
      </dgm:t>
    </dgm:pt>
    <dgm:pt modelId="{C871648E-0F49-4777-8A92-D9744A66814A}">
      <dgm:prSet/>
      <dgm:spPr/>
      <dgm:t>
        <a:bodyPr/>
        <a:lstStyle/>
        <a:p>
          <a:pPr>
            <a:lnSpc>
              <a:spcPct val="100000"/>
            </a:lnSpc>
            <a:defRPr b="1"/>
          </a:pPr>
          <a:r>
            <a:rPr lang="fr-FR" dirty="0"/>
            <a:t>Détection automatique</a:t>
          </a:r>
        </a:p>
      </dgm:t>
    </dgm:pt>
    <dgm:pt modelId="{638267B2-E23B-463C-89A9-E0CC6A5B5019}" type="parTrans" cxnId="{BAF573F9-92D1-4B63-8D8F-DB7411816CE9}">
      <dgm:prSet/>
      <dgm:spPr/>
      <dgm:t>
        <a:bodyPr/>
        <a:lstStyle/>
        <a:p>
          <a:endParaRPr lang="fr-FR"/>
        </a:p>
      </dgm:t>
    </dgm:pt>
    <dgm:pt modelId="{E7ED4852-3F77-42B0-8CD0-FD121CBD3A2F}" type="sibTrans" cxnId="{BAF573F9-92D1-4B63-8D8F-DB7411816CE9}">
      <dgm:prSet/>
      <dgm:spPr/>
      <dgm:t>
        <a:bodyPr/>
        <a:lstStyle/>
        <a:p>
          <a:pPr>
            <a:lnSpc>
              <a:spcPct val="100000"/>
            </a:lnSpc>
            <a:defRPr b="1"/>
          </a:pPr>
          <a:endParaRPr lang="fr-FR"/>
        </a:p>
      </dgm:t>
    </dgm:pt>
    <dgm:pt modelId="{4D450413-E450-4EE3-8640-685A1366223B}">
      <dgm:prSet/>
      <dgm:spPr/>
      <dgm:t>
        <a:bodyPr/>
        <a:lstStyle/>
        <a:p>
          <a:pPr>
            <a:lnSpc>
              <a:spcPct val="100000"/>
            </a:lnSpc>
            <a:defRPr b="1"/>
          </a:pPr>
          <a:r>
            <a:rPr lang="fr-FR" dirty="0"/>
            <a:t>Sécurité renforcée</a:t>
          </a:r>
        </a:p>
      </dgm:t>
    </dgm:pt>
    <dgm:pt modelId="{2556A7D2-F905-429C-BEE3-7D6763DBFF7F}" type="parTrans" cxnId="{52A39DE8-0178-47F7-ABA2-4DAD6FF2BDC3}">
      <dgm:prSet/>
      <dgm:spPr/>
      <dgm:t>
        <a:bodyPr/>
        <a:lstStyle/>
        <a:p>
          <a:endParaRPr lang="fr-FR"/>
        </a:p>
      </dgm:t>
    </dgm:pt>
    <dgm:pt modelId="{90431669-F0FC-46C2-BA30-EB63E29A1E34}" type="sibTrans" cxnId="{52A39DE8-0178-47F7-ABA2-4DAD6FF2BDC3}">
      <dgm:prSet/>
      <dgm:spPr/>
      <dgm:t>
        <a:bodyPr/>
        <a:lstStyle/>
        <a:p>
          <a:pPr>
            <a:lnSpc>
              <a:spcPct val="100000"/>
            </a:lnSpc>
            <a:defRPr b="1"/>
          </a:pPr>
          <a:endParaRPr lang="fr-FR"/>
        </a:p>
      </dgm:t>
    </dgm:pt>
    <dgm:pt modelId="{58BEF765-4FDC-4306-896D-567726708DF6}">
      <dgm:prSet custT="1"/>
      <dgm:spPr/>
      <dgm:t>
        <a:bodyPr/>
        <a:lstStyle/>
        <a:p>
          <a:pPr>
            <a:lnSpc>
              <a:spcPct val="100000"/>
            </a:lnSpc>
          </a:pPr>
          <a:r>
            <a:rPr lang="fr-FR" sz="1600" dirty="0"/>
            <a:t>Réduire la circulation des faux billets et fiabiliser les contrôles des équipes de vérification.</a:t>
          </a:r>
        </a:p>
      </dgm:t>
    </dgm:pt>
    <dgm:pt modelId="{1CADD6B5-C03A-434F-9162-AE727986943E}" type="parTrans" cxnId="{24532CC3-0DCD-47AE-A94F-0E174B68FFEA}">
      <dgm:prSet/>
      <dgm:spPr/>
      <dgm:t>
        <a:bodyPr/>
        <a:lstStyle/>
        <a:p>
          <a:endParaRPr lang="fr-FR"/>
        </a:p>
      </dgm:t>
    </dgm:pt>
    <dgm:pt modelId="{5A5650D9-E8FF-4541-9BC0-0CF8160494E2}" type="sibTrans" cxnId="{24532CC3-0DCD-47AE-A94F-0E174B68FFEA}">
      <dgm:prSet/>
      <dgm:spPr/>
      <dgm:t>
        <a:bodyPr/>
        <a:lstStyle/>
        <a:p>
          <a:endParaRPr lang="fr-FR"/>
        </a:p>
      </dgm:t>
    </dgm:pt>
    <dgm:pt modelId="{34CBE49B-8B7F-4A89-BE1A-FEDFCFEDA66B}">
      <dgm:prSet/>
      <dgm:spPr/>
      <dgm:t>
        <a:bodyPr/>
        <a:lstStyle/>
        <a:p>
          <a:pPr>
            <a:lnSpc>
              <a:spcPct val="100000"/>
            </a:lnSpc>
            <a:defRPr b="1"/>
          </a:pPr>
          <a:r>
            <a:rPr lang="fr-FR" dirty="0"/>
            <a:t>Outil opérationnel</a:t>
          </a:r>
        </a:p>
      </dgm:t>
    </dgm:pt>
    <dgm:pt modelId="{124F43ED-468A-4D51-8C69-1D1F03578CAA}" type="parTrans" cxnId="{CA56874A-C39E-49FB-9150-B8EAE776448A}">
      <dgm:prSet/>
      <dgm:spPr/>
      <dgm:t>
        <a:bodyPr/>
        <a:lstStyle/>
        <a:p>
          <a:endParaRPr lang="fr-FR"/>
        </a:p>
      </dgm:t>
    </dgm:pt>
    <dgm:pt modelId="{ACAF8588-FF71-4DA4-B782-C9B4E3B1BD9F}" type="sibTrans" cxnId="{CA56874A-C39E-49FB-9150-B8EAE776448A}">
      <dgm:prSet/>
      <dgm:spPr/>
      <dgm:t>
        <a:bodyPr/>
        <a:lstStyle/>
        <a:p>
          <a:endParaRPr lang="fr-FR"/>
        </a:p>
      </dgm:t>
    </dgm:pt>
    <dgm:pt modelId="{B1E77D89-0F79-4E70-B175-CB4FDD375FE3}">
      <dgm:prSet custT="1"/>
      <dgm:spPr/>
      <dgm:t>
        <a:bodyPr/>
        <a:lstStyle/>
        <a:p>
          <a:pPr>
            <a:lnSpc>
              <a:spcPct val="100000"/>
            </a:lnSpc>
          </a:pPr>
          <a:r>
            <a:rPr lang="fr-FR" sz="1600" dirty="0"/>
            <a:t>Fournir à l’ONCFM une solution de classification simple, rapide et explicable.</a:t>
          </a:r>
        </a:p>
      </dgm:t>
    </dgm:pt>
    <dgm:pt modelId="{39888670-6A70-48D4-9C42-1CAB5032C500}" type="parTrans" cxnId="{988FADAA-EC9A-4C5F-B040-B817F3D4939D}">
      <dgm:prSet/>
      <dgm:spPr/>
      <dgm:t>
        <a:bodyPr/>
        <a:lstStyle/>
        <a:p>
          <a:endParaRPr lang="fr-FR"/>
        </a:p>
      </dgm:t>
    </dgm:pt>
    <dgm:pt modelId="{FFC22294-E60D-4E64-8D36-2414CBC9E7C7}" type="sibTrans" cxnId="{988FADAA-EC9A-4C5F-B040-B817F3D4939D}">
      <dgm:prSet/>
      <dgm:spPr/>
      <dgm:t>
        <a:bodyPr/>
        <a:lstStyle/>
        <a:p>
          <a:endParaRPr lang="fr-FR"/>
        </a:p>
      </dgm:t>
    </dgm:pt>
    <dgm:pt modelId="{AD3081E7-C3D1-43A3-99EE-8B91C014CA1C}">
      <dgm:prSet custT="1"/>
      <dgm:spPr/>
      <dgm:t>
        <a:bodyPr/>
        <a:lstStyle/>
        <a:p>
          <a:pPr>
            <a:lnSpc>
              <a:spcPct val="100000"/>
            </a:lnSpc>
          </a:pPr>
          <a:r>
            <a:rPr lang="fr-FR" sz="1600" dirty="0"/>
            <a:t>Créer un modèle prédictif capable de distinguer rapidement les vrais et faux billets à partir de mesures géométriques.</a:t>
          </a:r>
        </a:p>
      </dgm:t>
    </dgm:pt>
    <dgm:pt modelId="{24ADEE5D-02B1-44FA-BC97-380E256E026D}" type="parTrans" cxnId="{40B1A116-A75C-4368-93A2-FB6DA2EF25F1}">
      <dgm:prSet/>
      <dgm:spPr/>
      <dgm:t>
        <a:bodyPr/>
        <a:lstStyle/>
        <a:p>
          <a:endParaRPr lang="fr-FR"/>
        </a:p>
      </dgm:t>
    </dgm:pt>
    <dgm:pt modelId="{063473CB-4CFB-4919-8C11-2C33C9DB48E6}" type="sibTrans" cxnId="{40B1A116-A75C-4368-93A2-FB6DA2EF25F1}">
      <dgm:prSet/>
      <dgm:spPr/>
      <dgm:t>
        <a:bodyPr/>
        <a:lstStyle/>
        <a:p>
          <a:endParaRPr lang="fr-FR"/>
        </a:p>
      </dgm:t>
    </dgm:pt>
    <dgm:pt modelId="{5B6BA5EB-4827-4955-ABE0-995BF326CAA5}" type="pres">
      <dgm:prSet presAssocID="{C417276B-9622-495B-AAF3-E7E387766B9D}" presName="Root" presStyleCnt="0">
        <dgm:presLayoutVars>
          <dgm:dir/>
          <dgm:resizeHandles val="exact"/>
        </dgm:presLayoutVars>
      </dgm:prSet>
      <dgm:spPr/>
    </dgm:pt>
    <dgm:pt modelId="{F7153A3E-D625-4B62-A75B-109191B1783A}" type="pres">
      <dgm:prSet presAssocID="{C871648E-0F49-4777-8A92-D9744A66814A}" presName="Composite" presStyleCnt="0"/>
      <dgm:spPr/>
    </dgm:pt>
    <dgm:pt modelId="{4D12AEA6-F258-4BAB-9019-0883CEC4C3DE}" type="pres">
      <dgm:prSet presAssocID="{C871648E-0F49-4777-8A92-D9744A66814A}" presName="Picture"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Loupe avec un remplissage uni"/>
        </a:ext>
      </dgm:extLst>
    </dgm:pt>
    <dgm:pt modelId="{29B699BA-8B0E-4887-8B3E-319A19A56DF8}" type="pres">
      <dgm:prSet presAssocID="{C871648E-0F49-4777-8A92-D9744A66814A}" presName="Subtitle" presStyleLbl="revTx" presStyleIdx="0" presStyleCnt="6">
        <dgm:presLayoutVars>
          <dgm:chMax val="0"/>
          <dgm:bulletEnabled/>
        </dgm:presLayoutVars>
      </dgm:prSet>
      <dgm:spPr/>
    </dgm:pt>
    <dgm:pt modelId="{7348EB64-9EB7-4B52-BF18-6867F1895932}" type="pres">
      <dgm:prSet presAssocID="{C871648E-0F49-4777-8A92-D9744A66814A}" presName="Description" presStyleLbl="revTx" presStyleIdx="1" presStyleCnt="6">
        <dgm:presLayoutVars>
          <dgm:bulletEnabled/>
        </dgm:presLayoutVars>
      </dgm:prSet>
      <dgm:spPr/>
    </dgm:pt>
    <dgm:pt modelId="{5AD6AC63-E800-4799-80A1-CC3AA39FDFB9}" type="pres">
      <dgm:prSet presAssocID="{E7ED4852-3F77-42B0-8CD0-FD121CBD3A2F}" presName="sibTrans" presStyleLbl="sibTrans2D1" presStyleIdx="0" presStyleCnt="0"/>
      <dgm:spPr/>
    </dgm:pt>
    <dgm:pt modelId="{C2929A9C-C32C-40F4-A174-99C2C9759520}" type="pres">
      <dgm:prSet presAssocID="{4D450413-E450-4EE3-8640-685A1366223B}" presName="Composite" presStyleCnt="0"/>
      <dgm:spPr/>
    </dgm:pt>
    <dgm:pt modelId="{E608D84E-5CBD-493F-993A-EA25A0F787E1}" type="pres">
      <dgm:prSet presAssocID="{4D450413-E450-4EE3-8640-685A1366223B}" presName="Picture" presStyleLbl="nod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Verrou avec un remplissage uni"/>
        </a:ext>
      </dgm:extLst>
    </dgm:pt>
    <dgm:pt modelId="{90FED4AD-7731-4F48-8ED9-843546F86D99}" type="pres">
      <dgm:prSet presAssocID="{4D450413-E450-4EE3-8640-685A1366223B}" presName="Subtitle" presStyleLbl="revTx" presStyleIdx="2" presStyleCnt="6">
        <dgm:presLayoutVars>
          <dgm:chMax val="0"/>
          <dgm:bulletEnabled/>
        </dgm:presLayoutVars>
      </dgm:prSet>
      <dgm:spPr/>
    </dgm:pt>
    <dgm:pt modelId="{02A3C154-9F74-476F-A3A2-690553A923AF}" type="pres">
      <dgm:prSet presAssocID="{4D450413-E450-4EE3-8640-685A1366223B}" presName="Description" presStyleLbl="revTx" presStyleIdx="3" presStyleCnt="6">
        <dgm:presLayoutVars>
          <dgm:bulletEnabled/>
        </dgm:presLayoutVars>
      </dgm:prSet>
      <dgm:spPr/>
    </dgm:pt>
    <dgm:pt modelId="{871CB4BE-163C-405A-A03A-CCA2B47650D8}" type="pres">
      <dgm:prSet presAssocID="{90431669-F0FC-46C2-BA30-EB63E29A1E34}" presName="sibTrans" presStyleLbl="sibTrans2D1" presStyleIdx="0" presStyleCnt="0"/>
      <dgm:spPr/>
    </dgm:pt>
    <dgm:pt modelId="{D3D21A05-1960-4E96-A1D9-5CB1CC9F1CA7}" type="pres">
      <dgm:prSet presAssocID="{34CBE49B-8B7F-4A89-BE1A-FEDFCFEDA66B}" presName="Composite" presStyleCnt="0"/>
      <dgm:spPr/>
    </dgm:pt>
    <dgm:pt modelId="{8F993B9C-98D7-4383-A844-16E92A43E92A}" type="pres">
      <dgm:prSet presAssocID="{34CBE49B-8B7F-4A89-BE1A-FEDFCFEDA66B}" presName="Picture"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Partie gauche du cerveau contour"/>
        </a:ext>
      </dgm:extLst>
    </dgm:pt>
    <dgm:pt modelId="{D8164DDC-B6C9-45AC-BCC0-82C1498C523E}" type="pres">
      <dgm:prSet presAssocID="{34CBE49B-8B7F-4A89-BE1A-FEDFCFEDA66B}" presName="Subtitle" presStyleLbl="revTx" presStyleIdx="4" presStyleCnt="6">
        <dgm:presLayoutVars>
          <dgm:chMax val="0"/>
          <dgm:bulletEnabled/>
        </dgm:presLayoutVars>
      </dgm:prSet>
      <dgm:spPr/>
    </dgm:pt>
    <dgm:pt modelId="{3F4174B3-608D-4E18-9CA0-5A266A517B5D}" type="pres">
      <dgm:prSet presAssocID="{34CBE49B-8B7F-4A89-BE1A-FEDFCFEDA66B}" presName="Description" presStyleLbl="revTx" presStyleIdx="5" presStyleCnt="6">
        <dgm:presLayoutVars>
          <dgm:bulletEnabled/>
        </dgm:presLayoutVars>
      </dgm:prSet>
      <dgm:spPr/>
    </dgm:pt>
  </dgm:ptLst>
  <dgm:cxnLst>
    <dgm:cxn modelId="{3D5E3201-BA60-4F87-BAE4-33EB0F42E72C}" type="presOf" srcId="{C417276B-9622-495B-AAF3-E7E387766B9D}" destId="{5B6BA5EB-4827-4955-ABE0-995BF326CAA5}" srcOrd="0" destOrd="0" presId="urn:microsoft.com/office/officeart/2024/3/layout/verticalVisualTextBlock1"/>
    <dgm:cxn modelId="{10B3BE0B-9FE4-46A0-B931-96E4C5571F8C}" type="presOf" srcId="{34CBE49B-8B7F-4A89-BE1A-FEDFCFEDA66B}" destId="{D8164DDC-B6C9-45AC-BCC0-82C1498C523E}" srcOrd="0" destOrd="0" presId="urn:microsoft.com/office/officeart/2024/3/layout/verticalVisualTextBlock1"/>
    <dgm:cxn modelId="{40B1A116-A75C-4368-93A2-FB6DA2EF25F1}" srcId="{C871648E-0F49-4777-8A92-D9744A66814A}" destId="{AD3081E7-C3D1-43A3-99EE-8B91C014CA1C}" srcOrd="0" destOrd="0" parTransId="{24ADEE5D-02B1-44FA-BC97-380E256E026D}" sibTransId="{063473CB-4CFB-4919-8C11-2C33C9DB48E6}"/>
    <dgm:cxn modelId="{3D87EC16-2D74-420A-9275-4377018D3C62}" type="presOf" srcId="{4D450413-E450-4EE3-8640-685A1366223B}" destId="{90FED4AD-7731-4F48-8ED9-843546F86D99}" srcOrd="0" destOrd="0" presId="urn:microsoft.com/office/officeart/2024/3/layout/verticalVisualTextBlock1"/>
    <dgm:cxn modelId="{90F0AC1E-93A1-4EBE-B84B-532C1ECCF530}" type="presOf" srcId="{58BEF765-4FDC-4306-896D-567726708DF6}" destId="{02A3C154-9F74-476F-A3A2-690553A923AF}" srcOrd="0" destOrd="0" presId="urn:microsoft.com/office/officeart/2024/3/layout/verticalVisualTextBlock1"/>
    <dgm:cxn modelId="{7A279A2C-A06B-420B-939D-F85BC234E80E}" type="presOf" srcId="{B1E77D89-0F79-4E70-B175-CB4FDD375FE3}" destId="{3F4174B3-608D-4E18-9CA0-5A266A517B5D}" srcOrd="0" destOrd="0" presId="urn:microsoft.com/office/officeart/2024/3/layout/verticalVisualTextBlock1"/>
    <dgm:cxn modelId="{92DB0749-236E-463E-89E0-CC6E0B47DE1A}" type="presOf" srcId="{AD3081E7-C3D1-43A3-99EE-8B91C014CA1C}" destId="{7348EB64-9EB7-4B52-BF18-6867F1895932}" srcOrd="0" destOrd="0" presId="urn:microsoft.com/office/officeart/2024/3/layout/verticalVisualTextBlock1"/>
    <dgm:cxn modelId="{CA56874A-C39E-49FB-9150-B8EAE776448A}" srcId="{C417276B-9622-495B-AAF3-E7E387766B9D}" destId="{34CBE49B-8B7F-4A89-BE1A-FEDFCFEDA66B}" srcOrd="2" destOrd="0" parTransId="{124F43ED-468A-4D51-8C69-1D1F03578CAA}" sibTransId="{ACAF8588-FF71-4DA4-B782-C9B4E3B1BD9F}"/>
    <dgm:cxn modelId="{EC126C6C-31F2-46CC-B0EC-1C285BEE6BD0}" type="presOf" srcId="{C871648E-0F49-4777-8A92-D9744A66814A}" destId="{29B699BA-8B0E-4887-8B3E-319A19A56DF8}" srcOrd="0" destOrd="0" presId="urn:microsoft.com/office/officeart/2024/3/layout/verticalVisualTextBlock1"/>
    <dgm:cxn modelId="{034F5FA3-0B3C-4CAB-AC50-37A61B8FCFD5}" type="presOf" srcId="{90431669-F0FC-46C2-BA30-EB63E29A1E34}" destId="{871CB4BE-163C-405A-A03A-CCA2B47650D8}" srcOrd="0" destOrd="0" presId="urn:microsoft.com/office/officeart/2024/3/layout/verticalVisualTextBlock1"/>
    <dgm:cxn modelId="{988FADAA-EC9A-4C5F-B040-B817F3D4939D}" srcId="{34CBE49B-8B7F-4A89-BE1A-FEDFCFEDA66B}" destId="{B1E77D89-0F79-4E70-B175-CB4FDD375FE3}" srcOrd="0" destOrd="0" parTransId="{39888670-6A70-48D4-9C42-1CAB5032C500}" sibTransId="{FFC22294-E60D-4E64-8D36-2414CBC9E7C7}"/>
    <dgm:cxn modelId="{68DD25B4-46F4-4EC9-92DB-15D93187C531}" type="presOf" srcId="{E7ED4852-3F77-42B0-8CD0-FD121CBD3A2F}" destId="{5AD6AC63-E800-4799-80A1-CC3AA39FDFB9}" srcOrd="0" destOrd="0" presId="urn:microsoft.com/office/officeart/2024/3/layout/verticalVisualTextBlock1"/>
    <dgm:cxn modelId="{24532CC3-0DCD-47AE-A94F-0E174B68FFEA}" srcId="{4D450413-E450-4EE3-8640-685A1366223B}" destId="{58BEF765-4FDC-4306-896D-567726708DF6}" srcOrd="0" destOrd="0" parTransId="{1CADD6B5-C03A-434F-9162-AE727986943E}" sibTransId="{5A5650D9-E8FF-4541-9BC0-0CF8160494E2}"/>
    <dgm:cxn modelId="{52A39DE8-0178-47F7-ABA2-4DAD6FF2BDC3}" srcId="{C417276B-9622-495B-AAF3-E7E387766B9D}" destId="{4D450413-E450-4EE3-8640-685A1366223B}" srcOrd="1" destOrd="0" parTransId="{2556A7D2-F905-429C-BEE3-7D6763DBFF7F}" sibTransId="{90431669-F0FC-46C2-BA30-EB63E29A1E34}"/>
    <dgm:cxn modelId="{BAF573F9-92D1-4B63-8D8F-DB7411816CE9}" srcId="{C417276B-9622-495B-AAF3-E7E387766B9D}" destId="{C871648E-0F49-4777-8A92-D9744A66814A}" srcOrd="0" destOrd="0" parTransId="{638267B2-E23B-463C-89A9-E0CC6A5B5019}" sibTransId="{E7ED4852-3F77-42B0-8CD0-FD121CBD3A2F}"/>
    <dgm:cxn modelId="{E794D411-BAD5-4761-BB23-D84A4851E831}" type="presParOf" srcId="{5B6BA5EB-4827-4955-ABE0-995BF326CAA5}" destId="{F7153A3E-D625-4B62-A75B-109191B1783A}" srcOrd="0" destOrd="0" presId="urn:microsoft.com/office/officeart/2024/3/layout/verticalVisualTextBlock1"/>
    <dgm:cxn modelId="{B44F49BC-2D5E-457E-B95A-BFB9AE5C119B}" type="presParOf" srcId="{F7153A3E-D625-4B62-A75B-109191B1783A}" destId="{4D12AEA6-F258-4BAB-9019-0883CEC4C3DE}" srcOrd="0" destOrd="0" presId="urn:microsoft.com/office/officeart/2024/3/layout/verticalVisualTextBlock1"/>
    <dgm:cxn modelId="{E9BF0E09-BAAE-4274-94F3-38CEDF8910D3}" type="presParOf" srcId="{F7153A3E-D625-4B62-A75B-109191B1783A}" destId="{29B699BA-8B0E-4887-8B3E-319A19A56DF8}" srcOrd="1" destOrd="0" presId="urn:microsoft.com/office/officeart/2024/3/layout/verticalVisualTextBlock1"/>
    <dgm:cxn modelId="{003C7EE0-C40C-40A0-A639-57B4621FE5C8}" type="presParOf" srcId="{F7153A3E-D625-4B62-A75B-109191B1783A}" destId="{7348EB64-9EB7-4B52-BF18-6867F1895932}" srcOrd="2" destOrd="0" presId="urn:microsoft.com/office/officeart/2024/3/layout/verticalVisualTextBlock1"/>
    <dgm:cxn modelId="{4910A937-A787-43E0-971D-C4A4AAB66B3E}" type="presParOf" srcId="{5B6BA5EB-4827-4955-ABE0-995BF326CAA5}" destId="{5AD6AC63-E800-4799-80A1-CC3AA39FDFB9}" srcOrd="1" destOrd="0" presId="urn:microsoft.com/office/officeart/2024/3/layout/verticalVisualTextBlock1"/>
    <dgm:cxn modelId="{58B80C09-E806-4CBC-BDDE-3CD810152D69}" type="presParOf" srcId="{5B6BA5EB-4827-4955-ABE0-995BF326CAA5}" destId="{C2929A9C-C32C-40F4-A174-99C2C9759520}" srcOrd="2" destOrd="0" presId="urn:microsoft.com/office/officeart/2024/3/layout/verticalVisualTextBlock1"/>
    <dgm:cxn modelId="{C1B1F202-6DE6-4EA2-87B7-2EF6F4DF28EB}" type="presParOf" srcId="{C2929A9C-C32C-40F4-A174-99C2C9759520}" destId="{E608D84E-5CBD-493F-993A-EA25A0F787E1}" srcOrd="0" destOrd="0" presId="urn:microsoft.com/office/officeart/2024/3/layout/verticalVisualTextBlock1"/>
    <dgm:cxn modelId="{9104DDD2-546D-40C0-8299-8A29639C1CE4}" type="presParOf" srcId="{C2929A9C-C32C-40F4-A174-99C2C9759520}" destId="{90FED4AD-7731-4F48-8ED9-843546F86D99}" srcOrd="1" destOrd="0" presId="urn:microsoft.com/office/officeart/2024/3/layout/verticalVisualTextBlock1"/>
    <dgm:cxn modelId="{07AD4A0E-18E4-4835-9012-CC0DFC94D2C0}" type="presParOf" srcId="{C2929A9C-C32C-40F4-A174-99C2C9759520}" destId="{02A3C154-9F74-476F-A3A2-690553A923AF}" srcOrd="2" destOrd="0" presId="urn:microsoft.com/office/officeart/2024/3/layout/verticalVisualTextBlock1"/>
    <dgm:cxn modelId="{BAD0BCAC-4F9E-455B-9A37-74E97257567D}" type="presParOf" srcId="{5B6BA5EB-4827-4955-ABE0-995BF326CAA5}" destId="{871CB4BE-163C-405A-A03A-CCA2B47650D8}" srcOrd="3" destOrd="0" presId="urn:microsoft.com/office/officeart/2024/3/layout/verticalVisualTextBlock1"/>
    <dgm:cxn modelId="{7BF41874-ACF0-49B2-81C9-961B54707DA9}" type="presParOf" srcId="{5B6BA5EB-4827-4955-ABE0-995BF326CAA5}" destId="{D3D21A05-1960-4E96-A1D9-5CB1CC9F1CA7}" srcOrd="4" destOrd="0" presId="urn:microsoft.com/office/officeart/2024/3/layout/verticalVisualTextBlock1"/>
    <dgm:cxn modelId="{A8BEE05E-151B-45A9-A9F7-0116308525B0}" type="presParOf" srcId="{D3D21A05-1960-4E96-A1D9-5CB1CC9F1CA7}" destId="{8F993B9C-98D7-4383-A844-16E92A43E92A}" srcOrd="0" destOrd="0" presId="urn:microsoft.com/office/officeart/2024/3/layout/verticalVisualTextBlock1"/>
    <dgm:cxn modelId="{AA7C765F-D512-4F45-BFEA-F138B18446E1}" type="presParOf" srcId="{D3D21A05-1960-4E96-A1D9-5CB1CC9F1CA7}" destId="{D8164DDC-B6C9-45AC-BCC0-82C1498C523E}" srcOrd="1" destOrd="0" presId="urn:microsoft.com/office/officeart/2024/3/layout/verticalVisualTextBlock1"/>
    <dgm:cxn modelId="{A6576E4C-21F3-4BF9-AEBB-6B9A899D89CC}" type="presParOf" srcId="{D3D21A05-1960-4E96-A1D9-5CB1CC9F1CA7}" destId="{3F4174B3-608D-4E18-9CA0-5A266A517B5D}"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8CDAF0F-AD2A-49B5-82E7-A110D4DA03E3}" type="doc">
      <dgm:prSet loTypeId="urn:microsoft.com/office/officeart/2024/3/layout/verticalVisualTextBlock1" loCatId="Picture" qsTypeId="urn:microsoft.com/office/officeart/2005/8/quickstyle/simple4" qsCatId="simple" csTypeId="urn:microsoft.com/office/officeart/2005/8/colors/accent0_2" csCatId="mainScheme" phldr="1"/>
      <dgm:spPr/>
      <dgm:t>
        <a:bodyPr/>
        <a:lstStyle/>
        <a:p>
          <a:endParaRPr lang="fr-FR"/>
        </a:p>
      </dgm:t>
    </dgm:pt>
    <dgm:pt modelId="{B4738EB7-1A7E-43D2-8D15-4D1BB2E4D64F}">
      <dgm:prSet/>
      <dgm:spPr/>
      <dgm:t>
        <a:bodyPr/>
        <a:lstStyle/>
        <a:p>
          <a:pPr>
            <a:lnSpc>
              <a:spcPct val="100000"/>
            </a:lnSpc>
            <a:defRPr b="1"/>
          </a:pPr>
          <a:r>
            <a:rPr lang="fr-FR" dirty="0"/>
            <a:t>Variables mesurées</a:t>
          </a:r>
        </a:p>
      </dgm:t>
    </dgm:pt>
    <dgm:pt modelId="{A9B0901C-0985-4FA2-9F53-81EAA111A77B}" type="parTrans" cxnId="{1BEFAFC8-1600-4328-AAEF-2F50ABAD073D}">
      <dgm:prSet/>
      <dgm:spPr/>
      <dgm:t>
        <a:bodyPr/>
        <a:lstStyle/>
        <a:p>
          <a:endParaRPr lang="fr-FR"/>
        </a:p>
      </dgm:t>
    </dgm:pt>
    <dgm:pt modelId="{5273C753-A50A-48B6-B1F9-B2337AC02E4E}" type="sibTrans" cxnId="{1BEFAFC8-1600-4328-AAEF-2F50ABAD073D}">
      <dgm:prSet/>
      <dgm:spPr/>
      <dgm:t>
        <a:bodyPr/>
        <a:lstStyle/>
        <a:p>
          <a:pPr>
            <a:lnSpc>
              <a:spcPct val="100000"/>
            </a:lnSpc>
            <a:defRPr b="1"/>
          </a:pPr>
          <a:endParaRPr lang="fr-FR"/>
        </a:p>
      </dgm:t>
    </dgm:pt>
    <dgm:pt modelId="{7B7EC7FD-93B2-441C-A609-6471496B9072}">
      <dgm:prSet custT="1"/>
      <dgm:spPr/>
      <dgm:t>
        <a:bodyPr/>
        <a:lstStyle/>
        <a:p>
          <a:pPr>
            <a:lnSpc>
              <a:spcPct val="100000"/>
            </a:lnSpc>
          </a:pPr>
          <a:r>
            <a:rPr lang="fr-FR" sz="1600" dirty="0"/>
            <a:t>Six variables continues : diagonal, height_left, height_right, margin_low, margin_up, lenght. </a:t>
          </a:r>
          <a:br>
            <a:rPr lang="fr-FR" sz="1600" dirty="0"/>
          </a:br>
          <a:r>
            <a:rPr lang="fr-FR" sz="1600" dirty="0"/>
            <a:t>-&gt; Représente les dimensions physiques du billet. </a:t>
          </a:r>
        </a:p>
      </dgm:t>
    </dgm:pt>
    <dgm:pt modelId="{FA2CDE49-2B77-45F1-B5DF-85B97B801552}" type="parTrans" cxnId="{B6ACA5FF-6BDF-4ED8-A0C5-A05CBD1A3AAE}">
      <dgm:prSet/>
      <dgm:spPr/>
      <dgm:t>
        <a:bodyPr/>
        <a:lstStyle/>
        <a:p>
          <a:endParaRPr lang="fr-FR"/>
        </a:p>
      </dgm:t>
    </dgm:pt>
    <dgm:pt modelId="{F37A2997-8518-46E3-BE02-9718878ED942}" type="sibTrans" cxnId="{B6ACA5FF-6BDF-4ED8-A0C5-A05CBD1A3AAE}">
      <dgm:prSet/>
      <dgm:spPr/>
      <dgm:t>
        <a:bodyPr/>
        <a:lstStyle/>
        <a:p>
          <a:endParaRPr lang="fr-FR"/>
        </a:p>
      </dgm:t>
    </dgm:pt>
    <dgm:pt modelId="{4B283CF1-7D06-4D51-82D5-15DE61AF0A58}">
      <dgm:prSet/>
      <dgm:spPr/>
      <dgm:t>
        <a:bodyPr/>
        <a:lstStyle/>
        <a:p>
          <a:pPr>
            <a:lnSpc>
              <a:spcPct val="100000"/>
            </a:lnSpc>
            <a:defRPr b="1"/>
          </a:pPr>
          <a:r>
            <a:rPr lang="fr-FR" dirty="0"/>
            <a:t>Structure du dataset</a:t>
          </a:r>
        </a:p>
      </dgm:t>
    </dgm:pt>
    <dgm:pt modelId="{5A79554F-A412-40E0-8A61-BBB1A2122246}" type="parTrans" cxnId="{5F29BDB9-D750-4935-9CC1-CE245969964D}">
      <dgm:prSet/>
      <dgm:spPr/>
      <dgm:t>
        <a:bodyPr/>
        <a:lstStyle/>
        <a:p>
          <a:endParaRPr lang="fr-FR"/>
        </a:p>
      </dgm:t>
    </dgm:pt>
    <dgm:pt modelId="{B5153F83-F967-490E-8224-C78C0170331E}" type="sibTrans" cxnId="{5F29BDB9-D750-4935-9CC1-CE245969964D}">
      <dgm:prSet/>
      <dgm:spPr/>
      <dgm:t>
        <a:bodyPr/>
        <a:lstStyle/>
        <a:p>
          <a:pPr>
            <a:lnSpc>
              <a:spcPct val="100000"/>
            </a:lnSpc>
            <a:defRPr b="1"/>
          </a:pPr>
          <a:endParaRPr lang="fr-FR"/>
        </a:p>
      </dgm:t>
    </dgm:pt>
    <dgm:pt modelId="{460230C3-B307-4EA5-A924-3C00EB4BFF71}">
      <dgm:prSet custT="1"/>
      <dgm:spPr/>
      <dgm:t>
        <a:bodyPr/>
        <a:lstStyle/>
        <a:p>
          <a:pPr>
            <a:lnSpc>
              <a:spcPct val="100000"/>
            </a:lnSpc>
          </a:pPr>
          <a:r>
            <a:rPr lang="fr-FR" sz="1600" dirty="0"/>
            <a:t>1500 lignes, 7 colonnes dont la cible is_genuine.</a:t>
          </a:r>
          <a:br>
            <a:rPr lang="fr-FR" sz="1600" dirty="0"/>
          </a:br>
          <a:r>
            <a:rPr lang="fr-FR" sz="1600" dirty="0"/>
            <a:t>Une seule variable avec des valeurs manquantes : margin_low.</a:t>
          </a:r>
        </a:p>
      </dgm:t>
    </dgm:pt>
    <dgm:pt modelId="{67866859-BCB7-4B8C-BD98-2DD9E92B161F}" type="parTrans" cxnId="{A1DAB2A7-0421-4AF3-AC2B-83335D07EF19}">
      <dgm:prSet/>
      <dgm:spPr/>
      <dgm:t>
        <a:bodyPr/>
        <a:lstStyle/>
        <a:p>
          <a:endParaRPr lang="fr-FR"/>
        </a:p>
      </dgm:t>
    </dgm:pt>
    <dgm:pt modelId="{95436195-1129-47B2-BF38-416F099394D4}" type="sibTrans" cxnId="{A1DAB2A7-0421-4AF3-AC2B-83335D07EF19}">
      <dgm:prSet/>
      <dgm:spPr/>
      <dgm:t>
        <a:bodyPr/>
        <a:lstStyle/>
        <a:p>
          <a:endParaRPr lang="fr-FR"/>
        </a:p>
      </dgm:t>
    </dgm:pt>
    <dgm:pt modelId="{B9425898-1230-473D-925F-D81A6E7DB830}">
      <dgm:prSet/>
      <dgm:spPr/>
      <dgm:t>
        <a:bodyPr/>
        <a:lstStyle/>
        <a:p>
          <a:pPr>
            <a:lnSpc>
              <a:spcPct val="100000"/>
            </a:lnSpc>
            <a:defRPr b="1"/>
          </a:pPr>
          <a:r>
            <a:rPr lang="fr-FR" dirty="0"/>
            <a:t>Utilisation analytique</a:t>
          </a:r>
        </a:p>
      </dgm:t>
    </dgm:pt>
    <dgm:pt modelId="{18BF4FBE-9FC1-4D12-880E-1C514B073FF9}" type="parTrans" cxnId="{0185019F-FC69-4D20-AF58-A61D9F763CEC}">
      <dgm:prSet/>
      <dgm:spPr/>
      <dgm:t>
        <a:bodyPr/>
        <a:lstStyle/>
        <a:p>
          <a:endParaRPr lang="fr-FR"/>
        </a:p>
      </dgm:t>
    </dgm:pt>
    <dgm:pt modelId="{A46CBB9F-8D3E-4B4D-B6B5-A1E06D1DA7F6}" type="sibTrans" cxnId="{0185019F-FC69-4D20-AF58-A61D9F763CEC}">
      <dgm:prSet/>
      <dgm:spPr/>
      <dgm:t>
        <a:bodyPr/>
        <a:lstStyle/>
        <a:p>
          <a:endParaRPr lang="fr-FR"/>
        </a:p>
      </dgm:t>
    </dgm:pt>
    <dgm:pt modelId="{FCBCD56E-5291-46E7-BE84-AA77C4B536D6}">
      <dgm:prSet custT="1"/>
      <dgm:spPr/>
      <dgm:t>
        <a:bodyPr/>
        <a:lstStyle/>
        <a:p>
          <a:pPr>
            <a:lnSpc>
              <a:spcPct val="100000"/>
            </a:lnSpc>
          </a:pPr>
          <a:r>
            <a:rPr lang="fr-FR" sz="1600" dirty="0"/>
            <a:t>Ces mesures servent à l’analyse exploratoire, au nettoyage puis à l’entraînement des modèles de détection.</a:t>
          </a:r>
        </a:p>
      </dgm:t>
    </dgm:pt>
    <dgm:pt modelId="{FC07F8BE-8399-4C4F-BA84-8899F33B9923}" type="parTrans" cxnId="{DBC02830-F51B-45AE-9FD0-505FE739F189}">
      <dgm:prSet/>
      <dgm:spPr/>
      <dgm:t>
        <a:bodyPr/>
        <a:lstStyle/>
        <a:p>
          <a:endParaRPr lang="fr-FR"/>
        </a:p>
      </dgm:t>
    </dgm:pt>
    <dgm:pt modelId="{164AF9ED-65CE-4C2A-AD80-21AB3B9EF352}" type="sibTrans" cxnId="{DBC02830-F51B-45AE-9FD0-505FE739F189}">
      <dgm:prSet/>
      <dgm:spPr/>
      <dgm:t>
        <a:bodyPr/>
        <a:lstStyle/>
        <a:p>
          <a:endParaRPr lang="fr-FR"/>
        </a:p>
      </dgm:t>
    </dgm:pt>
    <dgm:pt modelId="{ACC2E43D-29C5-4D55-BBE3-2C39EF7563CF}" type="pres">
      <dgm:prSet presAssocID="{B8CDAF0F-AD2A-49B5-82E7-A110D4DA03E3}" presName="Root" presStyleCnt="0">
        <dgm:presLayoutVars>
          <dgm:dir/>
          <dgm:resizeHandles val="exact"/>
        </dgm:presLayoutVars>
      </dgm:prSet>
      <dgm:spPr/>
    </dgm:pt>
    <dgm:pt modelId="{9D989EA6-2F8C-44F1-BC96-735F2F3EF9BC}" type="pres">
      <dgm:prSet presAssocID="{B4738EB7-1A7E-43D2-8D15-4D1BB2E4D64F}" presName="Composite" presStyleCnt="0"/>
      <dgm:spPr/>
    </dgm:pt>
    <dgm:pt modelId="{E3360506-66C2-49A6-A9EB-160B11C01C96}" type="pres">
      <dgm:prSet presAssocID="{B4738EB7-1A7E-43D2-8D15-4D1BB2E4D64F}" presName="Picture"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Règle avec un remplissage uni"/>
        </a:ext>
      </dgm:extLst>
    </dgm:pt>
    <dgm:pt modelId="{90E00B8D-BA35-442E-BF72-0C4D7551926C}" type="pres">
      <dgm:prSet presAssocID="{B4738EB7-1A7E-43D2-8D15-4D1BB2E4D64F}" presName="Subtitle" presStyleLbl="revTx" presStyleIdx="0" presStyleCnt="6">
        <dgm:presLayoutVars>
          <dgm:chMax val="0"/>
          <dgm:bulletEnabled/>
        </dgm:presLayoutVars>
      </dgm:prSet>
      <dgm:spPr/>
    </dgm:pt>
    <dgm:pt modelId="{057FB795-E988-4D98-89C7-71CAE4920414}" type="pres">
      <dgm:prSet presAssocID="{B4738EB7-1A7E-43D2-8D15-4D1BB2E4D64F}" presName="Description" presStyleLbl="revTx" presStyleIdx="1" presStyleCnt="6">
        <dgm:presLayoutVars>
          <dgm:bulletEnabled/>
        </dgm:presLayoutVars>
      </dgm:prSet>
      <dgm:spPr/>
    </dgm:pt>
    <dgm:pt modelId="{6D01FC02-C4D7-4064-A20B-17D9F9F344E3}" type="pres">
      <dgm:prSet presAssocID="{5273C753-A50A-48B6-B1F9-B2337AC02E4E}" presName="sibTrans" presStyleLbl="sibTrans2D1" presStyleIdx="0" presStyleCnt="0"/>
      <dgm:spPr/>
    </dgm:pt>
    <dgm:pt modelId="{10BEC7EA-D425-423B-8BB4-BE49322C2E5F}" type="pres">
      <dgm:prSet presAssocID="{4B283CF1-7D06-4D51-82D5-15DE61AF0A58}" presName="Composite" presStyleCnt="0"/>
      <dgm:spPr/>
    </dgm:pt>
    <dgm:pt modelId="{783A4B6F-8A83-4167-81A0-162B8376BD61}" type="pres">
      <dgm:prSet presAssocID="{4B283CF1-7D06-4D51-82D5-15DE61AF0A58}" presName="Picture" presStyleLbl="nod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Tableau avec un remplissage uni"/>
        </a:ext>
      </dgm:extLst>
    </dgm:pt>
    <dgm:pt modelId="{6E1DE99A-11BB-4FBC-9B90-431E835FD1AF}" type="pres">
      <dgm:prSet presAssocID="{4B283CF1-7D06-4D51-82D5-15DE61AF0A58}" presName="Subtitle" presStyleLbl="revTx" presStyleIdx="2" presStyleCnt="6">
        <dgm:presLayoutVars>
          <dgm:chMax val="0"/>
          <dgm:bulletEnabled/>
        </dgm:presLayoutVars>
      </dgm:prSet>
      <dgm:spPr/>
    </dgm:pt>
    <dgm:pt modelId="{EC34A459-28A3-4408-85DF-87497F1470EF}" type="pres">
      <dgm:prSet presAssocID="{4B283CF1-7D06-4D51-82D5-15DE61AF0A58}" presName="Description" presStyleLbl="revTx" presStyleIdx="3" presStyleCnt="6">
        <dgm:presLayoutVars>
          <dgm:bulletEnabled/>
        </dgm:presLayoutVars>
      </dgm:prSet>
      <dgm:spPr/>
    </dgm:pt>
    <dgm:pt modelId="{87A76BAD-54C8-49D9-9124-A25B555FD30D}" type="pres">
      <dgm:prSet presAssocID="{B5153F83-F967-490E-8224-C78C0170331E}" presName="sibTrans" presStyleLbl="sibTrans2D1" presStyleIdx="0" presStyleCnt="0"/>
      <dgm:spPr/>
    </dgm:pt>
    <dgm:pt modelId="{7BC5C02C-2E17-460C-98C4-FDBA238A17AC}" type="pres">
      <dgm:prSet presAssocID="{B9425898-1230-473D-925F-D81A6E7DB830}" presName="Composite" presStyleCnt="0"/>
      <dgm:spPr/>
    </dgm:pt>
    <dgm:pt modelId="{A9BDAE22-A65E-4B83-853F-A489D3A6EFB3}" type="pres">
      <dgm:prSet presAssocID="{B9425898-1230-473D-925F-D81A6E7DB830}" presName="Picture"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Engrenages contour"/>
        </a:ext>
      </dgm:extLst>
    </dgm:pt>
    <dgm:pt modelId="{079B1E8E-7EFD-42FE-9858-B27C8989976F}" type="pres">
      <dgm:prSet presAssocID="{B9425898-1230-473D-925F-D81A6E7DB830}" presName="Subtitle" presStyleLbl="revTx" presStyleIdx="4" presStyleCnt="6">
        <dgm:presLayoutVars>
          <dgm:chMax val="0"/>
          <dgm:bulletEnabled/>
        </dgm:presLayoutVars>
      </dgm:prSet>
      <dgm:spPr/>
    </dgm:pt>
    <dgm:pt modelId="{5DCBA845-A388-4FA5-9B10-F3CA103DD336}" type="pres">
      <dgm:prSet presAssocID="{B9425898-1230-473D-925F-D81A6E7DB830}" presName="Description" presStyleLbl="revTx" presStyleIdx="5" presStyleCnt="6">
        <dgm:presLayoutVars>
          <dgm:bulletEnabled/>
        </dgm:presLayoutVars>
      </dgm:prSet>
      <dgm:spPr/>
    </dgm:pt>
  </dgm:ptLst>
  <dgm:cxnLst>
    <dgm:cxn modelId="{91B16906-A98B-4D0E-B50D-247885584707}" type="presOf" srcId="{B5153F83-F967-490E-8224-C78C0170331E}" destId="{87A76BAD-54C8-49D9-9124-A25B555FD30D}" srcOrd="0" destOrd="0" presId="urn:microsoft.com/office/officeart/2024/3/layout/verticalVisualTextBlock1"/>
    <dgm:cxn modelId="{B014D914-1709-46E7-A0E9-725F12D02998}" type="presOf" srcId="{B9425898-1230-473D-925F-D81A6E7DB830}" destId="{079B1E8E-7EFD-42FE-9858-B27C8989976F}" srcOrd="0" destOrd="0" presId="urn:microsoft.com/office/officeart/2024/3/layout/verticalVisualTextBlock1"/>
    <dgm:cxn modelId="{AD508318-639E-4DEE-AF15-4C954A112DB4}" type="presOf" srcId="{7B7EC7FD-93B2-441C-A609-6471496B9072}" destId="{057FB795-E988-4D98-89C7-71CAE4920414}" srcOrd="0" destOrd="0" presId="urn:microsoft.com/office/officeart/2024/3/layout/verticalVisualTextBlock1"/>
    <dgm:cxn modelId="{003F192E-DD2D-4BD7-A2CC-6A2F9A315262}" type="presOf" srcId="{B8CDAF0F-AD2A-49B5-82E7-A110D4DA03E3}" destId="{ACC2E43D-29C5-4D55-BBE3-2C39EF7563CF}" srcOrd="0" destOrd="0" presId="urn:microsoft.com/office/officeart/2024/3/layout/verticalVisualTextBlock1"/>
    <dgm:cxn modelId="{DBC02830-F51B-45AE-9FD0-505FE739F189}" srcId="{B9425898-1230-473D-925F-D81A6E7DB830}" destId="{FCBCD56E-5291-46E7-BE84-AA77C4B536D6}" srcOrd="0" destOrd="0" parTransId="{FC07F8BE-8399-4C4F-BA84-8899F33B9923}" sibTransId="{164AF9ED-65CE-4C2A-AD80-21AB3B9EF352}"/>
    <dgm:cxn modelId="{39E5235E-350B-4720-BE82-6660B970F7DD}" type="presOf" srcId="{4B283CF1-7D06-4D51-82D5-15DE61AF0A58}" destId="{6E1DE99A-11BB-4FBC-9B90-431E835FD1AF}" srcOrd="0" destOrd="0" presId="urn:microsoft.com/office/officeart/2024/3/layout/verticalVisualTextBlock1"/>
    <dgm:cxn modelId="{5B89AA63-0DAC-4A8D-9F0D-FB2B1657B886}" type="presOf" srcId="{FCBCD56E-5291-46E7-BE84-AA77C4B536D6}" destId="{5DCBA845-A388-4FA5-9B10-F3CA103DD336}" srcOrd="0" destOrd="0" presId="urn:microsoft.com/office/officeart/2024/3/layout/verticalVisualTextBlock1"/>
    <dgm:cxn modelId="{0185019F-FC69-4D20-AF58-A61D9F763CEC}" srcId="{B8CDAF0F-AD2A-49B5-82E7-A110D4DA03E3}" destId="{B9425898-1230-473D-925F-D81A6E7DB830}" srcOrd="2" destOrd="0" parTransId="{18BF4FBE-9FC1-4D12-880E-1C514B073FF9}" sibTransId="{A46CBB9F-8D3E-4B4D-B6B5-A1E06D1DA7F6}"/>
    <dgm:cxn modelId="{A1DAB2A7-0421-4AF3-AC2B-83335D07EF19}" srcId="{4B283CF1-7D06-4D51-82D5-15DE61AF0A58}" destId="{460230C3-B307-4EA5-A924-3C00EB4BFF71}" srcOrd="0" destOrd="0" parTransId="{67866859-BCB7-4B8C-BD98-2DD9E92B161F}" sibTransId="{95436195-1129-47B2-BF38-416F099394D4}"/>
    <dgm:cxn modelId="{B8D4B4AD-1505-481B-B80E-A38A35334FC7}" type="presOf" srcId="{5273C753-A50A-48B6-B1F9-B2337AC02E4E}" destId="{6D01FC02-C4D7-4064-A20B-17D9F9F344E3}" srcOrd="0" destOrd="0" presId="urn:microsoft.com/office/officeart/2024/3/layout/verticalVisualTextBlock1"/>
    <dgm:cxn modelId="{5F29BDB9-D750-4935-9CC1-CE245969964D}" srcId="{B8CDAF0F-AD2A-49B5-82E7-A110D4DA03E3}" destId="{4B283CF1-7D06-4D51-82D5-15DE61AF0A58}" srcOrd="1" destOrd="0" parTransId="{5A79554F-A412-40E0-8A61-BBB1A2122246}" sibTransId="{B5153F83-F967-490E-8224-C78C0170331E}"/>
    <dgm:cxn modelId="{1BEFAFC8-1600-4328-AAEF-2F50ABAD073D}" srcId="{B8CDAF0F-AD2A-49B5-82E7-A110D4DA03E3}" destId="{B4738EB7-1A7E-43D2-8D15-4D1BB2E4D64F}" srcOrd="0" destOrd="0" parTransId="{A9B0901C-0985-4FA2-9F53-81EAA111A77B}" sibTransId="{5273C753-A50A-48B6-B1F9-B2337AC02E4E}"/>
    <dgm:cxn modelId="{815007CB-FAE5-430E-B0E4-D30DF213E4C2}" type="presOf" srcId="{B4738EB7-1A7E-43D2-8D15-4D1BB2E4D64F}" destId="{90E00B8D-BA35-442E-BF72-0C4D7551926C}" srcOrd="0" destOrd="0" presId="urn:microsoft.com/office/officeart/2024/3/layout/verticalVisualTextBlock1"/>
    <dgm:cxn modelId="{733611ED-CBE4-40F1-A69C-2B7816951BB9}" type="presOf" srcId="{460230C3-B307-4EA5-A924-3C00EB4BFF71}" destId="{EC34A459-28A3-4408-85DF-87497F1470EF}" srcOrd="0" destOrd="0" presId="urn:microsoft.com/office/officeart/2024/3/layout/verticalVisualTextBlock1"/>
    <dgm:cxn modelId="{B6ACA5FF-6BDF-4ED8-A0C5-A05CBD1A3AAE}" srcId="{B4738EB7-1A7E-43D2-8D15-4D1BB2E4D64F}" destId="{7B7EC7FD-93B2-441C-A609-6471496B9072}" srcOrd="0" destOrd="0" parTransId="{FA2CDE49-2B77-45F1-B5DF-85B97B801552}" sibTransId="{F37A2997-8518-46E3-BE02-9718878ED942}"/>
    <dgm:cxn modelId="{78B1E01C-2ADD-41D3-B283-3D0799F467BD}" type="presParOf" srcId="{ACC2E43D-29C5-4D55-BBE3-2C39EF7563CF}" destId="{9D989EA6-2F8C-44F1-BC96-735F2F3EF9BC}" srcOrd="0" destOrd="0" presId="urn:microsoft.com/office/officeart/2024/3/layout/verticalVisualTextBlock1"/>
    <dgm:cxn modelId="{2FF6188D-E7E8-4F04-9948-16BCA8DCB091}" type="presParOf" srcId="{9D989EA6-2F8C-44F1-BC96-735F2F3EF9BC}" destId="{E3360506-66C2-49A6-A9EB-160B11C01C96}" srcOrd="0" destOrd="0" presId="urn:microsoft.com/office/officeart/2024/3/layout/verticalVisualTextBlock1"/>
    <dgm:cxn modelId="{406E29CB-1A90-4579-91AF-AD63F092B7BC}" type="presParOf" srcId="{9D989EA6-2F8C-44F1-BC96-735F2F3EF9BC}" destId="{90E00B8D-BA35-442E-BF72-0C4D7551926C}" srcOrd="1" destOrd="0" presId="urn:microsoft.com/office/officeart/2024/3/layout/verticalVisualTextBlock1"/>
    <dgm:cxn modelId="{2EBFA8D1-B10D-4701-904D-78E64E7ABB19}" type="presParOf" srcId="{9D989EA6-2F8C-44F1-BC96-735F2F3EF9BC}" destId="{057FB795-E988-4D98-89C7-71CAE4920414}" srcOrd="2" destOrd="0" presId="urn:microsoft.com/office/officeart/2024/3/layout/verticalVisualTextBlock1"/>
    <dgm:cxn modelId="{8E9A83FA-0F88-466E-8EE5-B8F745B304AD}" type="presParOf" srcId="{ACC2E43D-29C5-4D55-BBE3-2C39EF7563CF}" destId="{6D01FC02-C4D7-4064-A20B-17D9F9F344E3}" srcOrd="1" destOrd="0" presId="urn:microsoft.com/office/officeart/2024/3/layout/verticalVisualTextBlock1"/>
    <dgm:cxn modelId="{51D909F7-2B79-4CD3-A0CE-F1565F626B09}" type="presParOf" srcId="{ACC2E43D-29C5-4D55-BBE3-2C39EF7563CF}" destId="{10BEC7EA-D425-423B-8BB4-BE49322C2E5F}" srcOrd="2" destOrd="0" presId="urn:microsoft.com/office/officeart/2024/3/layout/verticalVisualTextBlock1"/>
    <dgm:cxn modelId="{2C425181-875E-4CED-89DE-09D300ED65AD}" type="presParOf" srcId="{10BEC7EA-D425-423B-8BB4-BE49322C2E5F}" destId="{783A4B6F-8A83-4167-81A0-162B8376BD61}" srcOrd="0" destOrd="0" presId="urn:microsoft.com/office/officeart/2024/3/layout/verticalVisualTextBlock1"/>
    <dgm:cxn modelId="{43D47AEE-8A7F-4A9B-AA44-401EFC14ED0A}" type="presParOf" srcId="{10BEC7EA-D425-423B-8BB4-BE49322C2E5F}" destId="{6E1DE99A-11BB-4FBC-9B90-431E835FD1AF}" srcOrd="1" destOrd="0" presId="urn:microsoft.com/office/officeart/2024/3/layout/verticalVisualTextBlock1"/>
    <dgm:cxn modelId="{BC851A54-B879-45D6-9805-739A5FFD49FE}" type="presParOf" srcId="{10BEC7EA-D425-423B-8BB4-BE49322C2E5F}" destId="{EC34A459-28A3-4408-85DF-87497F1470EF}" srcOrd="2" destOrd="0" presId="urn:microsoft.com/office/officeart/2024/3/layout/verticalVisualTextBlock1"/>
    <dgm:cxn modelId="{1FC8E747-5516-4C1F-AC8B-CF217A752503}" type="presParOf" srcId="{ACC2E43D-29C5-4D55-BBE3-2C39EF7563CF}" destId="{87A76BAD-54C8-49D9-9124-A25B555FD30D}" srcOrd="3" destOrd="0" presId="urn:microsoft.com/office/officeart/2024/3/layout/verticalVisualTextBlock1"/>
    <dgm:cxn modelId="{DE7223B1-2060-4C1D-B844-1B07184E0DF1}" type="presParOf" srcId="{ACC2E43D-29C5-4D55-BBE3-2C39EF7563CF}" destId="{7BC5C02C-2E17-460C-98C4-FDBA238A17AC}" srcOrd="4" destOrd="0" presId="urn:microsoft.com/office/officeart/2024/3/layout/verticalVisualTextBlock1"/>
    <dgm:cxn modelId="{56D7DA95-D337-4D97-A20B-9B82FBE51DCF}" type="presParOf" srcId="{7BC5C02C-2E17-460C-98C4-FDBA238A17AC}" destId="{A9BDAE22-A65E-4B83-853F-A489D3A6EFB3}" srcOrd="0" destOrd="0" presId="urn:microsoft.com/office/officeart/2024/3/layout/verticalVisualTextBlock1"/>
    <dgm:cxn modelId="{13B5E335-FC68-4763-BDBE-589FBE5908B2}" type="presParOf" srcId="{7BC5C02C-2E17-460C-98C4-FDBA238A17AC}" destId="{079B1E8E-7EFD-42FE-9858-B27C8989976F}" srcOrd="1" destOrd="0" presId="urn:microsoft.com/office/officeart/2024/3/layout/verticalVisualTextBlock1"/>
    <dgm:cxn modelId="{52778610-7289-45C7-8054-F72011A3B63E}" type="presParOf" srcId="{7BC5C02C-2E17-460C-98C4-FDBA238A17AC}" destId="{5DCBA845-A388-4FA5-9B10-F3CA103DD336}"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907B9F-0B81-44C3-884A-61DF8C1FA56D}">
      <dsp:nvSpPr>
        <dsp:cNvPr id="0" name=""/>
        <dsp:cNvSpPr/>
      </dsp:nvSpPr>
      <dsp:spPr>
        <a:xfrm>
          <a:off x="0" y="3914"/>
          <a:ext cx="7306056" cy="83384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AF3C88-6B08-4D27-B2CA-C07D4DB13563}">
      <dsp:nvSpPr>
        <dsp:cNvPr id="0" name=""/>
        <dsp:cNvSpPr/>
      </dsp:nvSpPr>
      <dsp:spPr>
        <a:xfrm>
          <a:off x="252238" y="191530"/>
          <a:ext cx="458615" cy="45861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2F7FE11-8557-460B-B3D5-54D8F381B1BD}">
      <dsp:nvSpPr>
        <dsp:cNvPr id="0" name=""/>
        <dsp:cNvSpPr/>
      </dsp:nvSpPr>
      <dsp:spPr>
        <a:xfrm>
          <a:off x="963093" y="3914"/>
          <a:ext cx="6342962" cy="8338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249" tIns="88249" rIns="88249" bIns="88249" numCol="1" spcCol="1270" anchor="ctr" anchorCtr="0">
          <a:noAutofit/>
        </a:bodyPr>
        <a:lstStyle/>
        <a:p>
          <a:pPr marL="0" lvl="0" indent="0" algn="l" defTabSz="666750">
            <a:lnSpc>
              <a:spcPct val="90000"/>
            </a:lnSpc>
            <a:spcBef>
              <a:spcPct val="0"/>
            </a:spcBef>
            <a:spcAft>
              <a:spcPct val="35000"/>
            </a:spcAft>
            <a:buNone/>
          </a:pPr>
          <a:r>
            <a:rPr lang="fr-FR" sz="1500" b="1" i="0" kern="1200" baseline="0"/>
            <a:t>Contexte et objectifs du projet</a:t>
          </a:r>
          <a:br>
            <a:rPr lang="fr-FR" sz="1500" b="0" i="0" kern="1200" baseline="0"/>
          </a:br>
          <a:r>
            <a:rPr lang="fr-FR" sz="1500" b="0" i="1" kern="1200" baseline="0"/>
            <a:t>Présentation de la mission et des enjeux pour l’ONCFM</a:t>
          </a:r>
          <a:endParaRPr lang="en-US" sz="1500" kern="1200"/>
        </a:p>
      </dsp:txBody>
      <dsp:txXfrm>
        <a:off x="963093" y="3914"/>
        <a:ext cx="6342962" cy="833847"/>
      </dsp:txXfrm>
    </dsp:sp>
    <dsp:sp modelId="{D85E4F70-E8FB-4638-9490-29CEF332E091}">
      <dsp:nvSpPr>
        <dsp:cNvPr id="0" name=""/>
        <dsp:cNvSpPr/>
      </dsp:nvSpPr>
      <dsp:spPr>
        <a:xfrm>
          <a:off x="0" y="1046223"/>
          <a:ext cx="7306056" cy="83384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7E1FA7-735B-4DE2-BFBF-1CB9B062D87A}">
      <dsp:nvSpPr>
        <dsp:cNvPr id="0" name=""/>
        <dsp:cNvSpPr/>
      </dsp:nvSpPr>
      <dsp:spPr>
        <a:xfrm>
          <a:off x="252238" y="1233839"/>
          <a:ext cx="458615" cy="45861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420E9EF-0355-445F-8F8D-68390840E513}">
      <dsp:nvSpPr>
        <dsp:cNvPr id="0" name=""/>
        <dsp:cNvSpPr/>
      </dsp:nvSpPr>
      <dsp:spPr>
        <a:xfrm>
          <a:off x="963093" y="1046223"/>
          <a:ext cx="6342962" cy="8338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249" tIns="88249" rIns="88249" bIns="88249" numCol="1" spcCol="1270" anchor="ctr" anchorCtr="0">
          <a:noAutofit/>
        </a:bodyPr>
        <a:lstStyle/>
        <a:p>
          <a:pPr marL="0" lvl="0" indent="0" algn="l" defTabSz="666750">
            <a:lnSpc>
              <a:spcPct val="90000"/>
            </a:lnSpc>
            <a:spcBef>
              <a:spcPct val="0"/>
            </a:spcBef>
            <a:spcAft>
              <a:spcPct val="35000"/>
            </a:spcAft>
            <a:buNone/>
          </a:pPr>
          <a:r>
            <a:rPr lang="fr-FR" sz="1500" b="1" i="0" kern="1200" baseline="0"/>
            <a:t>Analyse exploratoire et préparation des données</a:t>
          </a:r>
          <a:br>
            <a:rPr lang="fr-FR" sz="1500" b="0" i="0" kern="1200" baseline="0"/>
          </a:br>
          <a:r>
            <a:rPr lang="fr-FR" sz="1500" b="0" i="1" kern="1200" baseline="0"/>
            <a:t>Nettoyage, traitement des valeurs manquantes et standardisation</a:t>
          </a:r>
          <a:endParaRPr lang="en-US" sz="1500" kern="1200"/>
        </a:p>
      </dsp:txBody>
      <dsp:txXfrm>
        <a:off x="963093" y="1046223"/>
        <a:ext cx="6342962" cy="833847"/>
      </dsp:txXfrm>
    </dsp:sp>
    <dsp:sp modelId="{E606A352-9F90-4104-8E8B-515ED198E0FB}">
      <dsp:nvSpPr>
        <dsp:cNvPr id="0" name=""/>
        <dsp:cNvSpPr/>
      </dsp:nvSpPr>
      <dsp:spPr>
        <a:xfrm>
          <a:off x="0" y="2088532"/>
          <a:ext cx="7306056" cy="83384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4B393E-6A76-41EF-8E27-C6DBF23C165E}">
      <dsp:nvSpPr>
        <dsp:cNvPr id="0" name=""/>
        <dsp:cNvSpPr/>
      </dsp:nvSpPr>
      <dsp:spPr>
        <a:xfrm>
          <a:off x="252238" y="2276148"/>
          <a:ext cx="458615" cy="45861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E09679E-331B-4508-8E50-6B071316DDF1}">
      <dsp:nvSpPr>
        <dsp:cNvPr id="0" name=""/>
        <dsp:cNvSpPr/>
      </dsp:nvSpPr>
      <dsp:spPr>
        <a:xfrm>
          <a:off x="963093" y="2088532"/>
          <a:ext cx="6342962" cy="8338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249" tIns="88249" rIns="88249" bIns="88249" numCol="1" spcCol="1270" anchor="ctr" anchorCtr="0">
          <a:noAutofit/>
        </a:bodyPr>
        <a:lstStyle/>
        <a:p>
          <a:pPr marL="0" lvl="0" indent="0" algn="l" defTabSz="666750">
            <a:lnSpc>
              <a:spcPct val="90000"/>
            </a:lnSpc>
            <a:spcBef>
              <a:spcPct val="0"/>
            </a:spcBef>
            <a:spcAft>
              <a:spcPct val="35000"/>
            </a:spcAft>
            <a:buNone/>
          </a:pPr>
          <a:r>
            <a:rPr lang="fr-FR" sz="1500" b="1" i="0" kern="1200" baseline="0"/>
            <a:t>Construction et évaluation des modèles</a:t>
          </a:r>
          <a:br>
            <a:rPr lang="fr-FR" sz="1500" b="0" i="0" kern="1200" baseline="0"/>
          </a:br>
          <a:r>
            <a:rPr lang="fr-FR" sz="1500" b="0" i="1" kern="1200" baseline="0"/>
            <a:t>Tests des algorithmes de classification et comparaison des performances</a:t>
          </a:r>
          <a:endParaRPr lang="en-US" sz="1500" kern="1200"/>
        </a:p>
      </dsp:txBody>
      <dsp:txXfrm>
        <a:off x="963093" y="2088532"/>
        <a:ext cx="6342962" cy="833847"/>
      </dsp:txXfrm>
    </dsp:sp>
    <dsp:sp modelId="{336ACACC-4263-4E4A-9383-C2C5F10D7AC4}">
      <dsp:nvSpPr>
        <dsp:cNvPr id="0" name=""/>
        <dsp:cNvSpPr/>
      </dsp:nvSpPr>
      <dsp:spPr>
        <a:xfrm>
          <a:off x="0" y="3130841"/>
          <a:ext cx="7306056" cy="83384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BE79F0-4D87-4554-A62C-45B86B8EBF67}">
      <dsp:nvSpPr>
        <dsp:cNvPr id="0" name=""/>
        <dsp:cNvSpPr/>
      </dsp:nvSpPr>
      <dsp:spPr>
        <a:xfrm>
          <a:off x="252238" y="3318456"/>
          <a:ext cx="458615" cy="45861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6A5A509-91E3-4251-894D-DE5128834202}">
      <dsp:nvSpPr>
        <dsp:cNvPr id="0" name=""/>
        <dsp:cNvSpPr/>
      </dsp:nvSpPr>
      <dsp:spPr>
        <a:xfrm>
          <a:off x="963093" y="3130841"/>
          <a:ext cx="6342962" cy="8338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249" tIns="88249" rIns="88249" bIns="88249" numCol="1" spcCol="1270" anchor="ctr" anchorCtr="0">
          <a:noAutofit/>
        </a:bodyPr>
        <a:lstStyle/>
        <a:p>
          <a:pPr marL="0" lvl="0" indent="0" algn="l" defTabSz="666750">
            <a:lnSpc>
              <a:spcPct val="90000"/>
            </a:lnSpc>
            <a:spcBef>
              <a:spcPct val="0"/>
            </a:spcBef>
            <a:spcAft>
              <a:spcPct val="35000"/>
            </a:spcAft>
            <a:buNone/>
          </a:pPr>
          <a:r>
            <a:rPr lang="fr-FR" sz="1500" b="1" i="0" kern="1200" baseline="0"/>
            <a:t>Choix et interprétation du modèle final</a:t>
          </a:r>
          <a:br>
            <a:rPr lang="fr-FR" sz="1500" b="0" i="0" kern="1200" baseline="0"/>
          </a:br>
          <a:r>
            <a:rPr lang="fr-FR" sz="1500" b="0" i="1" kern="1200" baseline="0"/>
            <a:t>Sélection de la régression logistique et analyse des coefficients</a:t>
          </a:r>
          <a:endParaRPr lang="en-US" sz="1500" kern="1200"/>
        </a:p>
      </dsp:txBody>
      <dsp:txXfrm>
        <a:off x="963093" y="3130841"/>
        <a:ext cx="6342962" cy="833847"/>
      </dsp:txXfrm>
    </dsp:sp>
    <dsp:sp modelId="{E6048CB7-8F0F-4BC4-860B-639E25060785}">
      <dsp:nvSpPr>
        <dsp:cNvPr id="0" name=""/>
        <dsp:cNvSpPr/>
      </dsp:nvSpPr>
      <dsp:spPr>
        <a:xfrm>
          <a:off x="0" y="4173150"/>
          <a:ext cx="7306056" cy="83384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042F07-4814-4969-8BCB-81FC2C6572BA}">
      <dsp:nvSpPr>
        <dsp:cNvPr id="0" name=""/>
        <dsp:cNvSpPr/>
      </dsp:nvSpPr>
      <dsp:spPr>
        <a:xfrm>
          <a:off x="252238" y="4360765"/>
          <a:ext cx="458615" cy="45861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C36B099-65EE-417D-9D46-DFF184DE581E}">
      <dsp:nvSpPr>
        <dsp:cNvPr id="0" name=""/>
        <dsp:cNvSpPr/>
      </dsp:nvSpPr>
      <dsp:spPr>
        <a:xfrm>
          <a:off x="963093" y="4173150"/>
          <a:ext cx="6342962" cy="8338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249" tIns="88249" rIns="88249" bIns="88249" numCol="1" spcCol="1270" anchor="ctr" anchorCtr="0">
          <a:noAutofit/>
        </a:bodyPr>
        <a:lstStyle/>
        <a:p>
          <a:pPr marL="0" lvl="0" indent="0" algn="l" defTabSz="666750">
            <a:lnSpc>
              <a:spcPct val="90000"/>
            </a:lnSpc>
            <a:spcBef>
              <a:spcPct val="0"/>
            </a:spcBef>
            <a:spcAft>
              <a:spcPct val="35000"/>
            </a:spcAft>
            <a:buNone/>
          </a:pPr>
          <a:r>
            <a:rPr lang="fr-FR" sz="1500" b="1" i="0" kern="1200" baseline="0"/>
            <a:t>Application de prédiction et perspectives</a:t>
          </a:r>
          <a:br>
            <a:rPr lang="fr-FR" sz="1500" b="0" i="0" kern="1200" baseline="0"/>
          </a:br>
          <a:r>
            <a:rPr lang="fr-FR" sz="1500" b="0" i="1" kern="1200" baseline="0"/>
            <a:t>Mise en œuvre sur de nouveaux billets et pistes d’amélioration futures</a:t>
          </a:r>
          <a:endParaRPr lang="en-US" sz="1500" kern="1200"/>
        </a:p>
      </dsp:txBody>
      <dsp:txXfrm>
        <a:off x="963093" y="4173150"/>
        <a:ext cx="6342962" cy="83384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12AEA6-F258-4BAB-9019-0883CEC4C3DE}">
      <dsp:nvSpPr>
        <dsp:cNvPr id="0" name=""/>
        <dsp:cNvSpPr/>
      </dsp:nvSpPr>
      <dsp:spPr>
        <a:xfrm>
          <a:off x="0" y="0"/>
          <a:ext cx="1680960" cy="1680960"/>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29B699BA-8B0E-4887-8B3E-319A19A56DF8}">
      <dsp:nvSpPr>
        <dsp:cNvPr id="0" name=""/>
        <dsp:cNvSpPr/>
      </dsp:nvSpPr>
      <dsp:spPr>
        <a:xfrm>
          <a:off x="1860960" y="0"/>
          <a:ext cx="5170775" cy="346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fr-FR" sz="1800" kern="1200" dirty="0"/>
            <a:t>Détection automatique</a:t>
          </a:r>
        </a:p>
      </dsp:txBody>
      <dsp:txXfrm>
        <a:off x="1860960" y="0"/>
        <a:ext cx="5170775" cy="346241"/>
      </dsp:txXfrm>
    </dsp:sp>
    <dsp:sp modelId="{7348EB64-9EB7-4B52-BF18-6867F1895932}">
      <dsp:nvSpPr>
        <dsp:cNvPr id="0" name=""/>
        <dsp:cNvSpPr/>
      </dsp:nvSpPr>
      <dsp:spPr>
        <a:xfrm>
          <a:off x="1860960" y="346241"/>
          <a:ext cx="5170775" cy="1334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0320" rIns="20320" bIns="20320" numCol="1" spcCol="1270" anchor="t" anchorCtr="0">
          <a:noAutofit/>
        </a:bodyPr>
        <a:lstStyle/>
        <a:p>
          <a:pPr marL="0" lvl="0" indent="0" algn="l" defTabSz="711200">
            <a:lnSpc>
              <a:spcPct val="100000"/>
            </a:lnSpc>
            <a:spcBef>
              <a:spcPct val="0"/>
            </a:spcBef>
            <a:spcAft>
              <a:spcPct val="35000"/>
            </a:spcAft>
            <a:buNone/>
          </a:pPr>
          <a:r>
            <a:rPr lang="fr-FR" sz="1600" kern="1200" dirty="0"/>
            <a:t>Créer un modèle prédictif capable de distinguer rapidement les vrais et faux billets à partir de mesures géométriques.</a:t>
          </a:r>
        </a:p>
      </dsp:txBody>
      <dsp:txXfrm>
        <a:off x="1860960" y="346241"/>
        <a:ext cx="5170775" cy="1334718"/>
      </dsp:txXfrm>
    </dsp:sp>
    <dsp:sp modelId="{E608D84E-5CBD-493F-993A-EA25A0F787E1}">
      <dsp:nvSpPr>
        <dsp:cNvPr id="0" name=""/>
        <dsp:cNvSpPr/>
      </dsp:nvSpPr>
      <dsp:spPr>
        <a:xfrm>
          <a:off x="0" y="1815436"/>
          <a:ext cx="1680960" cy="1680960"/>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90FED4AD-7731-4F48-8ED9-843546F86D99}">
      <dsp:nvSpPr>
        <dsp:cNvPr id="0" name=""/>
        <dsp:cNvSpPr/>
      </dsp:nvSpPr>
      <dsp:spPr>
        <a:xfrm>
          <a:off x="1860960" y="1815436"/>
          <a:ext cx="5170775" cy="346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fr-FR" sz="1800" kern="1200" dirty="0"/>
            <a:t>Sécurité renforcée</a:t>
          </a:r>
        </a:p>
      </dsp:txBody>
      <dsp:txXfrm>
        <a:off x="1860960" y="1815436"/>
        <a:ext cx="5170775" cy="346241"/>
      </dsp:txXfrm>
    </dsp:sp>
    <dsp:sp modelId="{02A3C154-9F74-476F-A3A2-690553A923AF}">
      <dsp:nvSpPr>
        <dsp:cNvPr id="0" name=""/>
        <dsp:cNvSpPr/>
      </dsp:nvSpPr>
      <dsp:spPr>
        <a:xfrm>
          <a:off x="1860960" y="2161678"/>
          <a:ext cx="5170775" cy="1334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0320" rIns="20320" bIns="20320" numCol="1" spcCol="1270" anchor="t" anchorCtr="0">
          <a:noAutofit/>
        </a:bodyPr>
        <a:lstStyle/>
        <a:p>
          <a:pPr marL="0" lvl="0" indent="0" algn="l" defTabSz="711200">
            <a:lnSpc>
              <a:spcPct val="100000"/>
            </a:lnSpc>
            <a:spcBef>
              <a:spcPct val="0"/>
            </a:spcBef>
            <a:spcAft>
              <a:spcPct val="35000"/>
            </a:spcAft>
            <a:buNone/>
          </a:pPr>
          <a:r>
            <a:rPr lang="fr-FR" sz="1600" kern="1200" dirty="0"/>
            <a:t>Réduire la circulation des faux billets et fiabiliser les contrôles des équipes de vérification.</a:t>
          </a:r>
        </a:p>
      </dsp:txBody>
      <dsp:txXfrm>
        <a:off x="1860960" y="2161678"/>
        <a:ext cx="5170775" cy="1334718"/>
      </dsp:txXfrm>
    </dsp:sp>
    <dsp:sp modelId="{8F993B9C-98D7-4383-A844-16E92A43E92A}">
      <dsp:nvSpPr>
        <dsp:cNvPr id="0" name=""/>
        <dsp:cNvSpPr/>
      </dsp:nvSpPr>
      <dsp:spPr>
        <a:xfrm>
          <a:off x="0" y="3630873"/>
          <a:ext cx="1680960" cy="1680960"/>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D8164DDC-B6C9-45AC-BCC0-82C1498C523E}">
      <dsp:nvSpPr>
        <dsp:cNvPr id="0" name=""/>
        <dsp:cNvSpPr/>
      </dsp:nvSpPr>
      <dsp:spPr>
        <a:xfrm>
          <a:off x="1860960" y="3630873"/>
          <a:ext cx="5170775" cy="346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fr-FR" sz="1800" kern="1200" dirty="0"/>
            <a:t>Outil opérationnel</a:t>
          </a:r>
        </a:p>
      </dsp:txBody>
      <dsp:txXfrm>
        <a:off x="1860960" y="3630873"/>
        <a:ext cx="5170775" cy="346241"/>
      </dsp:txXfrm>
    </dsp:sp>
    <dsp:sp modelId="{3F4174B3-608D-4E18-9CA0-5A266A517B5D}">
      <dsp:nvSpPr>
        <dsp:cNvPr id="0" name=""/>
        <dsp:cNvSpPr/>
      </dsp:nvSpPr>
      <dsp:spPr>
        <a:xfrm>
          <a:off x="1860960" y="3977114"/>
          <a:ext cx="5170775" cy="1334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0320" rIns="20320" bIns="20320" numCol="1" spcCol="1270" anchor="t" anchorCtr="0">
          <a:noAutofit/>
        </a:bodyPr>
        <a:lstStyle/>
        <a:p>
          <a:pPr marL="0" lvl="0" indent="0" algn="l" defTabSz="711200">
            <a:lnSpc>
              <a:spcPct val="100000"/>
            </a:lnSpc>
            <a:spcBef>
              <a:spcPct val="0"/>
            </a:spcBef>
            <a:spcAft>
              <a:spcPct val="35000"/>
            </a:spcAft>
            <a:buNone/>
          </a:pPr>
          <a:r>
            <a:rPr lang="fr-FR" sz="1600" kern="1200" dirty="0"/>
            <a:t>Fournir à l’ONCFM une solution de classification simple, rapide et explicable.</a:t>
          </a:r>
        </a:p>
      </dsp:txBody>
      <dsp:txXfrm>
        <a:off x="1860960" y="3977114"/>
        <a:ext cx="5170775" cy="133471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360506-66C2-49A6-A9EB-160B11C01C96}">
      <dsp:nvSpPr>
        <dsp:cNvPr id="0" name=""/>
        <dsp:cNvSpPr/>
      </dsp:nvSpPr>
      <dsp:spPr>
        <a:xfrm>
          <a:off x="0" y="0"/>
          <a:ext cx="1680960" cy="1680960"/>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90E00B8D-BA35-442E-BF72-0C4D7551926C}">
      <dsp:nvSpPr>
        <dsp:cNvPr id="0" name=""/>
        <dsp:cNvSpPr/>
      </dsp:nvSpPr>
      <dsp:spPr>
        <a:xfrm>
          <a:off x="1860960" y="0"/>
          <a:ext cx="5170775" cy="346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fr-FR" sz="1800" kern="1200" dirty="0"/>
            <a:t>Variables mesurées</a:t>
          </a:r>
        </a:p>
      </dsp:txBody>
      <dsp:txXfrm>
        <a:off x="1860960" y="0"/>
        <a:ext cx="5170775" cy="346241"/>
      </dsp:txXfrm>
    </dsp:sp>
    <dsp:sp modelId="{057FB795-E988-4D98-89C7-71CAE4920414}">
      <dsp:nvSpPr>
        <dsp:cNvPr id="0" name=""/>
        <dsp:cNvSpPr/>
      </dsp:nvSpPr>
      <dsp:spPr>
        <a:xfrm>
          <a:off x="1860960" y="346241"/>
          <a:ext cx="5170775" cy="1334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0320" rIns="20320" bIns="20320" numCol="1" spcCol="1270" anchor="t" anchorCtr="0">
          <a:noAutofit/>
        </a:bodyPr>
        <a:lstStyle/>
        <a:p>
          <a:pPr marL="0" lvl="0" indent="0" algn="l" defTabSz="711200">
            <a:lnSpc>
              <a:spcPct val="100000"/>
            </a:lnSpc>
            <a:spcBef>
              <a:spcPct val="0"/>
            </a:spcBef>
            <a:spcAft>
              <a:spcPct val="35000"/>
            </a:spcAft>
            <a:buNone/>
          </a:pPr>
          <a:r>
            <a:rPr lang="fr-FR" sz="1600" kern="1200" dirty="0"/>
            <a:t>Six variables continues : diagonal, height_left, height_right, margin_low, margin_up, lenght. </a:t>
          </a:r>
          <a:br>
            <a:rPr lang="fr-FR" sz="1600" kern="1200" dirty="0"/>
          </a:br>
          <a:r>
            <a:rPr lang="fr-FR" sz="1600" kern="1200" dirty="0"/>
            <a:t>-&gt; Représente les dimensions physiques du billet. </a:t>
          </a:r>
        </a:p>
      </dsp:txBody>
      <dsp:txXfrm>
        <a:off x="1860960" y="346241"/>
        <a:ext cx="5170775" cy="1334718"/>
      </dsp:txXfrm>
    </dsp:sp>
    <dsp:sp modelId="{783A4B6F-8A83-4167-81A0-162B8376BD61}">
      <dsp:nvSpPr>
        <dsp:cNvPr id="0" name=""/>
        <dsp:cNvSpPr/>
      </dsp:nvSpPr>
      <dsp:spPr>
        <a:xfrm>
          <a:off x="0" y="1815436"/>
          <a:ext cx="1680960" cy="1680960"/>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6E1DE99A-11BB-4FBC-9B90-431E835FD1AF}">
      <dsp:nvSpPr>
        <dsp:cNvPr id="0" name=""/>
        <dsp:cNvSpPr/>
      </dsp:nvSpPr>
      <dsp:spPr>
        <a:xfrm>
          <a:off x="1860960" y="1815436"/>
          <a:ext cx="5170775" cy="346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fr-FR" sz="1800" kern="1200" dirty="0"/>
            <a:t>Structure du dataset</a:t>
          </a:r>
        </a:p>
      </dsp:txBody>
      <dsp:txXfrm>
        <a:off x="1860960" y="1815436"/>
        <a:ext cx="5170775" cy="346241"/>
      </dsp:txXfrm>
    </dsp:sp>
    <dsp:sp modelId="{EC34A459-28A3-4408-85DF-87497F1470EF}">
      <dsp:nvSpPr>
        <dsp:cNvPr id="0" name=""/>
        <dsp:cNvSpPr/>
      </dsp:nvSpPr>
      <dsp:spPr>
        <a:xfrm>
          <a:off x="1860960" y="2161678"/>
          <a:ext cx="5170775" cy="1334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0320" rIns="20320" bIns="20320" numCol="1" spcCol="1270" anchor="t" anchorCtr="0">
          <a:noAutofit/>
        </a:bodyPr>
        <a:lstStyle/>
        <a:p>
          <a:pPr marL="0" lvl="0" indent="0" algn="l" defTabSz="711200">
            <a:lnSpc>
              <a:spcPct val="100000"/>
            </a:lnSpc>
            <a:spcBef>
              <a:spcPct val="0"/>
            </a:spcBef>
            <a:spcAft>
              <a:spcPct val="35000"/>
            </a:spcAft>
            <a:buNone/>
          </a:pPr>
          <a:r>
            <a:rPr lang="fr-FR" sz="1600" kern="1200" dirty="0"/>
            <a:t>1500 lignes, 7 colonnes dont la cible is_genuine.</a:t>
          </a:r>
          <a:br>
            <a:rPr lang="fr-FR" sz="1600" kern="1200" dirty="0"/>
          </a:br>
          <a:r>
            <a:rPr lang="fr-FR" sz="1600" kern="1200" dirty="0"/>
            <a:t>Une seule variable avec des valeurs manquantes : margin_low.</a:t>
          </a:r>
        </a:p>
      </dsp:txBody>
      <dsp:txXfrm>
        <a:off x="1860960" y="2161678"/>
        <a:ext cx="5170775" cy="1334718"/>
      </dsp:txXfrm>
    </dsp:sp>
    <dsp:sp modelId="{A9BDAE22-A65E-4B83-853F-A489D3A6EFB3}">
      <dsp:nvSpPr>
        <dsp:cNvPr id="0" name=""/>
        <dsp:cNvSpPr/>
      </dsp:nvSpPr>
      <dsp:spPr>
        <a:xfrm>
          <a:off x="0" y="3630873"/>
          <a:ext cx="1680960" cy="1680960"/>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079B1E8E-7EFD-42FE-9858-B27C8989976F}">
      <dsp:nvSpPr>
        <dsp:cNvPr id="0" name=""/>
        <dsp:cNvSpPr/>
      </dsp:nvSpPr>
      <dsp:spPr>
        <a:xfrm>
          <a:off x="1860960" y="3630873"/>
          <a:ext cx="5170775" cy="346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fr-FR" sz="1800" kern="1200" dirty="0"/>
            <a:t>Utilisation analytique</a:t>
          </a:r>
        </a:p>
      </dsp:txBody>
      <dsp:txXfrm>
        <a:off x="1860960" y="3630873"/>
        <a:ext cx="5170775" cy="346241"/>
      </dsp:txXfrm>
    </dsp:sp>
    <dsp:sp modelId="{5DCBA845-A388-4FA5-9B10-F3CA103DD336}">
      <dsp:nvSpPr>
        <dsp:cNvPr id="0" name=""/>
        <dsp:cNvSpPr/>
      </dsp:nvSpPr>
      <dsp:spPr>
        <a:xfrm>
          <a:off x="1860960" y="3977114"/>
          <a:ext cx="5170775" cy="1334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0320" rIns="20320" bIns="20320" numCol="1" spcCol="1270" anchor="t" anchorCtr="0">
          <a:noAutofit/>
        </a:bodyPr>
        <a:lstStyle/>
        <a:p>
          <a:pPr marL="0" lvl="0" indent="0" algn="l" defTabSz="711200">
            <a:lnSpc>
              <a:spcPct val="100000"/>
            </a:lnSpc>
            <a:spcBef>
              <a:spcPct val="0"/>
            </a:spcBef>
            <a:spcAft>
              <a:spcPct val="35000"/>
            </a:spcAft>
            <a:buNone/>
          </a:pPr>
          <a:r>
            <a:rPr lang="fr-FR" sz="1600" kern="1200" dirty="0"/>
            <a:t>Ces mesures servent à l’analyse exploratoire, au nettoyage puis à l’entraînement des modèles de détection.</a:t>
          </a:r>
        </a:p>
      </dsp:txBody>
      <dsp:txXfrm>
        <a:off x="1860960" y="3977114"/>
        <a:ext cx="5170775" cy="133471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4F6426-EFEE-4B7E-9501-B86C2B5F9BD6}" type="datetimeFigureOut">
              <a:rPr lang="fr-FR" smtClean="0"/>
              <a:t>17/10/2025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13670F-B571-4258-B2AD-3C3DE5039CEF}" type="slidenum">
              <a:rPr lang="fr-FR" smtClean="0"/>
              <a:t>‹N°›</a:t>
            </a:fld>
            <a:endParaRPr lang="fr-FR"/>
          </a:p>
        </p:txBody>
      </p:sp>
    </p:spTree>
    <p:extLst>
      <p:ext uri="{BB962C8B-B14F-4D97-AF65-F5344CB8AC3E}">
        <p14:creationId xmlns:p14="http://schemas.microsoft.com/office/powerpoint/2010/main" val="12352673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Le contenu généré par l’IA peut être incorrect.
---
Ce projet porte sur la détection de faux billets à l’aide de techniques de data science et Python, réalisé pour l’ONCFM. Nous allons explorer le contexte, l’analyse des données, la modélisation, la validation ainsi que l’application pratique du modèle prédictif.
Source de l’image : bibliothèque de contenu Microsoft 365
</a:t>
            </a:r>
          </a:p>
        </p:txBody>
      </p:sp>
      <p:sp>
        <p:nvSpPr>
          <p:cNvPr id="4" name="Espace réservé du numéro de diapositive 3"/>
          <p:cNvSpPr>
            <a:spLocks noGrp="1"/>
          </p:cNvSpPr>
          <p:nvPr>
            <p:ph type="sldNum" sz="quarter" idx="5"/>
          </p:nvPr>
        </p:nvSpPr>
        <p:spPr/>
        <p:txBody>
          <a:bodyPr/>
          <a:lstStyle/>
          <a:p>
            <a:fld id="{7FE8BE0F-F536-4549-BF12-79AF4A23F5EF}" type="slidenum">
              <a:rPr lang="fr-FR" smtClean="0"/>
              <a:t>1</a:t>
            </a:fld>
            <a:endParaRPr lang="fr-FR"/>
          </a:p>
        </p:txBody>
      </p:sp>
    </p:spTree>
    <p:extLst>
      <p:ext uri="{BB962C8B-B14F-4D97-AF65-F5344CB8AC3E}">
        <p14:creationId xmlns:p14="http://schemas.microsoft.com/office/powerpoint/2010/main" val="8034392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
---
Nous allons couvrir cinq grandes parties : le contexte et les objectifs du projet, l’analyse exploratoire des données, la construction des modèles, leur validation et interprétation, puis enfin l’application pratique et les perspectives d’évolution.
Source de l’image : bibliothèque de contenu Microsoft 365
</a:t>
            </a:r>
          </a:p>
        </p:txBody>
      </p:sp>
      <p:sp>
        <p:nvSpPr>
          <p:cNvPr id="4" name="Espace réservé du numéro de diapositive 3"/>
          <p:cNvSpPr>
            <a:spLocks noGrp="1"/>
          </p:cNvSpPr>
          <p:nvPr>
            <p:ph type="sldNum" sz="quarter" idx="5"/>
          </p:nvPr>
        </p:nvSpPr>
        <p:spPr/>
        <p:txBody>
          <a:bodyPr/>
          <a:lstStyle/>
          <a:p>
            <a:fld id="{7FE8BE0F-F536-4549-BF12-79AF4A23F5EF}" type="slidenum">
              <a:rPr lang="fr-FR" smtClean="0"/>
              <a:t>2</a:t>
            </a:fld>
            <a:endParaRPr lang="fr-FR"/>
          </a:p>
        </p:txBody>
      </p:sp>
    </p:spTree>
    <p:extLst>
      <p:ext uri="{BB962C8B-B14F-4D97-AF65-F5344CB8AC3E}">
        <p14:creationId xmlns:p14="http://schemas.microsoft.com/office/powerpoint/2010/main" val="33390941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
---
L’ONCFM souhaite détecter automatiquement les faux billets pour améliorer la sécurité et la fiabilité. Le besoin métier est de développer un outil capable de classer efficacement les billets en vrais ou faux, facilitant ainsi la prise de décision.
Source de l’image : bibliothèque de contenu Microsoft 365
</a:t>
            </a:r>
          </a:p>
        </p:txBody>
      </p:sp>
      <p:sp>
        <p:nvSpPr>
          <p:cNvPr id="4" name="Espace réservé du numéro de diapositive 3"/>
          <p:cNvSpPr>
            <a:spLocks noGrp="1"/>
          </p:cNvSpPr>
          <p:nvPr>
            <p:ph type="sldNum" sz="quarter" idx="5"/>
          </p:nvPr>
        </p:nvSpPr>
        <p:spPr/>
        <p:txBody>
          <a:bodyPr/>
          <a:lstStyle/>
          <a:p>
            <a:fld id="{7FE8BE0F-F536-4549-BF12-79AF4A23F5EF}" type="slidenum">
              <a:rPr lang="fr-FR" smtClean="0"/>
              <a:t>3</a:t>
            </a:fld>
            <a:endParaRPr lang="fr-FR"/>
          </a:p>
        </p:txBody>
      </p:sp>
    </p:spTree>
    <p:extLst>
      <p:ext uri="{BB962C8B-B14F-4D97-AF65-F5344CB8AC3E}">
        <p14:creationId xmlns:p14="http://schemas.microsoft.com/office/powerpoint/2010/main" val="29652814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
---
Le dataset contient plusieurs variables mesurées sur les billets, incluant des caractéristiques physiques et statistiques. Ces données serviront de base pour l’analyse exploratoire et la construction des modèles de détection.
Source de l’image : bibliothèque de contenu Microsoft 365
</a:t>
            </a:r>
          </a:p>
        </p:txBody>
      </p:sp>
      <p:sp>
        <p:nvSpPr>
          <p:cNvPr id="4" name="Espace réservé du numéro de diapositive 3"/>
          <p:cNvSpPr>
            <a:spLocks noGrp="1"/>
          </p:cNvSpPr>
          <p:nvPr>
            <p:ph type="sldNum" sz="quarter" idx="5"/>
          </p:nvPr>
        </p:nvSpPr>
        <p:spPr/>
        <p:txBody>
          <a:bodyPr/>
          <a:lstStyle/>
          <a:p>
            <a:fld id="{7FE8BE0F-F536-4549-BF12-79AF4A23F5EF}" type="slidenum">
              <a:rPr lang="fr-FR" smtClean="0"/>
              <a:t>4</a:t>
            </a:fld>
            <a:endParaRPr lang="fr-FR"/>
          </a:p>
        </p:txBody>
      </p:sp>
    </p:spTree>
    <p:extLst>
      <p:ext uri="{BB962C8B-B14F-4D97-AF65-F5344CB8AC3E}">
        <p14:creationId xmlns:p14="http://schemas.microsoft.com/office/powerpoint/2010/main" val="11183815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
---
Les objectifs principaux sont d’explorer les données, construire plusieurs modèles prédictifs, comparer leurs performances, puis déployer un modèle final dans une application pratique pour l’ONCFM.
Source de l’image : bibliothèque de contenu Microsoft 365
</a:t>
            </a:r>
          </a:p>
        </p:txBody>
      </p:sp>
      <p:sp>
        <p:nvSpPr>
          <p:cNvPr id="4" name="Espace réservé du numéro de diapositive 3"/>
          <p:cNvSpPr>
            <a:spLocks noGrp="1"/>
          </p:cNvSpPr>
          <p:nvPr>
            <p:ph type="sldNum" sz="quarter" idx="5"/>
          </p:nvPr>
        </p:nvSpPr>
        <p:spPr/>
        <p:txBody>
          <a:bodyPr/>
          <a:lstStyle/>
          <a:p>
            <a:fld id="{7FE8BE0F-F536-4549-BF12-79AF4A23F5EF}" type="slidenum">
              <a:rPr lang="fr-FR" smtClean="0"/>
              <a:t>5</a:t>
            </a:fld>
            <a:endParaRPr lang="fr-FR"/>
          </a:p>
        </p:txBody>
      </p:sp>
    </p:spTree>
    <p:extLst>
      <p:ext uri="{BB962C8B-B14F-4D97-AF65-F5344CB8AC3E}">
        <p14:creationId xmlns:p14="http://schemas.microsoft.com/office/powerpoint/2010/main" val="21818046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
---
L’analyse des distributions et des corrélations permet de comprendre la structure des données, détecter des anomalies éventuelles et identifier les variables les plus pertinentes pour la modélisation.
Source de l’image : bibliothèque de contenu Microsoft 365
</a:t>
            </a:r>
          </a:p>
        </p:txBody>
      </p:sp>
      <p:sp>
        <p:nvSpPr>
          <p:cNvPr id="4" name="Espace réservé du numéro de diapositive 3"/>
          <p:cNvSpPr>
            <a:spLocks noGrp="1"/>
          </p:cNvSpPr>
          <p:nvPr>
            <p:ph type="sldNum" sz="quarter" idx="5"/>
          </p:nvPr>
        </p:nvSpPr>
        <p:spPr/>
        <p:txBody>
          <a:bodyPr/>
          <a:lstStyle/>
          <a:p>
            <a:fld id="{7FE8BE0F-F536-4549-BF12-79AF4A23F5EF}" type="slidenum">
              <a:rPr lang="fr-FR" smtClean="0"/>
              <a:t>6</a:t>
            </a:fld>
            <a:endParaRPr lang="fr-FR"/>
          </a:p>
        </p:txBody>
      </p:sp>
    </p:spTree>
    <p:extLst>
      <p:ext uri="{BB962C8B-B14F-4D97-AF65-F5344CB8AC3E}">
        <p14:creationId xmlns:p14="http://schemas.microsoft.com/office/powerpoint/2010/main" val="19601785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
---
La variable margin_low présente des données manquantes. Nous utilisons une régression linéaire pour estimer ces valeurs, assurant ainsi un jeu de données complet pour la modélisation.
Source de l’image : bibliothèque de contenu Microsoft 365
</a:t>
            </a:r>
          </a:p>
        </p:txBody>
      </p:sp>
      <p:sp>
        <p:nvSpPr>
          <p:cNvPr id="4" name="Espace réservé du numéro de diapositive 3"/>
          <p:cNvSpPr>
            <a:spLocks noGrp="1"/>
          </p:cNvSpPr>
          <p:nvPr>
            <p:ph type="sldNum" sz="quarter" idx="5"/>
          </p:nvPr>
        </p:nvSpPr>
        <p:spPr/>
        <p:txBody>
          <a:bodyPr/>
          <a:lstStyle/>
          <a:p>
            <a:fld id="{7FE8BE0F-F536-4549-BF12-79AF4A23F5EF}" type="slidenum">
              <a:rPr lang="fr-FR" smtClean="0"/>
              <a:t>7</a:t>
            </a:fld>
            <a:endParaRPr lang="fr-FR"/>
          </a:p>
        </p:txBody>
      </p:sp>
    </p:spTree>
    <p:extLst>
      <p:ext uri="{BB962C8B-B14F-4D97-AF65-F5344CB8AC3E}">
        <p14:creationId xmlns:p14="http://schemas.microsoft.com/office/powerpoint/2010/main" val="42636097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
---
Les données sont divisées en ensembles d’entraînement et de test. La standardisation est appliquée pour uniformiser les échelles des variables, un prérequis pour certains algorithmes comme KNN.
Source de l’image : bibliothèque de contenu Microsoft 365
</a:t>
            </a:r>
          </a:p>
        </p:txBody>
      </p:sp>
      <p:sp>
        <p:nvSpPr>
          <p:cNvPr id="4" name="Espace réservé du numéro de diapositive 3"/>
          <p:cNvSpPr>
            <a:spLocks noGrp="1"/>
          </p:cNvSpPr>
          <p:nvPr>
            <p:ph type="sldNum" sz="quarter" idx="5"/>
          </p:nvPr>
        </p:nvSpPr>
        <p:spPr/>
        <p:txBody>
          <a:bodyPr/>
          <a:lstStyle/>
          <a:p>
            <a:fld id="{7FE8BE0F-F536-4549-BF12-79AF4A23F5EF}" type="slidenum">
              <a:rPr lang="fr-FR" smtClean="0"/>
              <a:t>8</a:t>
            </a:fld>
            <a:endParaRPr lang="fr-FR"/>
          </a:p>
        </p:txBody>
      </p:sp>
    </p:spTree>
    <p:extLst>
      <p:ext uri="{BB962C8B-B14F-4D97-AF65-F5344CB8AC3E}">
        <p14:creationId xmlns:p14="http://schemas.microsoft.com/office/powerpoint/2010/main" val="25108469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
---
Quatre modèles sont explorés : K-</a:t>
            </a:r>
            <a:r>
              <a:rPr lang="fr-FR" dirty="0" err="1"/>
              <a:t>Means</a:t>
            </a:r>
            <a:r>
              <a:rPr lang="fr-FR" dirty="0"/>
              <a:t> pour une approche non supervisée, KNN, régression logistique et Random Forest comme modèles supervisés. Chaque modèle est choisi pour ses propriétés spécifiques et sa pertinence pour la classification.
Source de l’image : bibliothèque de contenu Microsoft 365
</a:t>
            </a:r>
          </a:p>
        </p:txBody>
      </p:sp>
      <p:sp>
        <p:nvSpPr>
          <p:cNvPr id="4" name="Espace réservé du numéro de diapositive 3"/>
          <p:cNvSpPr>
            <a:spLocks noGrp="1"/>
          </p:cNvSpPr>
          <p:nvPr>
            <p:ph type="sldNum" sz="quarter" idx="5"/>
          </p:nvPr>
        </p:nvSpPr>
        <p:spPr/>
        <p:txBody>
          <a:bodyPr/>
          <a:lstStyle/>
          <a:p>
            <a:fld id="{7FE8BE0F-F536-4549-BF12-79AF4A23F5EF}" type="slidenum">
              <a:rPr lang="fr-FR" smtClean="0"/>
              <a:t>9</a:t>
            </a:fld>
            <a:endParaRPr lang="fr-FR"/>
          </a:p>
        </p:txBody>
      </p:sp>
    </p:spTree>
    <p:extLst>
      <p:ext uri="{BB962C8B-B14F-4D97-AF65-F5344CB8AC3E}">
        <p14:creationId xmlns:p14="http://schemas.microsoft.com/office/powerpoint/2010/main" val="27296614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
---
Les performances des modèles sont comparées à l’aide d’indicateurs d’accuracy et d’autres métriques, présentées dans un tableau clair pour faciliter la sélection du meilleur modèle.
Source de l’image : bibliothèque de contenu Microsoft 365
</a:t>
            </a:r>
          </a:p>
        </p:txBody>
      </p:sp>
      <p:sp>
        <p:nvSpPr>
          <p:cNvPr id="4" name="Espace réservé du numéro de diapositive 3"/>
          <p:cNvSpPr>
            <a:spLocks noGrp="1"/>
          </p:cNvSpPr>
          <p:nvPr>
            <p:ph type="sldNum" sz="quarter" idx="5"/>
          </p:nvPr>
        </p:nvSpPr>
        <p:spPr/>
        <p:txBody>
          <a:bodyPr/>
          <a:lstStyle/>
          <a:p>
            <a:fld id="{7FE8BE0F-F536-4549-BF12-79AF4A23F5EF}" type="slidenum">
              <a:rPr lang="fr-FR" smtClean="0"/>
              <a:t>10</a:t>
            </a:fld>
            <a:endParaRPr lang="fr-FR"/>
          </a:p>
        </p:txBody>
      </p:sp>
    </p:spTree>
    <p:extLst>
      <p:ext uri="{BB962C8B-B14F-4D97-AF65-F5344CB8AC3E}">
        <p14:creationId xmlns:p14="http://schemas.microsoft.com/office/powerpoint/2010/main" val="37503038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
---
La régression logistique est privilégiée pour sa simplicité, sa rapidité et son interprétabilité, essentielle pour expliquer les décisions de classification à l’ONCFM.
Source de l’image : bibliothèque de contenu Microsoft 365
</a:t>
            </a:r>
          </a:p>
        </p:txBody>
      </p:sp>
      <p:sp>
        <p:nvSpPr>
          <p:cNvPr id="4" name="Espace réservé du numéro de diapositive 3"/>
          <p:cNvSpPr>
            <a:spLocks noGrp="1"/>
          </p:cNvSpPr>
          <p:nvPr>
            <p:ph type="sldNum" sz="quarter" idx="5"/>
          </p:nvPr>
        </p:nvSpPr>
        <p:spPr/>
        <p:txBody>
          <a:bodyPr/>
          <a:lstStyle/>
          <a:p>
            <a:fld id="{7FE8BE0F-F536-4549-BF12-79AF4A23F5EF}" type="slidenum">
              <a:rPr lang="fr-FR" smtClean="0"/>
              <a:t>11</a:t>
            </a:fld>
            <a:endParaRPr lang="fr-FR"/>
          </a:p>
        </p:txBody>
      </p:sp>
    </p:spTree>
    <p:extLst>
      <p:ext uri="{BB962C8B-B14F-4D97-AF65-F5344CB8AC3E}">
        <p14:creationId xmlns:p14="http://schemas.microsoft.com/office/powerpoint/2010/main" val="33058240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
---
Nous analysons l’impact des variables les plus influentes dans la détection des faux billets, ce qui enrichit la compréhension métier et la confiance dans le modèle.
Source de l’image : bibliothèque de contenu Microsoft 365
</a:t>
            </a:r>
          </a:p>
        </p:txBody>
      </p:sp>
      <p:sp>
        <p:nvSpPr>
          <p:cNvPr id="4" name="Espace réservé du numéro de diapositive 3"/>
          <p:cNvSpPr>
            <a:spLocks noGrp="1"/>
          </p:cNvSpPr>
          <p:nvPr>
            <p:ph type="sldNum" sz="quarter" idx="5"/>
          </p:nvPr>
        </p:nvSpPr>
        <p:spPr/>
        <p:txBody>
          <a:bodyPr/>
          <a:lstStyle/>
          <a:p>
            <a:fld id="{7FE8BE0F-F536-4549-BF12-79AF4A23F5EF}" type="slidenum">
              <a:rPr lang="fr-FR" smtClean="0"/>
              <a:t>12</a:t>
            </a:fld>
            <a:endParaRPr lang="fr-FR"/>
          </a:p>
        </p:txBody>
      </p:sp>
    </p:spTree>
    <p:extLst>
      <p:ext uri="{BB962C8B-B14F-4D97-AF65-F5344CB8AC3E}">
        <p14:creationId xmlns:p14="http://schemas.microsoft.com/office/powerpoint/2010/main" val="35164921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
---
L’application a été déployée avec succès, offrant des prédictions précises et rapides. Les résultats obtenus confirment l’efficacité du modèle choisi.
Source de l’image : bibliothèque de contenu Microsoft 365
</a:t>
            </a:r>
          </a:p>
        </p:txBody>
      </p:sp>
      <p:sp>
        <p:nvSpPr>
          <p:cNvPr id="4" name="Espace réservé du numéro de diapositive 3"/>
          <p:cNvSpPr>
            <a:spLocks noGrp="1"/>
          </p:cNvSpPr>
          <p:nvPr>
            <p:ph type="sldNum" sz="quarter" idx="5"/>
          </p:nvPr>
        </p:nvSpPr>
        <p:spPr/>
        <p:txBody>
          <a:bodyPr/>
          <a:lstStyle/>
          <a:p>
            <a:fld id="{7FE8BE0F-F536-4549-BF12-79AF4A23F5EF}" type="slidenum">
              <a:rPr lang="fr-FR" smtClean="0"/>
              <a:t>13</a:t>
            </a:fld>
            <a:endParaRPr lang="fr-FR"/>
          </a:p>
        </p:txBody>
      </p:sp>
    </p:spTree>
    <p:extLst>
      <p:ext uri="{BB962C8B-B14F-4D97-AF65-F5344CB8AC3E}">
        <p14:creationId xmlns:p14="http://schemas.microsoft.com/office/powerpoint/2010/main" val="10865105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
---
Pour l’avenir, des améliorations sont envisagées comme l’automatisation complète, la création d’une interface web conviviale et l’intégration dans les systèmes de l’ONCFM.
Source de l’image : bibliothèque de contenu Microsoft 365
</a:t>
            </a:r>
          </a:p>
        </p:txBody>
      </p:sp>
      <p:sp>
        <p:nvSpPr>
          <p:cNvPr id="4" name="Espace réservé du numéro de diapositive 3"/>
          <p:cNvSpPr>
            <a:spLocks noGrp="1"/>
          </p:cNvSpPr>
          <p:nvPr>
            <p:ph type="sldNum" sz="quarter" idx="5"/>
          </p:nvPr>
        </p:nvSpPr>
        <p:spPr/>
        <p:txBody>
          <a:bodyPr/>
          <a:lstStyle/>
          <a:p>
            <a:fld id="{7FE8BE0F-F536-4549-BF12-79AF4A23F5EF}" type="slidenum">
              <a:rPr lang="fr-FR" smtClean="0"/>
              <a:t>14</a:t>
            </a:fld>
            <a:endParaRPr lang="fr-FR"/>
          </a:p>
        </p:txBody>
      </p:sp>
    </p:spTree>
    <p:extLst>
      <p:ext uri="{BB962C8B-B14F-4D97-AF65-F5344CB8AC3E}">
        <p14:creationId xmlns:p14="http://schemas.microsoft.com/office/powerpoint/2010/main" val="41940706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26778-501A-7D01-04A3-A4AB05738F3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264563D-61CB-3A68-EDE5-6CC448249F77}"/>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8ACE28B2-8C31-E64E-34F0-97AF32276292}"/>
              </a:ext>
            </a:extLst>
          </p:cNvPr>
          <p:cNvSpPr>
            <a:spLocks noGrp="1"/>
          </p:cNvSpPr>
          <p:nvPr>
            <p:ph type="body" idx="1"/>
          </p:nvPr>
        </p:nvSpPr>
        <p:spPr/>
        <p:txBody>
          <a:bodyPr/>
          <a:lstStyle/>
          <a:p>
            <a:r>
              <a:rPr lang="fr-FR"/>
              <a:t>Le contenu généré par l’IA peut être incorrect.
---
Ce projet porte sur la détection de faux billets à l’aide de techniques de data science et Python, réalisé pour l’ONCFM. Nous allons explorer le contexte, l’analyse des données, la modélisation, la validation ainsi que l’application pratique du modèle prédictif.
Source de l’image : bibliothèque de contenu Microsoft 365
</a:t>
            </a:r>
          </a:p>
        </p:txBody>
      </p:sp>
      <p:sp>
        <p:nvSpPr>
          <p:cNvPr id="4" name="Espace réservé du numéro de diapositive 3">
            <a:extLst>
              <a:ext uri="{FF2B5EF4-FFF2-40B4-BE49-F238E27FC236}">
                <a16:creationId xmlns:a16="http://schemas.microsoft.com/office/drawing/2014/main" id="{6DC9D348-8DF1-B9A5-563E-4CBD1F913CC3}"/>
              </a:ext>
            </a:extLst>
          </p:cNvPr>
          <p:cNvSpPr>
            <a:spLocks noGrp="1"/>
          </p:cNvSpPr>
          <p:nvPr>
            <p:ph type="sldNum" sz="quarter" idx="5"/>
          </p:nvPr>
        </p:nvSpPr>
        <p:spPr/>
        <p:txBody>
          <a:bodyPr/>
          <a:lstStyle/>
          <a:p>
            <a:fld id="{7FE8BE0F-F536-4549-BF12-79AF4A23F5EF}" type="slidenum">
              <a:rPr lang="fr-FR" smtClean="0"/>
              <a:t>15</a:t>
            </a:fld>
            <a:endParaRPr lang="fr-FR"/>
          </a:p>
        </p:txBody>
      </p:sp>
    </p:spTree>
    <p:extLst>
      <p:ext uri="{BB962C8B-B14F-4D97-AF65-F5344CB8AC3E}">
        <p14:creationId xmlns:p14="http://schemas.microsoft.com/office/powerpoint/2010/main" val="41226742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10/17/2025</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‹N°›</a:t>
            </a:fld>
            <a:endParaRPr lang="en-US"/>
          </a:p>
        </p:txBody>
      </p:sp>
    </p:spTree>
    <p:extLst>
      <p:ext uri="{BB962C8B-B14F-4D97-AF65-F5344CB8AC3E}">
        <p14:creationId xmlns:p14="http://schemas.microsoft.com/office/powerpoint/2010/main" val="27530672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10/17/2025</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‹N°›</a:t>
            </a:fld>
            <a:endParaRPr lang="en-US"/>
          </a:p>
        </p:txBody>
      </p:sp>
    </p:spTree>
    <p:extLst>
      <p:ext uri="{BB962C8B-B14F-4D97-AF65-F5344CB8AC3E}">
        <p14:creationId xmlns:p14="http://schemas.microsoft.com/office/powerpoint/2010/main" val="868846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10/17/2025</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‹N°›</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5494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10/17/2025</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‹N°›</a:t>
            </a:fld>
            <a:endParaRPr lang="en-US"/>
          </a:p>
        </p:txBody>
      </p:sp>
    </p:spTree>
    <p:extLst>
      <p:ext uri="{BB962C8B-B14F-4D97-AF65-F5344CB8AC3E}">
        <p14:creationId xmlns:p14="http://schemas.microsoft.com/office/powerpoint/2010/main" val="42870509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10/17/2025</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‹N°›</a:t>
            </a:fld>
            <a:endParaRPr lang="en-US"/>
          </a:p>
        </p:txBody>
      </p:sp>
    </p:spTree>
    <p:extLst>
      <p:ext uri="{BB962C8B-B14F-4D97-AF65-F5344CB8AC3E}">
        <p14:creationId xmlns:p14="http://schemas.microsoft.com/office/powerpoint/2010/main" val="2327364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10/17/2025</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‹N°›</a:t>
            </a:fld>
            <a:endParaRPr lang="en-US"/>
          </a:p>
        </p:txBody>
      </p:sp>
    </p:spTree>
    <p:extLst>
      <p:ext uri="{BB962C8B-B14F-4D97-AF65-F5344CB8AC3E}">
        <p14:creationId xmlns:p14="http://schemas.microsoft.com/office/powerpoint/2010/main" val="3593142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10/17/2025</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‹N°›</a:t>
            </a:fld>
            <a:endParaRPr lang="en-US"/>
          </a:p>
        </p:txBody>
      </p:sp>
    </p:spTree>
    <p:extLst>
      <p:ext uri="{BB962C8B-B14F-4D97-AF65-F5344CB8AC3E}">
        <p14:creationId xmlns:p14="http://schemas.microsoft.com/office/powerpoint/2010/main" val="3799329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10/17/2025</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‹N°›</a:t>
            </a:fld>
            <a:endParaRPr lang="en-US"/>
          </a:p>
        </p:txBody>
      </p:sp>
    </p:spTree>
    <p:extLst>
      <p:ext uri="{BB962C8B-B14F-4D97-AF65-F5344CB8AC3E}">
        <p14:creationId xmlns:p14="http://schemas.microsoft.com/office/powerpoint/2010/main" val="1407804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10/17/2025</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‹N°›</a:t>
            </a:fld>
            <a:endParaRPr lang="en-US"/>
          </a:p>
        </p:txBody>
      </p:sp>
    </p:spTree>
    <p:extLst>
      <p:ext uri="{BB962C8B-B14F-4D97-AF65-F5344CB8AC3E}">
        <p14:creationId xmlns:p14="http://schemas.microsoft.com/office/powerpoint/2010/main" val="36182840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10/17/2025</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‹N°›</a:t>
            </a:fld>
            <a:endParaRPr lang="en-US"/>
          </a:p>
        </p:txBody>
      </p:sp>
    </p:spTree>
    <p:extLst>
      <p:ext uri="{BB962C8B-B14F-4D97-AF65-F5344CB8AC3E}">
        <p14:creationId xmlns:p14="http://schemas.microsoft.com/office/powerpoint/2010/main" val="2886689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10/17/2025</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‹N°›</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053861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10/17/2025</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‹N°›</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9861477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30.sv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s>
</file>

<file path=ppt/slides/_rels/slide9.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0.svg"/><Relationship Id="rId5" Type="http://schemas.openxmlformats.org/officeDocument/2006/relationships/image" Target="../media/image39.png"/><Relationship Id="rId10" Type="http://schemas.openxmlformats.org/officeDocument/2006/relationships/image" Target="../media/image44.svg"/><Relationship Id="rId4" Type="http://schemas.openxmlformats.org/officeDocument/2006/relationships/image" Target="../media/image38.svg"/><Relationship Id="rId9" Type="http://schemas.openxmlformats.org/officeDocument/2006/relationships/image" Target="../media/image43.png"/></Relationships>
</file>

<file path=ppt/slides/_rels/slide12.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8" Type="http://schemas.openxmlformats.org/officeDocument/2006/relationships/image" Target="../media/image52.svg"/><Relationship Id="rId3" Type="http://schemas.openxmlformats.org/officeDocument/2006/relationships/image" Target="../media/image48.png"/><Relationship Id="rId7" Type="http://schemas.openxmlformats.org/officeDocument/2006/relationships/image" Target="../media/image5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0.svg"/><Relationship Id="rId5" Type="http://schemas.openxmlformats.org/officeDocument/2006/relationships/image" Target="../media/image49.png"/><Relationship Id="rId10" Type="http://schemas.openxmlformats.org/officeDocument/2006/relationships/image" Target="../media/image54.svg"/><Relationship Id="rId4" Type="http://schemas.microsoft.com/office/2007/relationships/hdphoto" Target="../media/hdphoto1.wdp"/><Relationship Id="rId9"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B7E2F724-2FB3-4D1D-A730-739B8654C0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Image 3" descr="Une image contenant texte, Impression, Police, Publication&#10;&#10;Le contenu généré par l’IA peut être incorrect.">
            <a:extLst>
              <a:ext uri="{FF2B5EF4-FFF2-40B4-BE49-F238E27FC236}">
                <a16:creationId xmlns:a16="http://schemas.microsoft.com/office/drawing/2014/main" id="{B39027A1-028B-4E80-8C45-BF78F80FA5D7}"/>
              </a:ext>
            </a:extLst>
          </p:cNvPr>
          <p:cNvPicPr>
            <a:picLocks noChangeAspect="1"/>
          </p:cNvPicPr>
          <p:nvPr/>
        </p:nvPicPr>
        <p:blipFill>
          <a:blip r:embed="rId3">
            <a:alphaModFix amt="40000"/>
            <a:extLst>
              <a:ext uri="{28A0092B-C50C-407E-A947-70E740481C1C}">
                <a14:useLocalDpi xmlns:a14="http://schemas.microsoft.com/office/drawing/2010/main" val="0"/>
              </a:ext>
            </a:extLst>
          </a:blip>
          <a:srcRect b="15730"/>
          <a:stretch>
            <a:fillRect/>
          </a:stretch>
        </p:blipFill>
        <p:spPr>
          <a:xfrm>
            <a:off x="-2" y="-2"/>
            <a:ext cx="12192001" cy="6858001"/>
          </a:xfrm>
          <a:prstGeom prst="rect">
            <a:avLst/>
          </a:prstGeom>
        </p:spPr>
      </p:pic>
      <p:sp>
        <p:nvSpPr>
          <p:cNvPr id="2" name="Titre 1">
            <a:extLst>
              <a:ext uri="{FF2B5EF4-FFF2-40B4-BE49-F238E27FC236}">
                <a16:creationId xmlns:a16="http://schemas.microsoft.com/office/drawing/2014/main" id="{0FF48D73-F9BB-227A-B309-BFEC2E386788}"/>
              </a:ext>
            </a:extLst>
          </p:cNvPr>
          <p:cNvSpPr>
            <a:spLocks noGrp="1"/>
          </p:cNvSpPr>
          <p:nvPr>
            <p:ph type="ctrTitle"/>
          </p:nvPr>
        </p:nvSpPr>
        <p:spPr>
          <a:xfrm>
            <a:off x="517870" y="1165461"/>
            <a:ext cx="5205597" cy="3290107"/>
          </a:xfrm>
        </p:spPr>
        <p:txBody>
          <a:bodyPr anchor="t">
            <a:normAutofit/>
          </a:bodyPr>
          <a:lstStyle/>
          <a:p>
            <a:pPr>
              <a:lnSpc>
                <a:spcPct val="90000"/>
              </a:lnSpc>
            </a:pPr>
            <a:r>
              <a:rPr lang="fr-FR" sz="4200" dirty="0">
                <a:solidFill>
                  <a:srgbClr val="FFFFFF"/>
                </a:solidFill>
              </a:rPr>
              <a:t>Détection de faux billets avec Python : Projet Data Analyst pour l’ONCFM</a:t>
            </a:r>
          </a:p>
        </p:txBody>
      </p:sp>
      <p:sp>
        <p:nvSpPr>
          <p:cNvPr id="3" name="Sous-titre 2">
            <a:extLst>
              <a:ext uri="{FF2B5EF4-FFF2-40B4-BE49-F238E27FC236}">
                <a16:creationId xmlns:a16="http://schemas.microsoft.com/office/drawing/2014/main" id="{3A94EDBF-EB87-FC34-D6FA-476E48CA75AE}"/>
              </a:ext>
            </a:extLst>
          </p:cNvPr>
          <p:cNvSpPr>
            <a:spLocks noGrp="1"/>
          </p:cNvSpPr>
          <p:nvPr>
            <p:ph type="subTitle" idx="1"/>
          </p:nvPr>
        </p:nvSpPr>
        <p:spPr>
          <a:xfrm>
            <a:off x="517870" y="4982695"/>
            <a:ext cx="5713597" cy="1210089"/>
          </a:xfrm>
        </p:spPr>
        <p:txBody>
          <a:bodyPr anchor="t">
            <a:normAutofit/>
          </a:bodyPr>
          <a:lstStyle/>
          <a:p>
            <a:r>
              <a:rPr lang="fr-FR" sz="2400" dirty="0"/>
              <a:t>Modélisation prédictive pour l’identification automatique de faux billets</a:t>
            </a:r>
            <a:endParaRPr lang="fr-FR" sz="2400" dirty="0">
              <a:solidFill>
                <a:srgbClr val="FFFFFF"/>
              </a:solidFill>
            </a:endParaRPr>
          </a:p>
        </p:txBody>
      </p:sp>
      <p:sp>
        <p:nvSpPr>
          <p:cNvPr id="25" name="Rectangle 24">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3035457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21">
            <a:extLst>
              <a:ext uri="{FF2B5EF4-FFF2-40B4-BE49-F238E27FC236}">
                <a16:creationId xmlns:a16="http://schemas.microsoft.com/office/drawing/2014/main" id="{E8BAA160-18A6-38AE-4699-2AD01EF53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4" name="Rectangle 23">
            <a:extLst>
              <a:ext uri="{FF2B5EF4-FFF2-40B4-BE49-F238E27FC236}">
                <a16:creationId xmlns:a16="http://schemas.microsoft.com/office/drawing/2014/main" id="{817D949E-564D-4503-A64E-D22FA3232C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5FFDDB66-07C1-07A5-4587-079737E84FA2}"/>
              </a:ext>
            </a:extLst>
          </p:cNvPr>
          <p:cNvSpPr>
            <a:spLocks noGrp="1"/>
          </p:cNvSpPr>
          <p:nvPr>
            <p:ph type="title"/>
          </p:nvPr>
        </p:nvSpPr>
        <p:spPr>
          <a:xfrm>
            <a:off x="591360" y="978408"/>
            <a:ext cx="3154680" cy="4069080"/>
          </a:xfrm>
        </p:spPr>
        <p:txBody>
          <a:bodyPr vert="horz" lIns="91440" tIns="45720" rIns="91440" bIns="45720" rtlCol="0" anchor="t">
            <a:normAutofit/>
          </a:bodyPr>
          <a:lstStyle/>
          <a:p>
            <a:r>
              <a:rPr lang="en-US" sz="4000" b="1" kern="1200" dirty="0">
                <a:solidFill>
                  <a:schemeClr val="accent2">
                    <a:lumMod val="50000"/>
                  </a:schemeClr>
                </a:solidFill>
                <a:latin typeface="+mj-lt"/>
                <a:ea typeface="+mj-ea"/>
                <a:cs typeface="+mj-cs"/>
              </a:rPr>
              <a:t>Plan de la présentation</a:t>
            </a:r>
          </a:p>
        </p:txBody>
      </p:sp>
      <p:sp>
        <p:nvSpPr>
          <p:cNvPr id="26" name="Rectangle 25">
            <a:extLst>
              <a:ext uri="{FF2B5EF4-FFF2-40B4-BE49-F238E27FC236}">
                <a16:creationId xmlns:a16="http://schemas.microsoft.com/office/drawing/2014/main" id="{2C8EEB27-9249-8B3A-C8C2-18F9DC48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18482CAC-96FF-EBE5-E97D-0BE2B8A51E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11155680"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6" name="Rectangle 2">
            <a:extLst>
              <a:ext uri="{FF2B5EF4-FFF2-40B4-BE49-F238E27FC236}">
                <a16:creationId xmlns:a16="http://schemas.microsoft.com/office/drawing/2014/main" id="{5EC2A0F4-ED42-94E4-32D6-44EF1DC5CE15}"/>
              </a:ext>
            </a:extLst>
          </p:cNvPr>
          <p:cNvGraphicFramePr>
            <a:graphicFrameLocks noGrp="1"/>
          </p:cNvGraphicFramePr>
          <p:nvPr>
            <p:ph sz="half" idx="2"/>
            <p:extLst>
              <p:ext uri="{D42A27DB-BD31-4B8C-83A1-F6EECF244321}">
                <p14:modId xmlns:p14="http://schemas.microsoft.com/office/powerpoint/2010/main" val="392049417"/>
              </p:ext>
            </p:extLst>
          </p:nvPr>
        </p:nvGraphicFramePr>
        <p:xfrm>
          <a:off x="4389120" y="978408"/>
          <a:ext cx="7306056" cy="50109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4150506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53AE3C-AC4F-907C-B473-B9A30D2150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1" name="Rectangle 10">
            <a:extLst>
              <a:ext uri="{FF2B5EF4-FFF2-40B4-BE49-F238E27FC236}">
                <a16:creationId xmlns:a16="http://schemas.microsoft.com/office/drawing/2014/main" id="{DC81933E-93BD-38CE-3C98-D10B2844C5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341299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3" name="Rectangle 12">
            <a:extLst>
              <a:ext uri="{FF2B5EF4-FFF2-40B4-BE49-F238E27FC236}">
                <a16:creationId xmlns:a16="http://schemas.microsoft.com/office/drawing/2014/main" id="{5B3B7A5C-39EE-77A0-28F9-DF51372312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6008" y="611650"/>
            <a:ext cx="7031736"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re 1">
            <a:extLst>
              <a:ext uri="{FF2B5EF4-FFF2-40B4-BE49-F238E27FC236}">
                <a16:creationId xmlns:a16="http://schemas.microsoft.com/office/drawing/2014/main" id="{7CEDC957-500F-3F42-C9C2-7523A613BFE7}"/>
              </a:ext>
            </a:extLst>
          </p:cNvPr>
          <p:cNvSpPr>
            <a:spLocks noGrp="1"/>
          </p:cNvSpPr>
          <p:nvPr>
            <p:ph type="title"/>
          </p:nvPr>
        </p:nvSpPr>
        <p:spPr>
          <a:xfrm>
            <a:off x="521208" y="768452"/>
            <a:ext cx="3593592" cy="2008615"/>
          </a:xfrm>
        </p:spPr>
        <p:txBody>
          <a:bodyPr>
            <a:normAutofit/>
          </a:bodyPr>
          <a:lstStyle/>
          <a:p>
            <a:r>
              <a:rPr lang="fr-FR" sz="4000" dirty="0">
                <a:solidFill>
                  <a:schemeClr val="accent2">
                    <a:lumMod val="50000"/>
                  </a:schemeClr>
                </a:solidFill>
              </a:rPr>
              <a:t>Contexte et besoins de l’ONCFM</a:t>
            </a:r>
            <a:endParaRPr lang="fr-FR" sz="3700" dirty="0">
              <a:solidFill>
                <a:schemeClr val="accent2">
                  <a:lumMod val="50000"/>
                </a:schemeClr>
              </a:solidFill>
            </a:endParaRPr>
          </a:p>
        </p:txBody>
      </p:sp>
      <p:graphicFrame>
        <p:nvGraphicFramePr>
          <p:cNvPr id="4" name="Espace réservé du contenu 4">
            <a:extLst>
              <a:ext uri="{FF2B5EF4-FFF2-40B4-BE49-F238E27FC236}">
                <a16:creationId xmlns:a16="http://schemas.microsoft.com/office/drawing/2014/main" id="{92941BE1-4E20-4E38-8226-63542F6D7349}"/>
              </a:ext>
            </a:extLst>
          </p:cNvPr>
          <p:cNvGraphicFramePr>
            <a:graphicFrameLocks noGrp="1"/>
          </p:cNvGraphicFramePr>
          <p:nvPr>
            <p:ph idx="1"/>
            <p:extLst>
              <p:ext uri="{D42A27DB-BD31-4B8C-83A1-F6EECF244321}">
                <p14:modId xmlns:p14="http://schemas.microsoft.com/office/powerpoint/2010/main" val="1457974819"/>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4636008" y="1042416"/>
          <a:ext cx="7031736" cy="53126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ZoneTexte 2">
            <a:extLst>
              <a:ext uri="{FF2B5EF4-FFF2-40B4-BE49-F238E27FC236}">
                <a16:creationId xmlns:a16="http://schemas.microsoft.com/office/drawing/2014/main" id="{5BB404A3-8ABA-8111-5140-A969805B82D2}"/>
              </a:ext>
            </a:extLst>
          </p:cNvPr>
          <p:cNvSpPr txBox="1"/>
          <p:nvPr/>
        </p:nvSpPr>
        <p:spPr>
          <a:xfrm>
            <a:off x="517871" y="3035552"/>
            <a:ext cx="3412998" cy="2585323"/>
          </a:xfrm>
          <a:prstGeom prst="rect">
            <a:avLst/>
          </a:prstGeom>
          <a:noFill/>
        </p:spPr>
        <p:txBody>
          <a:bodyPr wrap="square" rtlCol="0">
            <a:spAutoFit/>
          </a:bodyPr>
          <a:lstStyle/>
          <a:p>
            <a:r>
              <a:rPr lang="fr-FR" dirty="0"/>
              <a:t>L’Organisation nationale de lutte contre le faux-monnayage (ONCFM) souhaite automatiser l’identification des billets contrefaits.</a:t>
            </a:r>
          </a:p>
          <a:p>
            <a:br>
              <a:rPr lang="fr-FR" dirty="0"/>
            </a:br>
            <a:r>
              <a:rPr lang="fr-FR" dirty="0"/>
              <a:t>Le but est d’améliorer la sécurité financière et de faciliter la détection sur le terrain.</a:t>
            </a:r>
          </a:p>
        </p:txBody>
      </p:sp>
    </p:spTree>
    <p:extLst>
      <p:ext uri="{BB962C8B-B14F-4D97-AF65-F5344CB8AC3E}">
        <p14:creationId xmlns:p14="http://schemas.microsoft.com/office/powerpoint/2010/main" val="186169380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53AE3C-AC4F-907C-B473-B9A30D2150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1" name="Rectangle 10">
            <a:extLst>
              <a:ext uri="{FF2B5EF4-FFF2-40B4-BE49-F238E27FC236}">
                <a16:creationId xmlns:a16="http://schemas.microsoft.com/office/drawing/2014/main" id="{DC81933E-93BD-38CE-3C98-D10B2844C5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341299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3" name="Rectangle 12">
            <a:extLst>
              <a:ext uri="{FF2B5EF4-FFF2-40B4-BE49-F238E27FC236}">
                <a16:creationId xmlns:a16="http://schemas.microsoft.com/office/drawing/2014/main" id="{5B3B7A5C-39EE-77A0-28F9-DF51372312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6008" y="611650"/>
            <a:ext cx="7031736"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re 1">
            <a:extLst>
              <a:ext uri="{FF2B5EF4-FFF2-40B4-BE49-F238E27FC236}">
                <a16:creationId xmlns:a16="http://schemas.microsoft.com/office/drawing/2014/main" id="{3DB8852C-5883-01EE-8697-EC935233D09C}"/>
              </a:ext>
            </a:extLst>
          </p:cNvPr>
          <p:cNvSpPr>
            <a:spLocks noGrp="1"/>
          </p:cNvSpPr>
          <p:nvPr>
            <p:ph type="title"/>
          </p:nvPr>
        </p:nvSpPr>
        <p:spPr>
          <a:xfrm>
            <a:off x="521208" y="978408"/>
            <a:ext cx="3410712" cy="1984925"/>
          </a:xfrm>
        </p:spPr>
        <p:txBody>
          <a:bodyPr>
            <a:normAutofit/>
          </a:bodyPr>
          <a:lstStyle/>
          <a:p>
            <a:r>
              <a:rPr lang="fr-FR" sz="4000" dirty="0">
                <a:solidFill>
                  <a:schemeClr val="accent2">
                    <a:lumMod val="50000"/>
                  </a:schemeClr>
                </a:solidFill>
              </a:rPr>
              <a:t>Description du jeu de données</a:t>
            </a:r>
          </a:p>
        </p:txBody>
      </p:sp>
      <p:graphicFrame>
        <p:nvGraphicFramePr>
          <p:cNvPr id="4" name="Espace réservé du contenu 4">
            <a:extLst>
              <a:ext uri="{FF2B5EF4-FFF2-40B4-BE49-F238E27FC236}">
                <a16:creationId xmlns:a16="http://schemas.microsoft.com/office/drawing/2014/main" id="{724F6342-FF1B-4565-88EC-9FEFAF72860C}"/>
              </a:ext>
            </a:extLst>
          </p:cNvPr>
          <p:cNvGraphicFramePr>
            <a:graphicFrameLocks noGrp="1"/>
          </p:cNvGraphicFramePr>
          <p:nvPr>
            <p:ph idx="1"/>
            <p:extLst>
              <p:ext uri="{D42A27DB-BD31-4B8C-83A1-F6EECF244321}">
                <p14:modId xmlns:p14="http://schemas.microsoft.com/office/powerpoint/2010/main" val="2839579930"/>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4636008" y="1042416"/>
          <a:ext cx="7031736" cy="53126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ZoneTexte 2">
            <a:extLst>
              <a:ext uri="{FF2B5EF4-FFF2-40B4-BE49-F238E27FC236}">
                <a16:creationId xmlns:a16="http://schemas.microsoft.com/office/drawing/2014/main" id="{3ADB48A9-5484-D67E-9815-F3485D5E37DF}"/>
              </a:ext>
            </a:extLst>
          </p:cNvPr>
          <p:cNvSpPr txBox="1"/>
          <p:nvPr/>
        </p:nvSpPr>
        <p:spPr>
          <a:xfrm>
            <a:off x="524256" y="3294269"/>
            <a:ext cx="3253536" cy="2585323"/>
          </a:xfrm>
          <a:prstGeom prst="rect">
            <a:avLst/>
          </a:prstGeom>
          <a:noFill/>
        </p:spPr>
        <p:txBody>
          <a:bodyPr wrap="square" rtlCol="0">
            <a:spAutoFit/>
          </a:bodyPr>
          <a:lstStyle/>
          <a:p>
            <a:r>
              <a:rPr lang="fr-FR" dirty="0"/>
              <a:t>Le jeu de données fourni par l’ONCFM contient les mesures géométriques de 1 500 billets, dont 1 000 vrais et 500 faux.</a:t>
            </a:r>
            <a:br>
              <a:rPr lang="fr-FR" dirty="0"/>
            </a:br>
            <a:endParaRPr lang="fr-FR" dirty="0"/>
          </a:p>
          <a:p>
            <a:r>
              <a:rPr lang="fr-FR" dirty="0"/>
              <a:t>Ces données servent à identifier les caractéristiques distinctives entre billets authentiques et contrefaits.</a:t>
            </a:r>
          </a:p>
        </p:txBody>
      </p:sp>
    </p:spTree>
    <p:extLst>
      <p:ext uri="{BB962C8B-B14F-4D97-AF65-F5344CB8AC3E}">
        <p14:creationId xmlns:p14="http://schemas.microsoft.com/office/powerpoint/2010/main" val="246779259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7329854E-E0D9-B25C-C91D-CF879CDEF4C8}"/>
              </a:ext>
            </a:extLst>
          </p:cNvPr>
          <p:cNvSpPr>
            <a:spLocks noGrp="1"/>
          </p:cNvSpPr>
          <p:nvPr>
            <p:ph type="title"/>
          </p:nvPr>
        </p:nvSpPr>
        <p:spPr>
          <a:xfrm>
            <a:off x="521208" y="978408"/>
            <a:ext cx="5020056" cy="1039780"/>
          </a:xfrm>
        </p:spPr>
        <p:txBody>
          <a:bodyPr vert="horz" lIns="91440" tIns="45720" rIns="91440" bIns="45720" rtlCol="0" anchor="t">
            <a:normAutofit/>
          </a:bodyPr>
          <a:lstStyle/>
          <a:p>
            <a:pPr>
              <a:lnSpc>
                <a:spcPct val="90000"/>
              </a:lnSpc>
            </a:pPr>
            <a:r>
              <a:rPr lang="en-US" sz="3100" b="1" kern="1200" dirty="0">
                <a:solidFill>
                  <a:schemeClr val="accent2">
                    <a:lumMod val="50000"/>
                  </a:schemeClr>
                </a:solidFill>
                <a:latin typeface="+mj-lt"/>
                <a:ea typeface="+mj-ea"/>
                <a:cs typeface="+mj-cs"/>
              </a:rPr>
              <a:t>Objectifs du projet et étapes de réalisation</a:t>
            </a:r>
          </a:p>
        </p:txBody>
      </p:sp>
      <p:sp>
        <p:nvSpPr>
          <p:cNvPr id="14" name="Rectangle 13">
            <a:extLst>
              <a:ext uri="{FF2B5EF4-FFF2-40B4-BE49-F238E27FC236}">
                <a16:creationId xmlns:a16="http://schemas.microsoft.com/office/drawing/2014/main" id="{B3367C65-B72C-202E-98A7-9B20F8F2F5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7" y="508090"/>
            <a:ext cx="502005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6" name="Rectangle 15">
            <a:extLst>
              <a:ext uri="{FF2B5EF4-FFF2-40B4-BE49-F238E27FC236}">
                <a16:creationId xmlns:a16="http://schemas.microsoft.com/office/drawing/2014/main" id="{AE558C32-DE71-E6B3-A032-D3EA9CB0FC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66463" y="611650"/>
            <a:ext cx="5504688"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4" name="Espace réservé du contenu 3">
            <a:extLst>
              <a:ext uri="{FF2B5EF4-FFF2-40B4-BE49-F238E27FC236}">
                <a16:creationId xmlns:a16="http://schemas.microsoft.com/office/drawing/2014/main" id="{CF4ABE53-33AD-8C0F-09E6-1D669179937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527294" y="1094000"/>
            <a:ext cx="5504688" cy="5367528"/>
          </a:xfrm>
        </p:spPr>
        <p:txBody>
          <a:bodyPr>
            <a:normAutofit/>
          </a:bodyPr>
          <a:lstStyle/>
          <a:p>
            <a:pPr marL="0" indent="0">
              <a:spcBef>
                <a:spcPts val="2500"/>
              </a:spcBef>
              <a:buFont typeface="Arial" panose="020B0604020202020204" pitchFamily="34" charset="0"/>
              <a:buNone/>
            </a:pPr>
            <a:r>
              <a:rPr lang="fr-FR" b="1" dirty="0"/>
              <a:t>Analyse explorative</a:t>
            </a:r>
          </a:p>
          <a:p>
            <a:pPr marL="0" lvl="1" indent="0">
              <a:buFont typeface="Arial" panose="020B0604020202020204" pitchFamily="34" charset="0"/>
              <a:buNone/>
            </a:pPr>
            <a:r>
              <a:rPr lang="fr-FR" dirty="0"/>
              <a:t>Etudier les caractéristiques des billets et détecter les anomalies ou valeurs manquantes.</a:t>
            </a:r>
          </a:p>
          <a:p>
            <a:pPr marL="0" indent="0">
              <a:spcBef>
                <a:spcPts val="2500"/>
              </a:spcBef>
              <a:buFont typeface="Arial" panose="020B0604020202020204" pitchFamily="34" charset="0"/>
              <a:buNone/>
            </a:pPr>
            <a:r>
              <a:rPr lang="fr-FR" b="1" dirty="0"/>
              <a:t>Modélisation prédictive</a:t>
            </a:r>
          </a:p>
          <a:p>
            <a:pPr marL="0" lvl="1" indent="0">
              <a:buFont typeface="Arial" panose="020B0604020202020204" pitchFamily="34" charset="0"/>
              <a:buNone/>
            </a:pPr>
            <a:r>
              <a:rPr lang="fr-FR" dirty="0"/>
              <a:t>Entraîner plusieurs modèles (Régression logistique, KNN, K-</a:t>
            </a:r>
            <a:r>
              <a:rPr lang="fr-FR" dirty="0" err="1"/>
              <a:t>Means</a:t>
            </a:r>
            <a:r>
              <a:rPr lang="fr-FR" dirty="0"/>
              <a:t>, Random Forest). </a:t>
            </a:r>
          </a:p>
          <a:p>
            <a:pPr marL="0" indent="0">
              <a:spcBef>
                <a:spcPts val="2500"/>
              </a:spcBef>
              <a:buFont typeface="Arial" panose="020B0604020202020204" pitchFamily="34" charset="0"/>
              <a:buNone/>
            </a:pPr>
            <a:r>
              <a:rPr lang="fr-FR" b="1" dirty="0"/>
              <a:t>Evaluation et sélection</a:t>
            </a:r>
          </a:p>
          <a:p>
            <a:pPr marL="0" lvl="1" indent="0">
              <a:buFont typeface="Arial" panose="020B0604020202020204" pitchFamily="34" charset="0"/>
              <a:buNone/>
            </a:pPr>
            <a:r>
              <a:rPr lang="fr-FR" dirty="0"/>
              <a:t>Comparer les performances des modèles pour n’en garder qu’un pour l’application finale.</a:t>
            </a:r>
          </a:p>
          <a:p>
            <a:pPr marL="0" indent="0">
              <a:spcBef>
                <a:spcPts val="2500"/>
              </a:spcBef>
              <a:buFont typeface="Arial" panose="020B0604020202020204" pitchFamily="34" charset="0"/>
              <a:buNone/>
            </a:pPr>
            <a:r>
              <a:rPr lang="fr-FR" b="1" dirty="0"/>
              <a:t>Application de prédiction</a:t>
            </a:r>
          </a:p>
          <a:p>
            <a:pPr marL="0" lvl="1" indent="0">
              <a:buFont typeface="Arial" panose="020B0604020202020204" pitchFamily="34" charset="0"/>
              <a:buNone/>
            </a:pPr>
            <a:r>
              <a:rPr lang="fr-FR" dirty="0"/>
              <a:t>Déployer le modèle retenu pour prédire la nature de nouveaux billets scannés. </a:t>
            </a:r>
          </a:p>
        </p:txBody>
      </p:sp>
      <p:sp>
        <p:nvSpPr>
          <p:cNvPr id="6" name="Espace réservé du contenu 5">
            <a:extLst>
              <a:ext uri="{FF2B5EF4-FFF2-40B4-BE49-F238E27FC236}">
                <a16:creationId xmlns:a16="http://schemas.microsoft.com/office/drawing/2014/main" id="{01E79A30-8362-C600-C973-F438BD195A93}"/>
              </a:ext>
            </a:extLst>
          </p:cNvPr>
          <p:cNvSpPr>
            <a:spLocks noGrp="1"/>
          </p:cNvSpPr>
          <p:nvPr>
            <p:ph sz="half" idx="1"/>
          </p:nvPr>
        </p:nvSpPr>
        <p:spPr>
          <a:xfrm>
            <a:off x="498347" y="5268538"/>
            <a:ext cx="5166360" cy="1488513"/>
          </a:xfrm>
        </p:spPr>
        <p:txBody>
          <a:bodyPr/>
          <a:lstStyle/>
          <a:p>
            <a:pPr marL="0" indent="0">
              <a:buNone/>
            </a:pPr>
            <a:r>
              <a:rPr lang="fr-FR" dirty="0"/>
              <a:t>Le projet s’articule autour de quatre grandes étapes allant de l’analyse exploratoire à la mise en application du modèle final.</a:t>
            </a:r>
          </a:p>
        </p:txBody>
      </p:sp>
      <p:pic>
        <p:nvPicPr>
          <p:cNvPr id="8" name="Image 7" descr="Une image contenant cercle, diagramme, texte, conception&#10;&#10;Le contenu généré par l’IA peut être incorrect.">
            <a:extLst>
              <a:ext uri="{FF2B5EF4-FFF2-40B4-BE49-F238E27FC236}">
                <a16:creationId xmlns:a16="http://schemas.microsoft.com/office/drawing/2014/main" id="{0880ABD0-179E-B143-8728-623A08A40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3762" y="2070064"/>
            <a:ext cx="4528266" cy="2717866"/>
          </a:xfrm>
          <a:prstGeom prst="rect">
            <a:avLst/>
          </a:prstGeom>
        </p:spPr>
      </p:pic>
    </p:spTree>
    <p:extLst>
      <p:ext uri="{BB962C8B-B14F-4D97-AF65-F5344CB8AC3E}">
        <p14:creationId xmlns:p14="http://schemas.microsoft.com/office/powerpoint/2010/main" val="28339759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30" name="Rectangle 29">
            <a:extLst>
              <a:ext uri="{FF2B5EF4-FFF2-40B4-BE49-F238E27FC236}">
                <a16:creationId xmlns:a16="http://schemas.microsoft.com/office/drawing/2014/main" id="{4065D9BE-A58D-6E8A-D4A2-5056F3C5E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319E600A-A4F7-9276-909F-AF6615B688B8}"/>
              </a:ext>
            </a:extLst>
          </p:cNvPr>
          <p:cNvSpPr>
            <a:spLocks noGrp="1"/>
          </p:cNvSpPr>
          <p:nvPr>
            <p:ph type="title"/>
          </p:nvPr>
        </p:nvSpPr>
        <p:spPr>
          <a:xfrm>
            <a:off x="521208" y="978408"/>
            <a:ext cx="6263640" cy="1088141"/>
          </a:xfrm>
        </p:spPr>
        <p:txBody>
          <a:bodyPr vert="horz" lIns="91440" tIns="45720" rIns="91440" bIns="45720" rtlCol="0" anchor="t">
            <a:normAutofit/>
          </a:bodyPr>
          <a:lstStyle/>
          <a:p>
            <a:r>
              <a:rPr lang="en-US" sz="3100" b="1" kern="1200" dirty="0">
                <a:solidFill>
                  <a:schemeClr val="accent2">
                    <a:lumMod val="50000"/>
                  </a:schemeClr>
                </a:solidFill>
                <a:latin typeface="+mj-lt"/>
                <a:ea typeface="+mj-ea"/>
                <a:cs typeface="+mj-cs"/>
              </a:rPr>
              <a:t>Analyse exploratoire et qualité des données</a:t>
            </a:r>
          </a:p>
        </p:txBody>
      </p:sp>
      <p:sp>
        <p:nvSpPr>
          <p:cNvPr id="32" name="Freeform: Shape 31">
            <a:extLst>
              <a:ext uri="{FF2B5EF4-FFF2-40B4-BE49-F238E27FC236}">
                <a16:creationId xmlns:a16="http://schemas.microsoft.com/office/drawing/2014/main" id="{A745E793-BC99-8991-71CD-53FFBB6A8F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6260" cy="149279"/>
          </a:xfrm>
          <a:custGeom>
            <a:avLst/>
            <a:gdLst>
              <a:gd name="connsiteX0" fmla="*/ 0 w 11156260"/>
              <a:gd name="connsiteY0" fmla="*/ 0 h 149279"/>
              <a:gd name="connsiteX1" fmla="*/ 11156260 w 11156260"/>
              <a:gd name="connsiteY1" fmla="*/ 0 h 149279"/>
              <a:gd name="connsiteX2" fmla="*/ 11156260 w 11156260"/>
              <a:gd name="connsiteY2" fmla="*/ 149279 h 149279"/>
              <a:gd name="connsiteX3" fmla="*/ 0 w 11156260"/>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11156260" h="149279">
                <a:moveTo>
                  <a:pt x="0" y="0"/>
                </a:moveTo>
                <a:lnTo>
                  <a:pt x="11156260" y="0"/>
                </a:lnTo>
                <a:lnTo>
                  <a:pt x="11156260"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Espace réservé du contenu 3">
            <a:extLst>
              <a:ext uri="{FF2B5EF4-FFF2-40B4-BE49-F238E27FC236}">
                <a16:creationId xmlns:a16="http://schemas.microsoft.com/office/drawing/2014/main" id="{6CF6C83C-2667-37FE-A676-049DB87943F4}"/>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1208" y="2066549"/>
            <a:ext cx="5913459" cy="4639051"/>
          </a:xfrm>
        </p:spPr>
        <p:txBody>
          <a:bodyPr>
            <a:normAutofit fontScale="92500" lnSpcReduction="10000"/>
          </a:bodyPr>
          <a:lstStyle/>
          <a:p>
            <a:pPr marL="0" indent="0">
              <a:lnSpc>
                <a:spcPct val="100000"/>
              </a:lnSpc>
              <a:spcBef>
                <a:spcPts val="2500"/>
              </a:spcBef>
              <a:buNone/>
            </a:pPr>
            <a:r>
              <a:rPr lang="fr-FR" sz="1900" b="1" dirty="0"/>
              <a:t>Vérification du dataset</a:t>
            </a:r>
          </a:p>
          <a:p>
            <a:pPr marL="0" lvl="1" indent="0">
              <a:lnSpc>
                <a:spcPct val="100000"/>
              </a:lnSpc>
              <a:buNone/>
            </a:pPr>
            <a:r>
              <a:rPr lang="fr-FR" sz="1700" dirty="0"/>
              <a:t>Contrôle du type de variables, des doublons et des valeurs manquantes (margin_low identifié comme incomplète). </a:t>
            </a:r>
          </a:p>
          <a:p>
            <a:pPr marL="0" indent="0">
              <a:lnSpc>
                <a:spcPct val="100000"/>
              </a:lnSpc>
              <a:spcBef>
                <a:spcPts val="2500"/>
              </a:spcBef>
              <a:buFont typeface="Arial" panose="020B0604020202020204" pitchFamily="34" charset="0"/>
              <a:buNone/>
            </a:pPr>
            <a:r>
              <a:rPr lang="fr-FR" sz="1900" b="1" dirty="0"/>
              <a:t>Analyse des distributions</a:t>
            </a:r>
          </a:p>
          <a:p>
            <a:pPr marL="0" lvl="1" indent="0">
              <a:lnSpc>
                <a:spcPct val="100000"/>
              </a:lnSpc>
              <a:buFont typeface="Arial" panose="020B0604020202020204" pitchFamily="34" charset="0"/>
              <a:buNone/>
            </a:pPr>
            <a:r>
              <a:rPr lang="fr-FR" sz="1700" dirty="0"/>
              <a:t>Histogrammes réalisés pour observer la répartition et la forme des variables géométriques (majoritairement normales). </a:t>
            </a:r>
          </a:p>
          <a:p>
            <a:pPr marL="0" indent="0">
              <a:lnSpc>
                <a:spcPct val="100000"/>
              </a:lnSpc>
              <a:spcBef>
                <a:spcPts val="2500"/>
              </a:spcBef>
              <a:buFont typeface="Arial" panose="020B0604020202020204" pitchFamily="34" charset="0"/>
              <a:buNone/>
            </a:pPr>
            <a:r>
              <a:rPr lang="fr-FR" sz="1900" b="1" dirty="0"/>
              <a:t>Détection des outliers</a:t>
            </a:r>
          </a:p>
          <a:p>
            <a:pPr marL="0" lvl="1" indent="0">
              <a:lnSpc>
                <a:spcPct val="100000"/>
              </a:lnSpc>
              <a:buFont typeface="Arial" panose="020B0604020202020204" pitchFamily="34" charset="0"/>
              <a:buNone/>
            </a:pPr>
            <a:r>
              <a:rPr lang="fr-FR" sz="1700" dirty="0"/>
              <a:t>Boxplots utilisés pour repérer les valeurs extrêmes. </a:t>
            </a:r>
          </a:p>
          <a:p>
            <a:pPr marL="0" lvl="1" indent="0">
              <a:lnSpc>
                <a:spcPct val="100000"/>
              </a:lnSpc>
              <a:buFont typeface="Arial" panose="020B0604020202020204" pitchFamily="34" charset="0"/>
              <a:buNone/>
            </a:pPr>
            <a:endParaRPr lang="fr-FR" sz="1900" dirty="0"/>
          </a:p>
          <a:p>
            <a:pPr marL="0" lvl="1" indent="0">
              <a:lnSpc>
                <a:spcPct val="100000"/>
              </a:lnSpc>
              <a:buFont typeface="Arial" panose="020B0604020202020204" pitchFamily="34" charset="0"/>
              <a:buNone/>
            </a:pPr>
            <a:r>
              <a:rPr lang="fr-FR" sz="1900" b="1" dirty="0"/>
              <a:t>Corrélations et relations</a:t>
            </a:r>
          </a:p>
          <a:p>
            <a:pPr marL="0" lvl="1" indent="0">
              <a:lnSpc>
                <a:spcPct val="100000"/>
              </a:lnSpc>
              <a:buFontTx/>
              <a:buNone/>
            </a:pPr>
            <a:r>
              <a:rPr lang="fr-FR" sz="1700" dirty="0"/>
              <a:t>- Heatmap pour visualiser les corrélations entre mesures.</a:t>
            </a:r>
          </a:p>
          <a:p>
            <a:pPr marL="0" lvl="1" indent="0">
              <a:lnSpc>
                <a:spcPct val="100000"/>
              </a:lnSpc>
              <a:buFontTx/>
              <a:buNone/>
            </a:pPr>
            <a:r>
              <a:rPr lang="fr-FR" sz="1700" dirty="0"/>
              <a:t>- Pairplot pour observer les interactions entre variables selon la nature du billet.</a:t>
            </a:r>
            <a:br>
              <a:rPr lang="fr-FR" sz="1300" b="1" dirty="0"/>
            </a:br>
            <a:endParaRPr lang="fr-FR" sz="1300" b="1" dirty="0"/>
          </a:p>
        </p:txBody>
      </p:sp>
      <p:pic>
        <p:nvPicPr>
          <p:cNvPr id="6" name="Image 5" descr="Une image contenant texte, capture d’écran, nombre, carré&#10;&#10;Le contenu généré par l’IA peut être incorrect.">
            <a:extLst>
              <a:ext uri="{FF2B5EF4-FFF2-40B4-BE49-F238E27FC236}">
                <a16:creationId xmlns:a16="http://schemas.microsoft.com/office/drawing/2014/main" id="{F79E3C89-C3DE-5927-6606-6D41672911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56003" y="1522478"/>
            <a:ext cx="5490001" cy="4639050"/>
          </a:xfrm>
          <a:prstGeom prst="rect">
            <a:avLst/>
          </a:prstGeom>
        </p:spPr>
      </p:pic>
    </p:spTree>
    <p:extLst>
      <p:ext uri="{BB962C8B-B14F-4D97-AF65-F5344CB8AC3E}">
        <p14:creationId xmlns:p14="http://schemas.microsoft.com/office/powerpoint/2010/main" val="32995666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9EE42DCE-4A4F-44C4-84E5-261B3BEEF1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87BA5F9E-5054-1E7C-F9B9-7CB29CBA4BA0}"/>
              </a:ext>
            </a:extLst>
          </p:cNvPr>
          <p:cNvSpPr>
            <a:spLocks noGrp="1"/>
          </p:cNvSpPr>
          <p:nvPr>
            <p:ph type="title"/>
          </p:nvPr>
        </p:nvSpPr>
        <p:spPr>
          <a:xfrm>
            <a:off x="500636" y="771918"/>
            <a:ext cx="6878659" cy="1463040"/>
          </a:xfrm>
        </p:spPr>
        <p:txBody>
          <a:bodyPr vert="horz" lIns="91440" tIns="45720" rIns="91440" bIns="45720" rtlCol="0" anchor="t">
            <a:normAutofit/>
          </a:bodyPr>
          <a:lstStyle/>
          <a:p>
            <a:pPr>
              <a:lnSpc>
                <a:spcPct val="90000"/>
              </a:lnSpc>
            </a:pPr>
            <a:r>
              <a:rPr lang="en-US" sz="3100" b="1" kern="1200" dirty="0">
                <a:solidFill>
                  <a:schemeClr val="accent2">
                    <a:lumMod val="50000"/>
                  </a:schemeClr>
                </a:solidFill>
                <a:latin typeface="+mj-lt"/>
                <a:ea typeface="+mj-ea"/>
                <a:cs typeface="+mj-cs"/>
              </a:rPr>
              <a:t>Imputation de la variable</a:t>
            </a:r>
            <a:r>
              <a:rPr lang="en-US" sz="3100" dirty="0">
                <a:solidFill>
                  <a:schemeClr val="accent2">
                    <a:lumMod val="50000"/>
                  </a:schemeClr>
                </a:solidFill>
              </a:rPr>
              <a:t> manquante</a:t>
            </a:r>
            <a:r>
              <a:rPr lang="en-US" sz="3100" b="1" kern="1200" dirty="0">
                <a:solidFill>
                  <a:schemeClr val="accent2">
                    <a:lumMod val="50000"/>
                  </a:schemeClr>
                </a:solidFill>
                <a:latin typeface="+mj-lt"/>
                <a:ea typeface="+mj-ea"/>
                <a:cs typeface="+mj-cs"/>
              </a:rPr>
              <a:t> margin_low par régression linéaire</a:t>
            </a:r>
          </a:p>
        </p:txBody>
      </p:sp>
      <p:sp>
        <p:nvSpPr>
          <p:cNvPr id="14" name="Rectangle 13">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2982"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Espace réservé du contenu 3">
            <a:extLst>
              <a:ext uri="{FF2B5EF4-FFF2-40B4-BE49-F238E27FC236}">
                <a16:creationId xmlns:a16="http://schemas.microsoft.com/office/drawing/2014/main" id="{05AE11B5-FE97-5B83-C891-AD2B5A8882C3}"/>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0635" y="1898648"/>
            <a:ext cx="6520809" cy="4823885"/>
          </a:xfrm>
        </p:spPr>
        <p:txBody>
          <a:bodyPr>
            <a:normAutofit fontScale="92500" lnSpcReduction="10000"/>
          </a:bodyPr>
          <a:lstStyle/>
          <a:p>
            <a:pPr marL="0" indent="0">
              <a:spcBef>
                <a:spcPts val="2500"/>
              </a:spcBef>
              <a:buFont typeface="Arial" panose="020B0604020202020204" pitchFamily="34" charset="0"/>
              <a:buNone/>
            </a:pPr>
            <a:r>
              <a:rPr lang="fr-FR" b="1" dirty="0"/>
              <a:t>Objectif </a:t>
            </a:r>
          </a:p>
          <a:p>
            <a:pPr marL="0" lvl="1" indent="0">
              <a:buNone/>
            </a:pPr>
            <a:r>
              <a:rPr lang="fr-FR" sz="1700" dirty="0"/>
              <a:t>« margin_low » contenait 37 valeurs manquantes sur 1500 observations. Pour garantir un dataset complet et fiable, ces valeurs ont été estimées par </a:t>
            </a:r>
            <a:r>
              <a:rPr lang="fr-FR" sz="1700" dirty="0">
                <a:solidFill>
                  <a:schemeClr val="accent2">
                    <a:lumMod val="50000"/>
                  </a:schemeClr>
                </a:solidFill>
              </a:rPr>
              <a:t>régression linéaire</a:t>
            </a:r>
            <a:r>
              <a:rPr lang="fr-FR" sz="1700" dirty="0"/>
              <a:t>.</a:t>
            </a:r>
          </a:p>
          <a:p>
            <a:pPr marL="0" indent="0">
              <a:spcBef>
                <a:spcPts val="2500"/>
              </a:spcBef>
              <a:buNone/>
            </a:pPr>
            <a:r>
              <a:rPr lang="fr-FR" b="1" dirty="0"/>
              <a:t>Principe de la méthode</a:t>
            </a:r>
          </a:p>
          <a:p>
            <a:pPr marL="0" lvl="1" indent="0">
              <a:buFont typeface="Arial" panose="020B0604020202020204" pitchFamily="34" charset="0"/>
              <a:buNone/>
            </a:pPr>
            <a:r>
              <a:rPr lang="fr-FR" dirty="0"/>
              <a:t> </a:t>
            </a:r>
            <a:r>
              <a:rPr lang="fr-FR" sz="1700" dirty="0"/>
              <a:t>La régression linéaire cherche à modéliser la relation entre une variable cible et les autres variables numériques. </a:t>
            </a:r>
            <a:br>
              <a:rPr lang="fr-FR" sz="1700" dirty="0"/>
            </a:br>
            <a:r>
              <a:rPr lang="fr-FR" sz="1700" dirty="0"/>
              <a:t>Ici, elle a été utilisée pour prédire « margin_low » à partir d’autres caractéristiques géométriques du billet (lenght, height_right, etc.). </a:t>
            </a:r>
          </a:p>
          <a:p>
            <a:pPr marL="0" indent="0">
              <a:spcBef>
                <a:spcPts val="2500"/>
              </a:spcBef>
              <a:buNone/>
            </a:pPr>
            <a:r>
              <a:rPr lang="fr-FR" b="1" dirty="0"/>
              <a:t>Vérification des résultats</a:t>
            </a:r>
            <a:br>
              <a:rPr lang="fr-FR" b="1" dirty="0"/>
            </a:br>
            <a:r>
              <a:rPr lang="fr-FR" b="1" dirty="0"/>
              <a:t>- </a:t>
            </a:r>
            <a:r>
              <a:rPr lang="fr-FR" sz="1700" dirty="0"/>
              <a:t>Les valeurs prédites ont été ajoutées au </a:t>
            </a:r>
            <a:r>
              <a:rPr lang="fr-FR" sz="1700" dirty="0" err="1"/>
              <a:t>dataset</a:t>
            </a:r>
            <a:r>
              <a:rPr lang="fr-FR" sz="1700" dirty="0"/>
              <a:t> initial.</a:t>
            </a:r>
            <a:br>
              <a:rPr lang="fr-FR" sz="1700" dirty="0"/>
            </a:br>
            <a:r>
              <a:rPr lang="fr-FR" sz="1700" dirty="0"/>
              <a:t>- La distribution après imputation reste cohérente avec la tendance initiale.</a:t>
            </a:r>
            <a:br>
              <a:rPr lang="fr-FR" sz="1700" dirty="0"/>
            </a:br>
            <a:r>
              <a:rPr lang="fr-FR" sz="1700" dirty="0"/>
              <a:t>- Les hypothèses statistiques de la régression (normalité, homoscédasticité) ont été testées et discutées séparément.</a:t>
            </a:r>
          </a:p>
        </p:txBody>
      </p:sp>
      <p:pic>
        <p:nvPicPr>
          <p:cNvPr id="8" name="Image 7" descr="Une image contenant diagramme, Tracé, capture d’écran, ligne&#10;&#10;Le contenu généré par l’IA peut être incorrect.">
            <a:extLst>
              <a:ext uri="{FF2B5EF4-FFF2-40B4-BE49-F238E27FC236}">
                <a16:creationId xmlns:a16="http://schemas.microsoft.com/office/drawing/2014/main" id="{2C5FA5B2-7CA8-6338-0D47-0420E3C094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21445" y="2234958"/>
            <a:ext cx="4946914" cy="3602743"/>
          </a:xfrm>
          <a:prstGeom prst="rect">
            <a:avLst/>
          </a:prstGeom>
        </p:spPr>
      </p:pic>
    </p:spTree>
    <p:extLst>
      <p:ext uri="{BB962C8B-B14F-4D97-AF65-F5344CB8AC3E}">
        <p14:creationId xmlns:p14="http://schemas.microsoft.com/office/powerpoint/2010/main" val="28271569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34C0330F-1D4F-4552-B799-615DD237B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sp>
        <p:nvSpPr>
          <p:cNvPr id="2" name="Titre 1">
            <a:extLst>
              <a:ext uri="{FF2B5EF4-FFF2-40B4-BE49-F238E27FC236}">
                <a16:creationId xmlns:a16="http://schemas.microsoft.com/office/drawing/2014/main" id="{61A4B9B3-A49E-0A8A-4208-AE361760079E}"/>
              </a:ext>
            </a:extLst>
          </p:cNvPr>
          <p:cNvSpPr>
            <a:spLocks noGrp="1"/>
          </p:cNvSpPr>
          <p:nvPr>
            <p:ph type="title"/>
          </p:nvPr>
        </p:nvSpPr>
        <p:spPr>
          <a:xfrm>
            <a:off x="517869" y="873495"/>
            <a:ext cx="11453998" cy="625869"/>
          </a:xfrm>
        </p:spPr>
        <p:txBody>
          <a:bodyPr vert="horz" lIns="91440" tIns="45720" rIns="91440" bIns="45720" rtlCol="0" anchor="t">
            <a:normAutofit/>
          </a:bodyPr>
          <a:lstStyle/>
          <a:p>
            <a:pPr>
              <a:lnSpc>
                <a:spcPct val="90000"/>
              </a:lnSpc>
            </a:pPr>
            <a:r>
              <a:rPr lang="en-US" sz="3100" b="1" kern="1200" dirty="0">
                <a:solidFill>
                  <a:schemeClr val="accent2">
                    <a:lumMod val="50000"/>
                  </a:schemeClr>
                </a:solidFill>
                <a:latin typeface="+mj-lt"/>
                <a:ea typeface="+mj-ea"/>
                <a:cs typeface="+mj-cs"/>
              </a:rPr>
              <a:t>Préparation des données</a:t>
            </a:r>
            <a:r>
              <a:rPr lang="en-US" sz="3100" dirty="0">
                <a:solidFill>
                  <a:schemeClr val="accent2">
                    <a:lumMod val="50000"/>
                  </a:schemeClr>
                </a:solidFill>
              </a:rPr>
              <a:t> : separation et standardisation</a:t>
            </a:r>
            <a:endParaRPr lang="en-US" sz="3100" b="1" kern="1200" dirty="0">
              <a:solidFill>
                <a:schemeClr val="accent2">
                  <a:lumMod val="50000"/>
                </a:schemeClr>
              </a:solidFill>
              <a:latin typeface="+mj-lt"/>
              <a:ea typeface="+mj-ea"/>
              <a:cs typeface="+mj-cs"/>
            </a:endParaRPr>
          </a:p>
        </p:txBody>
      </p:sp>
      <p:sp>
        <p:nvSpPr>
          <p:cNvPr id="14" name="Rectangle 13">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467296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11" name="Graphique 10" descr="Déconnecté avec un remplissage uni">
            <a:extLst>
              <a:ext uri="{FF2B5EF4-FFF2-40B4-BE49-F238E27FC236}">
                <a16:creationId xmlns:a16="http://schemas.microsoft.com/office/drawing/2014/main" id="{5E8D6393-61B0-CBE6-975A-04B4545BB2C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7869" y="1550081"/>
            <a:ext cx="914400" cy="935228"/>
          </a:xfrm>
          <a:prstGeom prst="rect">
            <a:avLst/>
          </a:prstGeom>
        </p:spPr>
      </p:pic>
      <p:sp>
        <p:nvSpPr>
          <p:cNvPr id="13" name="ZoneTexte 12">
            <a:extLst>
              <a:ext uri="{FF2B5EF4-FFF2-40B4-BE49-F238E27FC236}">
                <a16:creationId xmlns:a16="http://schemas.microsoft.com/office/drawing/2014/main" id="{AA27002B-EFEB-BF75-CBBC-CABC3F2E4797}"/>
              </a:ext>
            </a:extLst>
          </p:cNvPr>
          <p:cNvSpPr txBox="1"/>
          <p:nvPr/>
        </p:nvSpPr>
        <p:spPr>
          <a:xfrm>
            <a:off x="1474295" y="1650247"/>
            <a:ext cx="7704667" cy="861774"/>
          </a:xfrm>
          <a:prstGeom prst="rect">
            <a:avLst/>
          </a:prstGeom>
          <a:noFill/>
        </p:spPr>
        <p:txBody>
          <a:bodyPr wrap="square" rtlCol="0">
            <a:spAutoFit/>
          </a:bodyPr>
          <a:lstStyle/>
          <a:p>
            <a:r>
              <a:rPr lang="fr-FR" b="1" dirty="0"/>
              <a:t>Séparation des variables</a:t>
            </a:r>
          </a:p>
          <a:p>
            <a:pPr marL="285750" lvl="1" indent="-285750">
              <a:buFontTx/>
              <a:buChar char="-"/>
            </a:pPr>
            <a:r>
              <a:rPr lang="en-US" sz="1600" dirty="0"/>
              <a:t>Les </a:t>
            </a:r>
            <a:r>
              <a:rPr lang="en-US" sz="1600" dirty="0">
                <a:solidFill>
                  <a:schemeClr val="accent2">
                    <a:lumMod val="50000"/>
                  </a:schemeClr>
                </a:solidFill>
              </a:rPr>
              <a:t>variables explicatives (X) </a:t>
            </a:r>
            <a:r>
              <a:rPr lang="en-US" sz="1600" dirty="0"/>
              <a:t>regroupent les six mesures géométriques .</a:t>
            </a:r>
          </a:p>
          <a:p>
            <a:pPr marL="285750" lvl="1" indent="-285750">
              <a:buFontTx/>
              <a:buChar char="-"/>
            </a:pPr>
            <a:r>
              <a:rPr lang="fr-FR" sz="1600" dirty="0"/>
              <a:t>La </a:t>
            </a:r>
            <a:r>
              <a:rPr lang="fr-FR" sz="1600" dirty="0">
                <a:solidFill>
                  <a:schemeClr val="accent2">
                    <a:lumMod val="50000"/>
                  </a:schemeClr>
                </a:solidFill>
              </a:rPr>
              <a:t>variable cible (y) </a:t>
            </a:r>
            <a:r>
              <a:rPr lang="fr-FR" sz="1600" dirty="0"/>
              <a:t>correspond à is_genuine, indiquant si le billet est vrai ou faux.</a:t>
            </a:r>
          </a:p>
        </p:txBody>
      </p:sp>
      <p:pic>
        <p:nvPicPr>
          <p:cNvPr id="16" name="Graphique 15" descr="Ciseaux avec un remplissage uni">
            <a:extLst>
              <a:ext uri="{FF2B5EF4-FFF2-40B4-BE49-F238E27FC236}">
                <a16:creationId xmlns:a16="http://schemas.microsoft.com/office/drawing/2014/main" id="{4089A79B-4A01-0904-3576-5295E9D8DBE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07454" y="2690323"/>
            <a:ext cx="914400" cy="914400"/>
          </a:xfrm>
          <a:prstGeom prst="rect">
            <a:avLst/>
          </a:prstGeom>
        </p:spPr>
      </p:pic>
      <p:sp>
        <p:nvSpPr>
          <p:cNvPr id="17" name="ZoneTexte 16">
            <a:extLst>
              <a:ext uri="{FF2B5EF4-FFF2-40B4-BE49-F238E27FC236}">
                <a16:creationId xmlns:a16="http://schemas.microsoft.com/office/drawing/2014/main" id="{32AC6C64-B1AD-8682-192E-9E9689A4A682}"/>
              </a:ext>
            </a:extLst>
          </p:cNvPr>
          <p:cNvSpPr txBox="1"/>
          <p:nvPr/>
        </p:nvSpPr>
        <p:spPr>
          <a:xfrm>
            <a:off x="1474295" y="2690323"/>
            <a:ext cx="8226189" cy="1107996"/>
          </a:xfrm>
          <a:prstGeom prst="rect">
            <a:avLst/>
          </a:prstGeom>
          <a:noFill/>
        </p:spPr>
        <p:txBody>
          <a:bodyPr wrap="square" rtlCol="0">
            <a:spAutoFit/>
          </a:bodyPr>
          <a:lstStyle/>
          <a:p>
            <a:pPr>
              <a:spcBef>
                <a:spcPts val="2500"/>
              </a:spcBef>
            </a:pPr>
            <a:r>
              <a:rPr lang="fr-FR" b="1" dirty="0"/>
              <a:t>Découpage des données</a:t>
            </a:r>
          </a:p>
          <a:p>
            <a:pPr marL="0" lvl="1" indent="0">
              <a:buNone/>
            </a:pPr>
            <a:r>
              <a:rPr lang="fr-FR" sz="1600" dirty="0"/>
              <a:t>Les données sont divisées en deux ensembles :</a:t>
            </a:r>
            <a:br>
              <a:rPr lang="fr-FR" sz="1600" dirty="0"/>
            </a:br>
            <a:r>
              <a:rPr lang="fr-FR" sz="1600" dirty="0"/>
              <a:t>-</a:t>
            </a:r>
            <a:r>
              <a:rPr lang="fr-FR" sz="1600" dirty="0">
                <a:solidFill>
                  <a:schemeClr val="accent2">
                    <a:lumMod val="50000"/>
                  </a:schemeClr>
                </a:solidFill>
              </a:rPr>
              <a:t> Entraînement </a:t>
            </a:r>
            <a:r>
              <a:rPr lang="fr-FR" sz="1600" dirty="0"/>
              <a:t>: 80 % (1 200 observations)</a:t>
            </a:r>
          </a:p>
          <a:p>
            <a:pPr marL="0" lvl="1" indent="0">
              <a:buNone/>
            </a:pPr>
            <a:r>
              <a:rPr lang="fr-FR" sz="1600" dirty="0"/>
              <a:t>- </a:t>
            </a:r>
            <a:r>
              <a:rPr lang="fr-FR" sz="1600" dirty="0">
                <a:solidFill>
                  <a:schemeClr val="accent2">
                    <a:lumMod val="50000"/>
                  </a:schemeClr>
                </a:solidFill>
              </a:rPr>
              <a:t>Test</a:t>
            </a:r>
            <a:r>
              <a:rPr lang="fr-FR" sz="1600" dirty="0"/>
              <a:t> : 20 % (300 observations)</a:t>
            </a:r>
          </a:p>
        </p:txBody>
      </p:sp>
      <p:pic>
        <p:nvPicPr>
          <p:cNvPr id="21" name="Graphique 20" descr="Balance de la justice avec un remplissage uni">
            <a:extLst>
              <a:ext uri="{FF2B5EF4-FFF2-40B4-BE49-F238E27FC236}">
                <a16:creationId xmlns:a16="http://schemas.microsoft.com/office/drawing/2014/main" id="{19C4FB28-38DE-3922-00BE-853CB6F48C1B}"/>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517869" y="4111437"/>
            <a:ext cx="914400" cy="914400"/>
          </a:xfrm>
          <a:prstGeom prst="rect">
            <a:avLst/>
          </a:prstGeom>
        </p:spPr>
      </p:pic>
      <p:sp>
        <p:nvSpPr>
          <p:cNvPr id="22" name="ZoneTexte 21">
            <a:extLst>
              <a:ext uri="{FF2B5EF4-FFF2-40B4-BE49-F238E27FC236}">
                <a16:creationId xmlns:a16="http://schemas.microsoft.com/office/drawing/2014/main" id="{54065ED7-7ABB-A5D7-4653-07744B2ABF87}"/>
              </a:ext>
            </a:extLst>
          </p:cNvPr>
          <p:cNvSpPr txBox="1"/>
          <p:nvPr/>
        </p:nvSpPr>
        <p:spPr>
          <a:xfrm>
            <a:off x="1442683" y="4147390"/>
            <a:ext cx="7704667" cy="1107996"/>
          </a:xfrm>
          <a:prstGeom prst="rect">
            <a:avLst/>
          </a:prstGeom>
          <a:noFill/>
        </p:spPr>
        <p:txBody>
          <a:bodyPr wrap="square" rtlCol="0">
            <a:spAutoFit/>
          </a:bodyPr>
          <a:lstStyle/>
          <a:p>
            <a:r>
              <a:rPr lang="fr-FR" b="1" dirty="0"/>
              <a:t>Standardisation</a:t>
            </a:r>
          </a:p>
          <a:p>
            <a:pPr marL="0" lvl="1"/>
            <a:r>
              <a:rPr lang="fr-FR" sz="1600" dirty="0"/>
              <a:t>Les variables sont </a:t>
            </a:r>
            <a:r>
              <a:rPr lang="fr-FR" sz="1600" dirty="0">
                <a:solidFill>
                  <a:schemeClr val="accent2">
                    <a:lumMod val="50000"/>
                  </a:schemeClr>
                </a:solidFill>
              </a:rPr>
              <a:t>centrées et réduites </a:t>
            </a:r>
            <a:r>
              <a:rPr lang="fr-FR" sz="1600" dirty="0"/>
              <a:t>(moyenne = 0, écart-type = 1)</a:t>
            </a:r>
            <a:br>
              <a:rPr lang="fr-FR" sz="1600" dirty="0"/>
            </a:br>
            <a:r>
              <a:rPr lang="fr-FR" sz="1600" dirty="0"/>
              <a:t>afin de rendre les échelles comparables, notamment pour les algorithmes sensibles aux distances comme </a:t>
            </a:r>
            <a:r>
              <a:rPr lang="fr-FR" sz="1600" dirty="0">
                <a:solidFill>
                  <a:schemeClr val="accent2">
                    <a:lumMod val="50000"/>
                  </a:schemeClr>
                </a:solidFill>
              </a:rPr>
              <a:t>KNN</a:t>
            </a:r>
            <a:r>
              <a:rPr lang="fr-FR" sz="1600" dirty="0"/>
              <a:t>.</a:t>
            </a:r>
          </a:p>
        </p:txBody>
      </p:sp>
      <p:pic>
        <p:nvPicPr>
          <p:cNvPr id="24" name="Graphique 23" descr="Présentation avec liste de vérification avec un remplissage uni">
            <a:extLst>
              <a:ext uri="{FF2B5EF4-FFF2-40B4-BE49-F238E27FC236}">
                <a16:creationId xmlns:a16="http://schemas.microsoft.com/office/drawing/2014/main" id="{BB8072BD-40FB-B2CF-2EC6-B84F8E62632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07454" y="5589076"/>
            <a:ext cx="935229" cy="935229"/>
          </a:xfrm>
          <a:prstGeom prst="rect">
            <a:avLst/>
          </a:prstGeom>
        </p:spPr>
      </p:pic>
      <p:sp>
        <p:nvSpPr>
          <p:cNvPr id="25" name="ZoneTexte 24">
            <a:extLst>
              <a:ext uri="{FF2B5EF4-FFF2-40B4-BE49-F238E27FC236}">
                <a16:creationId xmlns:a16="http://schemas.microsoft.com/office/drawing/2014/main" id="{ACE46D1F-3BB7-9549-D329-AD0FC2A20AEE}"/>
              </a:ext>
            </a:extLst>
          </p:cNvPr>
          <p:cNvSpPr txBox="1"/>
          <p:nvPr/>
        </p:nvSpPr>
        <p:spPr>
          <a:xfrm>
            <a:off x="1474295" y="5519431"/>
            <a:ext cx="7704667" cy="1107996"/>
          </a:xfrm>
          <a:prstGeom prst="rect">
            <a:avLst/>
          </a:prstGeom>
          <a:noFill/>
        </p:spPr>
        <p:txBody>
          <a:bodyPr wrap="square" rtlCol="0">
            <a:spAutoFit/>
          </a:bodyPr>
          <a:lstStyle/>
          <a:p>
            <a:r>
              <a:rPr lang="fr-FR" b="1" dirty="0"/>
              <a:t>Vérification finale</a:t>
            </a:r>
          </a:p>
          <a:p>
            <a:r>
              <a:rPr lang="fr-FR" sz="1600" dirty="0"/>
              <a:t>Moyenne du jeu d’entraînement : [0, 0, 0, 0, 0, 0]</a:t>
            </a:r>
            <a:br>
              <a:rPr lang="fr-FR" sz="1600" dirty="0"/>
            </a:br>
            <a:r>
              <a:rPr lang="fr-FR" sz="1600" dirty="0"/>
              <a:t>Écart-type du jeu d’entraînement : [1, 1, 1, 1, 1, 1]</a:t>
            </a:r>
            <a:br>
              <a:rPr lang="fr-FR" sz="1600" dirty="0"/>
            </a:br>
            <a:r>
              <a:rPr lang="fr-FR" sz="1600" dirty="0"/>
              <a:t>→ Les variables sont prêtes pour la modélisation.</a:t>
            </a:r>
          </a:p>
        </p:txBody>
      </p:sp>
    </p:spTree>
    <p:extLst>
      <p:ext uri="{BB962C8B-B14F-4D97-AF65-F5344CB8AC3E}">
        <p14:creationId xmlns:p14="http://schemas.microsoft.com/office/powerpoint/2010/main" val="210196443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E8A4417D-BB7D-7B81-DF6C-01CB8BCC2672}"/>
              </a:ext>
            </a:extLst>
          </p:cNvPr>
          <p:cNvSpPr>
            <a:spLocks noGrp="1"/>
          </p:cNvSpPr>
          <p:nvPr>
            <p:ph type="title"/>
          </p:nvPr>
        </p:nvSpPr>
        <p:spPr>
          <a:xfrm>
            <a:off x="524256" y="974683"/>
            <a:ext cx="5286925" cy="1087459"/>
          </a:xfrm>
        </p:spPr>
        <p:txBody>
          <a:bodyPr vert="horz" lIns="91440" tIns="45720" rIns="91440" bIns="45720" rtlCol="0" anchor="t">
            <a:normAutofit/>
          </a:bodyPr>
          <a:lstStyle/>
          <a:p>
            <a:pPr>
              <a:lnSpc>
                <a:spcPct val="90000"/>
              </a:lnSpc>
            </a:pPr>
            <a:r>
              <a:rPr lang="en-US" sz="2800" b="1" kern="1200" dirty="0">
                <a:solidFill>
                  <a:schemeClr val="accent2">
                    <a:lumMod val="50000"/>
                  </a:schemeClr>
                </a:solidFill>
                <a:latin typeface="+mj-lt"/>
                <a:ea typeface="+mj-ea"/>
                <a:cs typeface="+mj-cs"/>
              </a:rPr>
              <a:t>Présentation et rôle des quatre modèles testés</a:t>
            </a:r>
          </a:p>
        </p:txBody>
      </p:sp>
      <p:sp>
        <p:nvSpPr>
          <p:cNvPr id="14" name="Rectangle 13">
            <a:extLst>
              <a:ext uri="{FF2B5EF4-FFF2-40B4-BE49-F238E27FC236}">
                <a16:creationId xmlns:a16="http://schemas.microsoft.com/office/drawing/2014/main" id="{B3367C65-B72C-202E-98A7-9B20F8F2F5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7" y="508090"/>
            <a:ext cx="502005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6" name="Rectangle 15">
            <a:extLst>
              <a:ext uri="{FF2B5EF4-FFF2-40B4-BE49-F238E27FC236}">
                <a16:creationId xmlns:a16="http://schemas.microsoft.com/office/drawing/2014/main" id="{AE558C32-DE71-E6B3-A032-D3EA9CB0FC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66463" y="611650"/>
            <a:ext cx="5504688"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5" name="Espace réservé du contenu 4">
            <a:extLst>
              <a:ext uri="{FF2B5EF4-FFF2-40B4-BE49-F238E27FC236}">
                <a16:creationId xmlns:a16="http://schemas.microsoft.com/office/drawing/2014/main" id="{BB77FA88-FB55-4BAE-BE66-1784AFEE0C4B}"/>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rcRect t="15027" b="15027"/>
          <a:stretch/>
        </p:blipFill>
        <p:spPr>
          <a:xfrm>
            <a:off x="430860" y="2211421"/>
            <a:ext cx="5473716" cy="3828610"/>
          </a:xfrm>
          <a:prstGeom prst="rect">
            <a:avLst/>
          </a:prstGeom>
        </p:spPr>
      </p:pic>
      <p:sp>
        <p:nvSpPr>
          <p:cNvPr id="6" name="Rectangle 2">
            <a:extLst>
              <a:ext uri="{FF2B5EF4-FFF2-40B4-BE49-F238E27FC236}">
                <a16:creationId xmlns:a16="http://schemas.microsoft.com/office/drawing/2014/main" id="{AAEBAE40-6268-073D-4EBD-84C2E61EEF3D}"/>
              </a:ext>
            </a:extLst>
          </p:cNvPr>
          <p:cNvSpPr>
            <a:spLocks noGrp="1" noChangeArrowheads="1"/>
          </p:cNvSpPr>
          <p:nvPr>
            <p:ph sz="half" idx="2"/>
          </p:nvPr>
        </p:nvSpPr>
        <p:spPr bwMode="auto">
          <a:xfrm>
            <a:off x="6166463" y="859693"/>
            <a:ext cx="5504688"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600" b="1" i="0" u="none" strike="noStrike" cap="none" normalizeH="0" baseline="0" dirty="0">
                <a:ln>
                  <a:noFill/>
                </a:ln>
                <a:solidFill>
                  <a:schemeClr val="tx1"/>
                </a:solidFill>
                <a:effectLst/>
              </a:rPr>
              <a:t> K-Means (non supervisé)</a:t>
            </a:r>
            <a:br>
              <a:rPr kumimoji="0" lang="fr-FR" altLang="fr-FR" sz="1600" b="0" i="0" u="none" strike="noStrike" cap="none" normalizeH="0" baseline="0" dirty="0">
                <a:ln>
                  <a:noFill/>
                </a:ln>
                <a:solidFill>
                  <a:schemeClr val="tx1"/>
                </a:solidFill>
                <a:effectLst/>
              </a:rPr>
            </a:br>
            <a:r>
              <a:rPr kumimoji="0" lang="fr-FR" altLang="fr-FR" sz="1600" b="0" i="0" u="none" strike="noStrike" cap="none" normalizeH="0" baseline="0" dirty="0">
                <a:ln>
                  <a:noFill/>
                </a:ln>
                <a:solidFill>
                  <a:schemeClr val="tx1"/>
                </a:solidFill>
                <a:effectLst/>
              </a:rPr>
              <a:t>Regroupe les billets selon leurs similarités géométriques.</a:t>
            </a:r>
            <a:br>
              <a:rPr kumimoji="0" lang="fr-FR" altLang="fr-FR" sz="1600" b="0" i="0" u="none" strike="noStrike" cap="none" normalizeH="0" baseline="0" dirty="0">
                <a:ln>
                  <a:noFill/>
                </a:ln>
                <a:solidFill>
                  <a:schemeClr val="tx1"/>
                </a:solidFill>
                <a:effectLst/>
              </a:rPr>
            </a:br>
            <a:r>
              <a:rPr kumimoji="0" lang="fr-FR" altLang="fr-FR" sz="1600" b="0" i="0" u="none" strike="noStrike" cap="none" normalizeH="0" baseline="0" dirty="0">
                <a:ln>
                  <a:noFill/>
                </a:ln>
                <a:solidFill>
                  <a:schemeClr val="tx1"/>
                </a:solidFill>
                <a:effectLst/>
              </a:rPr>
              <a:t>→ Permet d’observer si les vrais et faux billets se séparent naturellement sans connaître leur étiquette.</a:t>
            </a:r>
            <a:br>
              <a:rPr kumimoji="0" lang="fr-FR" altLang="fr-FR" sz="1600" b="0" i="0" u="none" strike="noStrike" cap="none" normalizeH="0" baseline="0" dirty="0">
                <a:ln>
                  <a:noFill/>
                </a:ln>
                <a:solidFill>
                  <a:schemeClr val="tx1"/>
                </a:solidFill>
                <a:effectLst/>
              </a:rPr>
            </a:br>
            <a:endParaRPr kumimoji="0" lang="fr-FR" altLang="fr-FR"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600" b="1" i="0" u="none" strike="noStrike" cap="none" normalizeH="0" baseline="0" dirty="0">
                <a:ln>
                  <a:noFill/>
                </a:ln>
                <a:solidFill>
                  <a:schemeClr val="tx1"/>
                </a:solidFill>
                <a:effectLst/>
              </a:rPr>
              <a:t> KNN (K-Nearest Neighbors)</a:t>
            </a:r>
            <a:br>
              <a:rPr kumimoji="0" lang="fr-FR" altLang="fr-FR" sz="1600" b="0" i="0" u="none" strike="noStrike" cap="none" normalizeH="0" baseline="0" dirty="0">
                <a:ln>
                  <a:noFill/>
                </a:ln>
                <a:solidFill>
                  <a:schemeClr val="tx1"/>
                </a:solidFill>
                <a:effectLst/>
              </a:rPr>
            </a:br>
            <a:r>
              <a:rPr kumimoji="0" lang="fr-FR" altLang="fr-FR" sz="1600" b="0" i="0" u="none" strike="noStrike" cap="none" normalizeH="0" baseline="0" dirty="0">
                <a:ln>
                  <a:noFill/>
                </a:ln>
                <a:solidFill>
                  <a:schemeClr val="tx1"/>
                </a:solidFill>
                <a:effectLst/>
              </a:rPr>
              <a:t>Classe un billet selon les catégories de ses plus proches voisins.</a:t>
            </a:r>
            <a:br>
              <a:rPr kumimoji="0" lang="fr-FR" altLang="fr-FR" sz="1600" b="0" i="0" u="none" strike="noStrike" cap="none" normalizeH="0" baseline="0" dirty="0">
                <a:ln>
                  <a:noFill/>
                </a:ln>
                <a:solidFill>
                  <a:schemeClr val="tx1"/>
                </a:solidFill>
                <a:effectLst/>
              </a:rPr>
            </a:br>
            <a:r>
              <a:rPr kumimoji="0" lang="fr-FR" altLang="fr-FR" sz="1600" b="0" i="0" u="none" strike="noStrike" cap="none" normalizeH="0" baseline="0" dirty="0">
                <a:ln>
                  <a:noFill/>
                </a:ln>
                <a:solidFill>
                  <a:schemeClr val="tx1"/>
                </a:solidFill>
                <a:effectLst/>
              </a:rPr>
              <a:t>→ Méthode simple et efficace pour ce type de données géométriques.</a:t>
            </a:r>
            <a:br>
              <a:rPr kumimoji="0" lang="fr-FR" altLang="fr-FR" sz="1600" b="0" i="0" u="none" strike="noStrike" cap="none" normalizeH="0" baseline="0" dirty="0">
                <a:ln>
                  <a:noFill/>
                </a:ln>
                <a:solidFill>
                  <a:schemeClr val="tx1"/>
                </a:solidFill>
                <a:effectLst/>
              </a:rPr>
            </a:br>
            <a:endParaRPr kumimoji="0" lang="fr-FR" altLang="fr-FR"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600" b="1" i="0" u="none" strike="noStrike" cap="none" normalizeH="0" baseline="0" dirty="0">
                <a:ln>
                  <a:noFill/>
                </a:ln>
                <a:solidFill>
                  <a:schemeClr val="tx1"/>
                </a:solidFill>
                <a:effectLst/>
              </a:rPr>
              <a:t> Régression logistique</a:t>
            </a:r>
            <a:br>
              <a:rPr kumimoji="0" lang="fr-FR" altLang="fr-FR" sz="1600" b="0" i="0" u="none" strike="noStrike" cap="none" normalizeH="0" baseline="0" dirty="0">
                <a:ln>
                  <a:noFill/>
                </a:ln>
                <a:solidFill>
                  <a:schemeClr val="tx1"/>
                </a:solidFill>
                <a:effectLst/>
              </a:rPr>
            </a:br>
            <a:r>
              <a:rPr kumimoji="0" lang="fr-FR" altLang="fr-FR" sz="1600" b="0" i="0" u="none" strike="noStrike" cap="none" normalizeH="0" baseline="0" dirty="0">
                <a:ln>
                  <a:noFill/>
                </a:ln>
                <a:solidFill>
                  <a:schemeClr val="tx1"/>
                </a:solidFill>
                <a:effectLst/>
              </a:rPr>
              <a:t>Modèle linéaire estimant la probabilité qu’un billet soit authentique.</a:t>
            </a:r>
            <a:br>
              <a:rPr kumimoji="0" lang="fr-FR" altLang="fr-FR" sz="1600" b="0" i="0" u="none" strike="noStrike" cap="none" normalizeH="0" baseline="0" dirty="0">
                <a:ln>
                  <a:noFill/>
                </a:ln>
                <a:solidFill>
                  <a:schemeClr val="tx1"/>
                </a:solidFill>
                <a:effectLst/>
              </a:rPr>
            </a:br>
            <a:r>
              <a:rPr kumimoji="0" lang="fr-FR" altLang="fr-FR" sz="1600" b="0" i="0" u="none" strike="noStrike" cap="none" normalizeH="0" baseline="0" dirty="0">
                <a:ln>
                  <a:noFill/>
                </a:ln>
                <a:solidFill>
                  <a:schemeClr val="tx1"/>
                </a:solidFill>
                <a:effectLst/>
              </a:rPr>
              <a:t>→ Rapide, explicable et performant pour la classification binaire.</a:t>
            </a:r>
            <a:br>
              <a:rPr kumimoji="0" lang="fr-FR" altLang="fr-FR" sz="1600" b="0" i="0" u="none" strike="noStrike" cap="none" normalizeH="0" baseline="0" dirty="0">
                <a:ln>
                  <a:noFill/>
                </a:ln>
                <a:solidFill>
                  <a:schemeClr val="tx1"/>
                </a:solidFill>
                <a:effectLst/>
              </a:rPr>
            </a:br>
            <a:endParaRPr kumimoji="0" lang="fr-FR" altLang="fr-FR"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600" b="1" i="0" u="none" strike="noStrike" cap="none" normalizeH="0" baseline="0" dirty="0">
                <a:ln>
                  <a:noFill/>
                </a:ln>
                <a:solidFill>
                  <a:schemeClr val="tx1"/>
                </a:solidFill>
                <a:effectLst/>
              </a:rPr>
              <a:t> Random Forest</a:t>
            </a:r>
            <a:br>
              <a:rPr kumimoji="0" lang="fr-FR" altLang="fr-FR" sz="1600" b="0" i="0" u="none" strike="noStrike" cap="none" normalizeH="0" baseline="0" dirty="0">
                <a:ln>
                  <a:noFill/>
                </a:ln>
                <a:solidFill>
                  <a:schemeClr val="tx1"/>
                </a:solidFill>
                <a:effectLst/>
              </a:rPr>
            </a:br>
            <a:r>
              <a:rPr kumimoji="0" lang="fr-FR" altLang="fr-FR" sz="1600" b="0" i="0" u="none" strike="noStrike" cap="none" normalizeH="0" baseline="0" dirty="0">
                <a:ln>
                  <a:noFill/>
                </a:ln>
                <a:solidFill>
                  <a:schemeClr val="tx1"/>
                </a:solidFill>
                <a:effectLst/>
              </a:rPr>
              <a:t>Combine plusieurs arbres de décision pour renforcer la robustesse du modèle.</a:t>
            </a:r>
            <a:br>
              <a:rPr kumimoji="0" lang="fr-FR" altLang="fr-FR" sz="1600" b="0" i="0" u="none" strike="noStrike" cap="none" normalizeH="0" baseline="0" dirty="0">
                <a:ln>
                  <a:noFill/>
                </a:ln>
                <a:solidFill>
                  <a:schemeClr val="tx1"/>
                </a:solidFill>
                <a:effectLst/>
              </a:rPr>
            </a:br>
            <a:r>
              <a:rPr kumimoji="0" lang="fr-FR" altLang="fr-FR" sz="1600" b="0" i="0" u="none" strike="noStrike" cap="none" normalizeH="0" baseline="0" dirty="0">
                <a:ln>
                  <a:noFill/>
                </a:ln>
                <a:solidFill>
                  <a:schemeClr val="tx1"/>
                </a:solidFill>
                <a:effectLst/>
              </a:rPr>
              <a:t>→ Bon compromis entre précision et résistance au surapprentissage.</a:t>
            </a:r>
          </a:p>
        </p:txBody>
      </p:sp>
    </p:spTree>
    <p:extLst>
      <p:ext uri="{BB962C8B-B14F-4D97-AF65-F5344CB8AC3E}">
        <p14:creationId xmlns:p14="http://schemas.microsoft.com/office/powerpoint/2010/main" val="211481580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Freeform: Shape 18">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1" name="Rectangle 20">
            <a:extLst>
              <a:ext uri="{FF2B5EF4-FFF2-40B4-BE49-F238E27FC236}">
                <a16:creationId xmlns:a16="http://schemas.microsoft.com/office/drawing/2014/main" id="{A082E5AA-6E5F-4FCC-8C41-11E32F833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B4CD5DF6-1C85-6F26-3F57-6EA46A1194D6}"/>
              </a:ext>
            </a:extLst>
          </p:cNvPr>
          <p:cNvSpPr>
            <a:spLocks noGrp="1"/>
          </p:cNvSpPr>
          <p:nvPr>
            <p:ph type="title"/>
          </p:nvPr>
        </p:nvSpPr>
        <p:spPr>
          <a:xfrm>
            <a:off x="521208" y="978408"/>
            <a:ext cx="5102352" cy="1664208"/>
          </a:xfrm>
        </p:spPr>
        <p:txBody>
          <a:bodyPr vert="horz" lIns="91440" tIns="45720" rIns="91440" bIns="45720" rtlCol="0" anchor="t">
            <a:normAutofit/>
          </a:bodyPr>
          <a:lstStyle/>
          <a:p>
            <a:pPr>
              <a:lnSpc>
                <a:spcPct val="90000"/>
              </a:lnSpc>
            </a:pPr>
            <a:r>
              <a:rPr lang="en-US" sz="3400" b="1" kern="1200" dirty="0">
                <a:solidFill>
                  <a:schemeClr val="tx1"/>
                </a:solidFill>
                <a:latin typeface="+mj-lt"/>
                <a:ea typeface="+mj-ea"/>
                <a:cs typeface="+mj-cs"/>
              </a:rPr>
              <a:t>Résultats des modèles : comparaison des performances</a:t>
            </a:r>
          </a:p>
        </p:txBody>
      </p:sp>
      <p:sp>
        <p:nvSpPr>
          <p:cNvPr id="23" name="Rectangle 22">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4A3D569D-D3A6-49CA-A483-291E95DACA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55622" y="612648"/>
            <a:ext cx="551383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Image 10">
            <a:extLst>
              <a:ext uri="{FF2B5EF4-FFF2-40B4-BE49-F238E27FC236}">
                <a16:creationId xmlns:a16="http://schemas.microsoft.com/office/drawing/2014/main" id="{8A8393A7-DC79-9E53-E1C5-DACF8A2CF71F}"/>
              </a:ext>
            </a:extLst>
          </p:cNvPr>
          <p:cNvPicPr>
            <a:picLocks noChangeAspect="1"/>
          </p:cNvPicPr>
          <p:nvPr/>
        </p:nvPicPr>
        <p:blipFill>
          <a:blip r:embed="rId3"/>
          <a:stretch>
            <a:fillRect/>
          </a:stretch>
        </p:blipFill>
        <p:spPr>
          <a:xfrm>
            <a:off x="281076" y="3223043"/>
            <a:ext cx="5504688" cy="1984683"/>
          </a:xfrm>
          <a:prstGeom prst="rect">
            <a:avLst/>
          </a:prstGeom>
        </p:spPr>
      </p:pic>
      <p:sp>
        <p:nvSpPr>
          <p:cNvPr id="6" name="Rectangle 2">
            <a:extLst>
              <a:ext uri="{FF2B5EF4-FFF2-40B4-BE49-F238E27FC236}">
                <a16:creationId xmlns:a16="http://schemas.microsoft.com/office/drawing/2014/main" id="{033D87E3-F068-39A6-C7D2-2853CC55F1F7}"/>
              </a:ext>
            </a:extLst>
          </p:cNvPr>
          <p:cNvSpPr>
            <a:spLocks noGrp="1" noChangeArrowheads="1"/>
          </p:cNvSpPr>
          <p:nvPr>
            <p:ph sz="half" idx="2"/>
          </p:nvPr>
        </p:nvSpPr>
        <p:spPr bwMode="auto">
          <a:xfrm>
            <a:off x="6163056" y="978408"/>
            <a:ext cx="5504688" cy="536752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L="0" marR="0" lvl="0" fontAlgn="base">
              <a:lnSpc>
                <a:spcPct val="100000"/>
              </a:lnSpc>
              <a:spcBef>
                <a:spcPct val="0"/>
              </a:spcBef>
              <a:spcAft>
                <a:spcPts val="600"/>
              </a:spcAft>
              <a:buClrTx/>
              <a:buSzTx/>
              <a:tabLst/>
            </a:pPr>
            <a:r>
              <a:rPr kumimoji="0" lang="en-US" altLang="fr-FR" b="1" i="0" u="none" strike="noStrike" cap="none" normalizeH="0" baseline="0" dirty="0">
                <a:ln>
                  <a:noFill/>
                </a:ln>
                <a:effectLst/>
              </a:rPr>
              <a:t>Évaluation des performances</a:t>
            </a:r>
            <a:br>
              <a:rPr kumimoji="0" lang="en-US" altLang="fr-FR" b="0" i="0" u="none" strike="noStrike" cap="none" normalizeH="0" baseline="0" dirty="0">
                <a:ln>
                  <a:noFill/>
                </a:ln>
                <a:effectLst/>
              </a:rPr>
            </a:br>
            <a:r>
              <a:rPr kumimoji="0" lang="en-US" altLang="fr-FR" sz="1600" b="0" i="0" u="none" strike="noStrike" cap="none" normalizeH="0" baseline="0" dirty="0">
                <a:ln>
                  <a:noFill/>
                </a:ln>
                <a:effectLst/>
              </a:rPr>
              <a:t>Chaque modèle a été évalué à partir de son score d’</a:t>
            </a:r>
            <a:r>
              <a:rPr kumimoji="0" lang="en-US" altLang="fr-FR" sz="1600" i="0" u="none" strike="noStrike" cap="none" normalizeH="0" baseline="0" dirty="0">
                <a:ln>
                  <a:noFill/>
                </a:ln>
                <a:effectLst/>
              </a:rPr>
              <a:t>accuracy</a:t>
            </a:r>
            <a:r>
              <a:rPr kumimoji="0" lang="en-US" altLang="fr-FR" sz="1600" b="0" i="0" u="none" strike="noStrike" cap="none" normalizeH="0" baseline="0" dirty="0">
                <a:ln>
                  <a:noFill/>
                </a:ln>
                <a:effectLst/>
              </a:rPr>
              <a:t>, mesurant la proportion de billets correctement classés.</a:t>
            </a:r>
          </a:p>
          <a:p>
            <a:pPr marL="0" marR="0" lvl="0" fontAlgn="base">
              <a:lnSpc>
                <a:spcPct val="100000"/>
              </a:lnSpc>
              <a:spcBef>
                <a:spcPct val="0"/>
              </a:spcBef>
              <a:spcAft>
                <a:spcPts val="600"/>
              </a:spcAft>
              <a:buClrTx/>
              <a:buSzTx/>
              <a:tabLst/>
            </a:pPr>
            <a:endParaRPr kumimoji="0" lang="en-US" altLang="fr-FR" b="0" i="0" u="none" strike="noStrike" cap="none" normalizeH="0" baseline="0" dirty="0">
              <a:ln>
                <a:noFill/>
              </a:ln>
              <a:effectLst/>
            </a:endParaRPr>
          </a:p>
          <a:p>
            <a:pPr marL="0" marR="0" lvl="0" fontAlgn="base">
              <a:lnSpc>
                <a:spcPct val="100000"/>
              </a:lnSpc>
              <a:spcBef>
                <a:spcPct val="0"/>
              </a:spcBef>
              <a:spcAft>
                <a:spcPts val="600"/>
              </a:spcAft>
              <a:buClrTx/>
              <a:buSzTx/>
              <a:tabLst/>
            </a:pPr>
            <a:endParaRPr kumimoji="0" lang="en-US" altLang="fr-FR" b="0" i="0" u="none" strike="noStrike" cap="none" normalizeH="0" baseline="0" dirty="0">
              <a:ln>
                <a:noFill/>
              </a:ln>
              <a:effectLst/>
            </a:endParaRPr>
          </a:p>
          <a:p>
            <a:pPr marL="0" marR="0" lvl="0" fontAlgn="base">
              <a:lnSpc>
                <a:spcPct val="100000"/>
              </a:lnSpc>
              <a:spcBef>
                <a:spcPct val="0"/>
              </a:spcBef>
              <a:spcAft>
                <a:spcPts val="600"/>
              </a:spcAft>
              <a:buClrTx/>
              <a:buSzTx/>
              <a:tabLst/>
            </a:pPr>
            <a:r>
              <a:rPr kumimoji="0" lang="en-US" altLang="fr-FR" b="1" i="0" u="none" strike="noStrike" cap="none" normalizeH="0" baseline="0" dirty="0">
                <a:ln>
                  <a:noFill/>
                </a:ln>
                <a:effectLst/>
              </a:rPr>
              <a:t>Analyse des métriques</a:t>
            </a:r>
            <a:br>
              <a:rPr kumimoji="0" lang="en-US" altLang="fr-FR" b="0" i="0" u="none" strike="noStrike" cap="none" normalizeH="0" baseline="0" dirty="0">
                <a:ln>
                  <a:noFill/>
                </a:ln>
                <a:effectLst/>
              </a:rPr>
            </a:br>
            <a:r>
              <a:rPr kumimoji="0" lang="en-US" altLang="fr-FR" sz="1600" b="0" i="0" u="none" strike="noStrike" cap="none" normalizeH="0" baseline="0" dirty="0">
                <a:ln>
                  <a:noFill/>
                </a:ln>
                <a:effectLst/>
              </a:rPr>
              <a:t>D’autres indicateurs (précision, rappel, F1-score) ont été observés pour confirmer la fiabilité globale de chaque modèle.</a:t>
            </a:r>
          </a:p>
          <a:p>
            <a:pPr marL="0" marR="0" lvl="0" fontAlgn="base">
              <a:lnSpc>
                <a:spcPct val="100000"/>
              </a:lnSpc>
              <a:spcBef>
                <a:spcPct val="0"/>
              </a:spcBef>
              <a:spcAft>
                <a:spcPts val="600"/>
              </a:spcAft>
              <a:buClrTx/>
              <a:buSzTx/>
              <a:tabLst/>
            </a:pPr>
            <a:endParaRPr kumimoji="0" lang="en-US" altLang="fr-FR" b="0" i="0" u="none" strike="noStrike" cap="none" normalizeH="0" baseline="0" dirty="0">
              <a:ln>
                <a:noFill/>
              </a:ln>
              <a:effectLst/>
            </a:endParaRPr>
          </a:p>
          <a:p>
            <a:pPr marL="0" marR="0" lvl="0" fontAlgn="base">
              <a:lnSpc>
                <a:spcPct val="100000"/>
              </a:lnSpc>
              <a:spcBef>
                <a:spcPct val="0"/>
              </a:spcBef>
              <a:spcAft>
                <a:spcPts val="600"/>
              </a:spcAft>
              <a:buClrTx/>
              <a:buSzTx/>
              <a:tabLst/>
            </a:pPr>
            <a:endParaRPr kumimoji="0" lang="en-US" altLang="fr-FR" b="0" i="0" u="none" strike="noStrike" cap="none" normalizeH="0" baseline="0" dirty="0">
              <a:ln>
                <a:noFill/>
              </a:ln>
              <a:effectLst/>
            </a:endParaRPr>
          </a:p>
          <a:p>
            <a:pPr marL="0" marR="0" lvl="0" fontAlgn="base">
              <a:lnSpc>
                <a:spcPct val="100000"/>
              </a:lnSpc>
              <a:spcBef>
                <a:spcPct val="0"/>
              </a:spcBef>
              <a:spcAft>
                <a:spcPts val="600"/>
              </a:spcAft>
              <a:buClrTx/>
              <a:buSzTx/>
              <a:tabLst/>
            </a:pPr>
            <a:r>
              <a:rPr kumimoji="0" lang="en-US" altLang="fr-FR" b="1" i="0" u="none" strike="noStrike" cap="none" normalizeH="0" baseline="0" dirty="0">
                <a:ln>
                  <a:noFill/>
                </a:ln>
                <a:effectLst/>
              </a:rPr>
              <a:t>Choix du modèle final</a:t>
            </a:r>
            <a:br>
              <a:rPr kumimoji="0" lang="en-US" altLang="fr-FR" b="1" i="0" u="none" strike="noStrike" cap="none" normalizeH="0" baseline="0" dirty="0">
                <a:ln>
                  <a:noFill/>
                </a:ln>
                <a:effectLst/>
              </a:rPr>
            </a:br>
            <a:r>
              <a:rPr lang="fr-FR" sz="1600" dirty="0"/>
              <a:t>Le tableau comparatif met en évidence deux modèles très performants (la régression logistique et la Random Forest) mais la régression logistique est privilégiée pour sa simplicité, sa rapidité et son interprétabilité.</a:t>
            </a:r>
            <a:endParaRPr kumimoji="0" lang="en-US" altLang="fr-FR" sz="1600" i="0" u="none" strike="noStrike" cap="none" normalizeH="0" baseline="0" dirty="0">
              <a:ln>
                <a:noFill/>
              </a:ln>
              <a:effectLst/>
            </a:endParaRPr>
          </a:p>
        </p:txBody>
      </p:sp>
    </p:spTree>
    <p:extLst>
      <p:ext uri="{BB962C8B-B14F-4D97-AF65-F5344CB8AC3E}">
        <p14:creationId xmlns:p14="http://schemas.microsoft.com/office/powerpoint/2010/main" val="1778699474"/>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53AE3C-AC4F-907C-B473-B9A30D2150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1" name="Rectangle 10">
            <a:extLst>
              <a:ext uri="{FF2B5EF4-FFF2-40B4-BE49-F238E27FC236}">
                <a16:creationId xmlns:a16="http://schemas.microsoft.com/office/drawing/2014/main" id="{DC81933E-93BD-38CE-3C98-D10B2844C5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341299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3" name="Rectangle 12">
            <a:extLst>
              <a:ext uri="{FF2B5EF4-FFF2-40B4-BE49-F238E27FC236}">
                <a16:creationId xmlns:a16="http://schemas.microsoft.com/office/drawing/2014/main" id="{5B3B7A5C-39EE-77A0-28F9-DF51372312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6008" y="611650"/>
            <a:ext cx="7031736"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re 1">
            <a:extLst>
              <a:ext uri="{FF2B5EF4-FFF2-40B4-BE49-F238E27FC236}">
                <a16:creationId xmlns:a16="http://schemas.microsoft.com/office/drawing/2014/main" id="{E3FBEC2F-CE74-C52D-D106-FF89DBC1375C}"/>
              </a:ext>
            </a:extLst>
          </p:cNvPr>
          <p:cNvSpPr>
            <a:spLocks noGrp="1"/>
          </p:cNvSpPr>
          <p:nvPr>
            <p:ph type="title"/>
          </p:nvPr>
        </p:nvSpPr>
        <p:spPr>
          <a:xfrm>
            <a:off x="517871" y="873494"/>
            <a:ext cx="9599169" cy="1190630"/>
          </a:xfrm>
        </p:spPr>
        <p:txBody>
          <a:bodyPr>
            <a:normAutofit/>
          </a:bodyPr>
          <a:lstStyle/>
          <a:p>
            <a:r>
              <a:rPr lang="fr-FR" sz="3200" dirty="0">
                <a:solidFill>
                  <a:schemeClr val="accent2">
                    <a:lumMod val="50000"/>
                  </a:schemeClr>
                </a:solidFill>
              </a:rPr>
              <a:t>Pourquoi retenir la régression logistique ?</a:t>
            </a:r>
          </a:p>
        </p:txBody>
      </p:sp>
      <p:sp>
        <p:nvSpPr>
          <p:cNvPr id="7" name="Rectangle 2">
            <a:extLst>
              <a:ext uri="{FF2B5EF4-FFF2-40B4-BE49-F238E27FC236}">
                <a16:creationId xmlns:a16="http://schemas.microsoft.com/office/drawing/2014/main" id="{7A815B07-5F4B-6C34-292D-C2DBF06464A0}"/>
              </a:ext>
            </a:extLst>
          </p:cNvPr>
          <p:cNvSpPr>
            <a:spLocks noGrp="1" noChangeArrowheads="1"/>
          </p:cNvSpPr>
          <p:nvPr>
            <p:ph idx="1"/>
          </p:nvPr>
        </p:nvSpPr>
        <p:spPr bwMode="auto">
          <a:xfrm>
            <a:off x="1611545" y="1737189"/>
            <a:ext cx="988331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1" i="0" u="none" strike="noStrike" cap="none" normalizeH="0" baseline="0" dirty="0">
                <a:ln>
                  <a:noFill/>
                </a:ln>
                <a:solidFill>
                  <a:schemeClr val="tx1"/>
                </a:solidFill>
                <a:effectLst/>
              </a:rPr>
              <a:t> Performances comparables aux modèles les plus puissants</a:t>
            </a:r>
            <a:br>
              <a:rPr kumimoji="0" lang="fr-FR" altLang="fr-FR" sz="1800" b="0" i="0" u="none" strike="noStrike" cap="none" normalizeH="0" baseline="0" dirty="0">
                <a:ln>
                  <a:noFill/>
                </a:ln>
                <a:solidFill>
                  <a:schemeClr val="tx1"/>
                </a:solidFill>
                <a:effectLst/>
              </a:rPr>
            </a:br>
            <a:r>
              <a:rPr kumimoji="0" lang="fr-FR" altLang="fr-FR" sz="1800" b="0" i="0" u="none" strike="noStrike" cap="none" normalizeH="0" baseline="0" dirty="0">
                <a:ln>
                  <a:noFill/>
                </a:ln>
                <a:solidFill>
                  <a:schemeClr val="tx1"/>
                </a:solidFill>
                <a:effectLst/>
              </a:rPr>
              <a:t>Avec une accuracy de </a:t>
            </a:r>
            <a:r>
              <a:rPr kumimoji="0" lang="fr-FR" altLang="fr-FR" sz="1800" b="1" i="0" u="none" strike="noStrike" cap="none" normalizeH="0" baseline="0" dirty="0">
                <a:ln>
                  <a:noFill/>
                </a:ln>
                <a:solidFill>
                  <a:schemeClr val="tx1"/>
                </a:solidFill>
                <a:effectLst/>
              </a:rPr>
              <a:t>99 %</a:t>
            </a:r>
            <a:r>
              <a:rPr kumimoji="0" lang="fr-FR" altLang="fr-FR" sz="1800" b="0" i="0" u="none" strike="noStrike" cap="none" normalizeH="0" baseline="0" dirty="0">
                <a:ln>
                  <a:noFill/>
                </a:ln>
                <a:solidFill>
                  <a:schemeClr val="tx1"/>
                </a:solidFill>
                <a:effectLst/>
              </a:rPr>
              <a:t>, la régression logistique égale la Random Forest tout en restant plus simple et plus rapide à exécuter.</a:t>
            </a:r>
          </a:p>
          <a:p>
            <a:pPr marL="0" marR="0" lvl="0" indent="0" algn="l" defTabSz="914400" rtl="0" eaLnBrk="0" fontAlgn="base" latinLnBrk="0" hangingPunct="0">
              <a:lnSpc>
                <a:spcPct val="100000"/>
              </a:lnSpc>
              <a:spcBef>
                <a:spcPct val="0"/>
              </a:spcBef>
              <a:spcAft>
                <a:spcPct val="0"/>
              </a:spcAft>
              <a:buClrTx/>
              <a:buSzTx/>
              <a:buNone/>
              <a:tabLst/>
            </a:pPr>
            <a:endParaRPr kumimoji="0" lang="fr-FR" altLang="fr-FR"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1" i="0" u="none" strike="noStrike" cap="none" normalizeH="0" baseline="0" dirty="0">
                <a:ln>
                  <a:noFill/>
                </a:ln>
                <a:solidFill>
                  <a:schemeClr val="tx1"/>
                </a:solidFill>
                <a:effectLst/>
              </a:rPr>
              <a:t> Simplicité et stabilité</a:t>
            </a:r>
            <a:br>
              <a:rPr kumimoji="0" lang="fr-FR" altLang="fr-FR" sz="1800" b="0" i="0" u="none" strike="noStrike" cap="none" normalizeH="0" baseline="0" dirty="0">
                <a:ln>
                  <a:noFill/>
                </a:ln>
                <a:solidFill>
                  <a:schemeClr val="tx1"/>
                </a:solidFill>
                <a:effectLst/>
              </a:rPr>
            </a:br>
            <a:r>
              <a:rPr kumimoji="0" lang="fr-FR" altLang="fr-FR" sz="1800" b="0" i="0" u="none" strike="noStrike" cap="none" normalizeH="0" baseline="0" dirty="0">
                <a:ln>
                  <a:noFill/>
                </a:ln>
                <a:solidFill>
                  <a:schemeClr val="tx1"/>
                </a:solidFill>
                <a:effectLst/>
              </a:rPr>
              <a:t>Contrairement à la Random Forest (plus lourde à entraîner) ou au KNN (sensible à l’échelle des données), la régression logistique offre des résultats constants sans réglages complexes.</a:t>
            </a:r>
          </a:p>
          <a:p>
            <a:pPr marL="0" marR="0" lvl="0" indent="0" algn="l" defTabSz="914400" rtl="0" eaLnBrk="0" fontAlgn="base" latinLnBrk="0" hangingPunct="0">
              <a:lnSpc>
                <a:spcPct val="100000"/>
              </a:lnSpc>
              <a:spcBef>
                <a:spcPct val="0"/>
              </a:spcBef>
              <a:spcAft>
                <a:spcPct val="0"/>
              </a:spcAft>
              <a:buClrTx/>
              <a:buSzTx/>
              <a:buNone/>
              <a:tabLst/>
            </a:pPr>
            <a:endParaRPr kumimoji="0" lang="fr-FR" altLang="fr-FR"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1" i="0" u="none" strike="noStrike" cap="none" normalizeH="0" baseline="0" dirty="0">
                <a:ln>
                  <a:noFill/>
                </a:ln>
                <a:solidFill>
                  <a:schemeClr val="tx1"/>
                </a:solidFill>
                <a:effectLst/>
              </a:rPr>
              <a:t> Interprétabilité totale</a:t>
            </a:r>
            <a:br>
              <a:rPr kumimoji="0" lang="fr-FR" altLang="fr-FR" sz="1800" b="0" i="0" u="none" strike="noStrike" cap="none" normalizeH="0" baseline="0" dirty="0">
                <a:ln>
                  <a:noFill/>
                </a:ln>
                <a:solidFill>
                  <a:schemeClr val="tx1"/>
                </a:solidFill>
                <a:effectLst/>
              </a:rPr>
            </a:br>
            <a:r>
              <a:rPr kumimoji="0" lang="fr-FR" altLang="fr-FR" sz="1800" b="0" i="0" u="none" strike="noStrike" cap="none" normalizeH="0" baseline="0" dirty="0">
                <a:ln>
                  <a:noFill/>
                </a:ln>
                <a:solidFill>
                  <a:schemeClr val="tx1"/>
                </a:solidFill>
                <a:effectLst/>
              </a:rPr>
              <a:t>Chaque coefficient traduit directement l’influence d’une mesure géométrique sur la probabilité qu’un billet soit authentique — un atout majeur pour la transparence des décisions de l’ONCFM.</a:t>
            </a:r>
          </a:p>
          <a:p>
            <a:pPr marL="0" marR="0" lvl="0" indent="0" algn="l" defTabSz="914400" rtl="0" eaLnBrk="0" fontAlgn="base" latinLnBrk="0" hangingPunct="0">
              <a:lnSpc>
                <a:spcPct val="100000"/>
              </a:lnSpc>
              <a:spcBef>
                <a:spcPct val="0"/>
              </a:spcBef>
              <a:spcAft>
                <a:spcPct val="0"/>
              </a:spcAft>
              <a:buClrTx/>
              <a:buSzTx/>
              <a:buNone/>
              <a:tabLst/>
            </a:pPr>
            <a:endParaRPr kumimoji="0" lang="fr-FR" altLang="fr-FR"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1" i="0" u="none" strike="noStrike" cap="none" normalizeH="0" baseline="0" dirty="0">
                <a:ln>
                  <a:noFill/>
                </a:ln>
                <a:solidFill>
                  <a:schemeClr val="tx1"/>
                </a:solidFill>
                <a:effectLst/>
              </a:rPr>
              <a:t> Efficacité opérationnelle</a:t>
            </a:r>
            <a:br>
              <a:rPr kumimoji="0" lang="fr-FR" altLang="fr-FR" sz="1800" b="0" i="0" u="none" strike="noStrike" cap="none" normalizeH="0" baseline="0" dirty="0">
                <a:ln>
                  <a:noFill/>
                </a:ln>
                <a:solidFill>
                  <a:schemeClr val="tx1"/>
                </a:solidFill>
                <a:effectLst/>
              </a:rPr>
            </a:br>
            <a:r>
              <a:rPr kumimoji="0" lang="fr-FR" altLang="fr-FR" sz="1800" b="0" i="0" u="none" strike="noStrike" cap="none" normalizeH="0" baseline="0" dirty="0">
                <a:ln>
                  <a:noFill/>
                </a:ln>
                <a:solidFill>
                  <a:schemeClr val="tx1"/>
                </a:solidFill>
                <a:effectLst/>
              </a:rPr>
              <a:t>Légère et rapide, elle s’intègre facilement dans une application de prédiction en temps réel, sans nécessiter de forte puissance de calcul.</a:t>
            </a:r>
          </a:p>
        </p:txBody>
      </p:sp>
      <p:pic>
        <p:nvPicPr>
          <p:cNvPr id="10" name="Graphique 9" descr="Graphique à barres avec tendance à la hausse avec un remplissage uni">
            <a:extLst>
              <a:ext uri="{FF2B5EF4-FFF2-40B4-BE49-F238E27FC236}">
                <a16:creationId xmlns:a16="http://schemas.microsoft.com/office/drawing/2014/main" id="{EFE86C18-CDE0-6496-7ED4-356AC5A41E4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6529" y="1921200"/>
            <a:ext cx="696359" cy="696359"/>
          </a:xfrm>
          <a:prstGeom prst="rect">
            <a:avLst/>
          </a:prstGeom>
        </p:spPr>
      </p:pic>
      <p:pic>
        <p:nvPicPr>
          <p:cNvPr id="14" name="Graphique 13" descr="Engrenage avec un remplissage uni">
            <a:extLst>
              <a:ext uri="{FF2B5EF4-FFF2-40B4-BE49-F238E27FC236}">
                <a16:creationId xmlns:a16="http://schemas.microsoft.com/office/drawing/2014/main" id="{1B375775-8E98-807D-3562-26F184CF71B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7145" y="2968905"/>
            <a:ext cx="727647" cy="727647"/>
          </a:xfrm>
          <a:prstGeom prst="rect">
            <a:avLst/>
          </a:prstGeom>
        </p:spPr>
      </p:pic>
      <p:pic>
        <p:nvPicPr>
          <p:cNvPr id="16" name="Graphique 15" descr="Loupe avec un remplissage uni">
            <a:extLst>
              <a:ext uri="{FF2B5EF4-FFF2-40B4-BE49-F238E27FC236}">
                <a16:creationId xmlns:a16="http://schemas.microsoft.com/office/drawing/2014/main" id="{F45F63C0-E971-17BA-4324-99560B48556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39210" y="4047897"/>
            <a:ext cx="727646" cy="727646"/>
          </a:xfrm>
          <a:prstGeom prst="rect">
            <a:avLst/>
          </a:prstGeom>
        </p:spPr>
      </p:pic>
      <p:pic>
        <p:nvPicPr>
          <p:cNvPr id="18" name="Graphique 17" descr="Excellent avec un remplissage uni">
            <a:extLst>
              <a:ext uri="{FF2B5EF4-FFF2-40B4-BE49-F238E27FC236}">
                <a16:creationId xmlns:a16="http://schemas.microsoft.com/office/drawing/2014/main" id="{B1F297EC-C4F8-03D3-486E-5C4BF7CC7B2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13460" y="5126888"/>
            <a:ext cx="895016" cy="895016"/>
          </a:xfrm>
          <a:prstGeom prst="rect">
            <a:avLst/>
          </a:prstGeom>
        </p:spPr>
      </p:pic>
    </p:spTree>
    <p:extLst>
      <p:ext uri="{BB962C8B-B14F-4D97-AF65-F5344CB8AC3E}">
        <p14:creationId xmlns:p14="http://schemas.microsoft.com/office/powerpoint/2010/main" val="2188825357"/>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9EE42DCE-4A4F-44C4-84E5-261B3BEEF1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83C83332-807A-6BFB-DA2E-7258148FF0F7}"/>
              </a:ext>
            </a:extLst>
          </p:cNvPr>
          <p:cNvSpPr>
            <a:spLocks noGrp="1"/>
          </p:cNvSpPr>
          <p:nvPr>
            <p:ph type="title"/>
          </p:nvPr>
        </p:nvSpPr>
        <p:spPr>
          <a:xfrm>
            <a:off x="517869" y="743248"/>
            <a:ext cx="6300216" cy="984574"/>
          </a:xfrm>
        </p:spPr>
        <p:txBody>
          <a:bodyPr vert="horz" lIns="91440" tIns="45720" rIns="91440" bIns="45720" rtlCol="0" anchor="t">
            <a:normAutofit/>
          </a:bodyPr>
          <a:lstStyle/>
          <a:p>
            <a:pPr>
              <a:lnSpc>
                <a:spcPct val="90000"/>
              </a:lnSpc>
            </a:pPr>
            <a:r>
              <a:rPr lang="en-US" sz="3200" b="1" kern="1200" dirty="0">
                <a:solidFill>
                  <a:schemeClr val="accent2">
                    <a:lumMod val="50000"/>
                  </a:schemeClr>
                </a:solidFill>
                <a:latin typeface="+mj-lt"/>
                <a:ea typeface="+mj-ea"/>
                <a:cs typeface="+mj-cs"/>
              </a:rPr>
              <a:t>Interprétation des variables clés dans la classification</a:t>
            </a:r>
          </a:p>
        </p:txBody>
      </p:sp>
      <p:sp>
        <p:nvSpPr>
          <p:cNvPr id="14" name="Rectangle 13">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2982"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Espace réservé du contenu 3">
            <a:extLst>
              <a:ext uri="{FF2B5EF4-FFF2-40B4-BE49-F238E27FC236}">
                <a16:creationId xmlns:a16="http://schemas.microsoft.com/office/drawing/2014/main" id="{7165AC3E-32FB-AA1E-49D5-EA26A398401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7869" y="1877103"/>
            <a:ext cx="6980259" cy="4980892"/>
          </a:xfrm>
        </p:spPr>
        <p:txBody>
          <a:bodyPr>
            <a:normAutofit fontScale="70000" lnSpcReduction="20000"/>
          </a:bodyPr>
          <a:lstStyle/>
          <a:p>
            <a:pPr marL="0" indent="0">
              <a:spcBef>
                <a:spcPts val="2500"/>
              </a:spcBef>
              <a:buNone/>
            </a:pPr>
            <a:r>
              <a:rPr lang="fr-FR" sz="2600" b="1" dirty="0"/>
              <a:t>Analyse des performances chiffrées</a:t>
            </a:r>
            <a:br>
              <a:rPr lang="fr-FR" sz="2300" b="1" dirty="0"/>
            </a:br>
            <a:br>
              <a:rPr lang="fr-FR" sz="2300" dirty="0"/>
            </a:br>
            <a:r>
              <a:rPr lang="fr-FR" sz="2100" dirty="0"/>
              <a:t>Les quatre modèles présentent d’excellentes performances (&gt; 98 % d’accuracy).</a:t>
            </a:r>
            <a:br>
              <a:rPr lang="fr-FR" sz="2100" dirty="0"/>
            </a:br>
            <a:r>
              <a:rPr lang="fr-FR" sz="2100" dirty="0"/>
              <a:t>La régression logistique et la Random Forest atteignent une accuracy de 0.99, confirmant leur fiabilité.</a:t>
            </a:r>
            <a:br>
              <a:rPr lang="fr-FR" sz="2100" dirty="0"/>
            </a:br>
            <a:r>
              <a:rPr lang="fr-FR" sz="2100" dirty="0"/>
              <a:t>Le modèle logistique est retenu pour sa stabilité, sa rapidité d’exécution et sa facilité d’interprétation.</a:t>
            </a:r>
            <a:br>
              <a:rPr lang="fr-FR" dirty="0"/>
            </a:br>
            <a:br>
              <a:rPr lang="fr-FR" b="1" dirty="0"/>
            </a:br>
            <a:r>
              <a:rPr lang="fr-FR" sz="2600" b="1" dirty="0"/>
              <a:t>Variables les plus influentes</a:t>
            </a:r>
          </a:p>
          <a:p>
            <a:pPr>
              <a:spcBef>
                <a:spcPts val="2500"/>
              </a:spcBef>
              <a:buFontTx/>
              <a:buChar char="-"/>
            </a:pPr>
            <a:r>
              <a:rPr lang="fr-FR" sz="2300" dirty="0"/>
              <a:t>length (+ 3.69) : augmente fortement la probabilité qu’un billet soit authentique.</a:t>
            </a:r>
          </a:p>
          <a:p>
            <a:pPr>
              <a:spcBef>
                <a:spcPts val="2500"/>
              </a:spcBef>
              <a:buFontTx/>
              <a:buChar char="-"/>
            </a:pPr>
            <a:r>
              <a:rPr lang="fr-FR" sz="2300" dirty="0"/>
              <a:t>margin_low (− 2.62) : réduit cette probabilité → indicateur clé des faux billets.</a:t>
            </a:r>
          </a:p>
          <a:p>
            <a:pPr marL="0" indent="0">
              <a:spcBef>
                <a:spcPts val="2500"/>
              </a:spcBef>
              <a:buFont typeface="Arial" panose="020B0604020202020204" pitchFamily="34" charset="0"/>
              <a:buNone/>
            </a:pPr>
            <a:r>
              <a:rPr lang="fr-FR" sz="2600" b="1" dirty="0"/>
              <a:t>Interprétation métier</a:t>
            </a:r>
          </a:p>
          <a:p>
            <a:pPr marL="0" lvl="1" indent="0">
              <a:buNone/>
            </a:pPr>
            <a:r>
              <a:rPr lang="fr-FR" sz="2300" dirty="0"/>
              <a:t>Ces résultats permettent à l’ONCFM d’identifier les caractéristiques physiques qui différencient les vrais et faux billets, rendant le modèle transparent et fiable pour un usage opérationnel.</a:t>
            </a:r>
          </a:p>
        </p:txBody>
      </p:sp>
      <p:pic>
        <p:nvPicPr>
          <p:cNvPr id="5" name="Espace réservé du contenu 4" descr="Digérez ces faits et chiffres... Interprétation littérale du déjeuner d’affaires.">
            <a:extLst>
              <a:ext uri="{FF2B5EF4-FFF2-40B4-BE49-F238E27FC236}">
                <a16:creationId xmlns:a16="http://schemas.microsoft.com/office/drawing/2014/main" id="{D8F2FB01-4640-49A9-A644-049F069B0E61}"/>
              </a:ext>
            </a:extLst>
          </p:cNvPr>
          <p:cNvPicPr>
            <a:picLocks noGrp="1" noChangeAspect="1"/>
          </p:cNvPicPr>
          <p:nvPr>
            <p:ph sz="half" idx="1"/>
          </p:nvPr>
        </p:nvPicPr>
        <p:blipFill>
          <a:blip r:embed="rId3"/>
          <a:srcRect l="30078" r="23324" b="1"/>
          <a:stretch>
            <a:fillRect/>
          </a:stretch>
        </p:blipFill>
        <p:spPr>
          <a:xfrm>
            <a:off x="7588987" y="657369"/>
            <a:ext cx="4081805" cy="5846990"/>
          </a:xfrm>
          <a:prstGeom prst="rect">
            <a:avLst/>
          </a:prstGeom>
        </p:spPr>
      </p:pic>
    </p:spTree>
    <p:extLst>
      <p:ext uri="{BB962C8B-B14F-4D97-AF65-F5344CB8AC3E}">
        <p14:creationId xmlns:p14="http://schemas.microsoft.com/office/powerpoint/2010/main" val="8708242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4C32CD27-7027-AB2B-38F1-71C08EB840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43AEF98A-8549-F06C-1678-3EC0C2A549B7}"/>
              </a:ext>
            </a:extLst>
          </p:cNvPr>
          <p:cNvSpPr>
            <a:spLocks noGrp="1"/>
          </p:cNvSpPr>
          <p:nvPr>
            <p:ph type="title"/>
          </p:nvPr>
        </p:nvSpPr>
        <p:spPr>
          <a:xfrm>
            <a:off x="5484611" y="828785"/>
            <a:ext cx="6236208" cy="932281"/>
          </a:xfrm>
        </p:spPr>
        <p:txBody>
          <a:bodyPr vert="horz" lIns="91440" tIns="45720" rIns="91440" bIns="45720" rtlCol="0" anchor="t">
            <a:normAutofit fontScale="90000"/>
          </a:bodyPr>
          <a:lstStyle/>
          <a:p>
            <a:pPr>
              <a:lnSpc>
                <a:spcPct val="90000"/>
              </a:lnSpc>
            </a:pPr>
            <a:r>
              <a:rPr lang="fr-FR" sz="3200" dirty="0">
                <a:solidFill>
                  <a:schemeClr val="accent2">
                    <a:lumMod val="50000"/>
                  </a:schemeClr>
                </a:solidFill>
              </a:rPr>
              <a:t>Mise en production du modèle : de la mesure à la prédiction</a:t>
            </a:r>
            <a:endParaRPr lang="en-US" sz="3100" b="1" kern="1200" dirty="0">
              <a:solidFill>
                <a:schemeClr val="accent2">
                  <a:lumMod val="50000"/>
                </a:schemeClr>
              </a:solidFill>
              <a:latin typeface="+mj-lt"/>
              <a:ea typeface="+mj-ea"/>
              <a:cs typeface="+mj-cs"/>
            </a:endParaRPr>
          </a:p>
        </p:txBody>
      </p:sp>
      <p:sp>
        <p:nvSpPr>
          <p:cNvPr id="14" name="Freeform: Shape 13">
            <a:extLst>
              <a:ext uri="{FF2B5EF4-FFF2-40B4-BE49-F238E27FC236}">
                <a16:creationId xmlns:a16="http://schemas.microsoft.com/office/drawing/2014/main" id="{C6DD38CD-CFFE-4ABA-3DC8-01ED90559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84611" y="508090"/>
            <a:ext cx="6186474" cy="149279"/>
          </a:xfrm>
          <a:custGeom>
            <a:avLst/>
            <a:gdLst>
              <a:gd name="connsiteX0" fmla="*/ 0 w 6090847"/>
              <a:gd name="connsiteY0" fmla="*/ 0 h 149279"/>
              <a:gd name="connsiteX1" fmla="*/ 6090847 w 6090847"/>
              <a:gd name="connsiteY1" fmla="*/ 0 h 149279"/>
              <a:gd name="connsiteX2" fmla="*/ 6090847 w 6090847"/>
              <a:gd name="connsiteY2" fmla="*/ 149279 h 149279"/>
              <a:gd name="connsiteX3" fmla="*/ 0 w 6090847"/>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6090847" h="149279">
                <a:moveTo>
                  <a:pt x="0" y="0"/>
                </a:moveTo>
                <a:lnTo>
                  <a:pt x="6090847" y="0"/>
                </a:lnTo>
                <a:lnTo>
                  <a:pt x="6090847"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Espace réservé du contenu 3">
            <a:extLst>
              <a:ext uri="{FF2B5EF4-FFF2-40B4-BE49-F238E27FC236}">
                <a16:creationId xmlns:a16="http://schemas.microsoft.com/office/drawing/2014/main" id="{73E9FCE1-8861-9452-245F-1A7826BB2795}"/>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57649" y="1932481"/>
            <a:ext cx="6697284" cy="4688452"/>
          </a:xfrm>
        </p:spPr>
        <p:txBody>
          <a:bodyPr>
            <a:normAutofit lnSpcReduction="10000"/>
          </a:bodyPr>
          <a:lstStyle/>
          <a:p>
            <a:r>
              <a:rPr lang="fr-FR" sz="1600" b="1" dirty="0"/>
              <a:t>Objectif du déploiement</a:t>
            </a:r>
            <a:br>
              <a:rPr lang="fr-FR" sz="1600" dirty="0"/>
            </a:br>
            <a:r>
              <a:rPr lang="fr-FR" sz="1600" dirty="0"/>
              <a:t>Mettre en œuvre le modèle de régression logistique entraîné pour permettre la détection automatique des faux billets à partir de nouvelles mesures géométriques.</a:t>
            </a:r>
          </a:p>
          <a:p>
            <a:r>
              <a:rPr lang="fr-FR" sz="1600" b="1" dirty="0"/>
              <a:t>Processus de prédiction</a:t>
            </a:r>
            <a:br>
              <a:rPr lang="fr-FR" sz="1600" dirty="0"/>
            </a:br>
            <a:r>
              <a:rPr lang="fr-FR" sz="1600" dirty="0"/>
              <a:t>1️⃣ Les nouvelles données (ex. mesures de billets scannés) sont importées dans l’application.</a:t>
            </a:r>
            <a:br>
              <a:rPr lang="fr-FR" sz="1600" dirty="0"/>
            </a:br>
            <a:r>
              <a:rPr lang="fr-FR" sz="1600" dirty="0"/>
              <a:t>2️⃣ Les valeurs sont standardisées via le </a:t>
            </a:r>
            <a:r>
              <a:rPr lang="fr-FR" sz="1600" i="1" dirty="0"/>
              <a:t>scaler</a:t>
            </a:r>
            <a:r>
              <a:rPr lang="fr-FR" sz="1600" dirty="0"/>
              <a:t> sauvegardé.</a:t>
            </a:r>
            <a:br>
              <a:rPr lang="fr-FR" sz="1600" dirty="0"/>
            </a:br>
            <a:r>
              <a:rPr lang="fr-FR" sz="1600" dirty="0"/>
              <a:t>3️⃣ Le modèle chargé (modele_logistique.pkl) prévoit la probabilité que chaque billet soit authentique.</a:t>
            </a:r>
            <a:br>
              <a:rPr lang="fr-FR" sz="1600" dirty="0"/>
            </a:br>
            <a:r>
              <a:rPr lang="fr-FR" sz="1600" dirty="0"/>
              <a:t>4️⃣ Les résultats sont restitués sous forme de prédiction (vrai/faux) et score de confiance.</a:t>
            </a:r>
          </a:p>
          <a:p>
            <a:r>
              <a:rPr lang="fr-FR" sz="1600" b="1" dirty="0"/>
              <a:t>Éléments techniques</a:t>
            </a:r>
            <a:endParaRPr lang="fr-FR" sz="1600" dirty="0"/>
          </a:p>
          <a:p>
            <a:r>
              <a:rPr lang="fr-FR" sz="1600" dirty="0"/>
              <a:t>Modèle et scaler enregistrés → fichiers .pkl et .json.</a:t>
            </a:r>
          </a:p>
          <a:p>
            <a:r>
              <a:rPr lang="fr-FR" sz="1600" dirty="0"/>
              <a:t>Fonction de prédiction automatisée prête à recevoir de nouveaux jeux de données.</a:t>
            </a:r>
          </a:p>
          <a:p>
            <a:pPr marL="0" indent="0">
              <a:spcBef>
                <a:spcPts val="2500"/>
              </a:spcBef>
              <a:buFont typeface="Arial" panose="020B0604020202020204" pitchFamily="34" charset="0"/>
              <a:buNone/>
            </a:pPr>
            <a:endParaRPr lang="fr-FR" sz="1400" dirty="0"/>
          </a:p>
        </p:txBody>
      </p:sp>
      <p:pic>
        <p:nvPicPr>
          <p:cNvPr id="8" name="Image 7">
            <a:extLst>
              <a:ext uri="{FF2B5EF4-FFF2-40B4-BE49-F238E27FC236}">
                <a16:creationId xmlns:a16="http://schemas.microsoft.com/office/drawing/2014/main" id="{7A160C67-911B-2DFD-08A4-E10EECC2718A}"/>
              </a:ext>
            </a:extLst>
          </p:cNvPr>
          <p:cNvPicPr>
            <a:picLocks noChangeAspect="1"/>
          </p:cNvPicPr>
          <p:nvPr/>
        </p:nvPicPr>
        <p:blipFill>
          <a:blip r:embed="rId3"/>
          <a:stretch>
            <a:fillRect/>
          </a:stretch>
        </p:blipFill>
        <p:spPr>
          <a:xfrm>
            <a:off x="288785" y="2477581"/>
            <a:ext cx="4734845" cy="2999297"/>
          </a:xfrm>
          <a:prstGeom prst="rect">
            <a:avLst/>
          </a:prstGeom>
        </p:spPr>
      </p:pic>
    </p:spTree>
    <p:extLst>
      <p:ext uri="{BB962C8B-B14F-4D97-AF65-F5344CB8AC3E}">
        <p14:creationId xmlns:p14="http://schemas.microsoft.com/office/powerpoint/2010/main" val="34843596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Freeform: Shape 18">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1" name="Rectangle 20">
            <a:extLst>
              <a:ext uri="{FF2B5EF4-FFF2-40B4-BE49-F238E27FC236}">
                <a16:creationId xmlns:a16="http://schemas.microsoft.com/office/drawing/2014/main" id="{A082E5AA-6E5F-4FCC-8C41-11E32F833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9FC0F382-D5CE-036F-7EA0-9AA189A82D7F}"/>
              </a:ext>
            </a:extLst>
          </p:cNvPr>
          <p:cNvSpPr>
            <a:spLocks noGrp="1"/>
          </p:cNvSpPr>
          <p:nvPr>
            <p:ph type="title"/>
          </p:nvPr>
        </p:nvSpPr>
        <p:spPr>
          <a:xfrm>
            <a:off x="521208" y="978408"/>
            <a:ext cx="5102352" cy="1664208"/>
          </a:xfrm>
        </p:spPr>
        <p:txBody>
          <a:bodyPr vert="horz" lIns="91440" tIns="45720" rIns="91440" bIns="45720" rtlCol="0" anchor="t">
            <a:normAutofit/>
          </a:bodyPr>
          <a:lstStyle/>
          <a:p>
            <a:pPr>
              <a:lnSpc>
                <a:spcPct val="90000"/>
              </a:lnSpc>
            </a:pPr>
            <a:r>
              <a:rPr lang="en-US" sz="3200" b="1" kern="1200" dirty="0">
                <a:solidFill>
                  <a:schemeClr val="accent2">
                    <a:lumMod val="50000"/>
                  </a:schemeClr>
                </a:solidFill>
                <a:latin typeface="+mj-lt"/>
                <a:ea typeface="+mj-ea"/>
                <a:cs typeface="+mj-cs"/>
              </a:rPr>
              <a:t>Perspectives d’évolution et intégration future</a:t>
            </a:r>
          </a:p>
        </p:txBody>
      </p:sp>
      <p:sp>
        <p:nvSpPr>
          <p:cNvPr id="23" name="Rectangle 22">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4A3D569D-D3A6-49CA-A483-291E95DACA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55622" y="612648"/>
            <a:ext cx="551383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Image 7" descr="Une image contenant Bloc de bois&#10;&#10;Le contenu généré par l’IA peut être incorrect.">
            <a:extLst>
              <a:ext uri="{FF2B5EF4-FFF2-40B4-BE49-F238E27FC236}">
                <a16:creationId xmlns:a16="http://schemas.microsoft.com/office/drawing/2014/main" id="{C36FBAD9-D128-0E0E-BC94-FE2F2D6AF2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8835" y="2834640"/>
            <a:ext cx="5070464" cy="3511296"/>
          </a:xfrm>
          <a:prstGeom prst="rect">
            <a:avLst/>
          </a:prstGeom>
        </p:spPr>
      </p:pic>
      <p:sp>
        <p:nvSpPr>
          <p:cNvPr id="4" name="Espace réservé du contenu 3">
            <a:extLst>
              <a:ext uri="{FF2B5EF4-FFF2-40B4-BE49-F238E27FC236}">
                <a16:creationId xmlns:a16="http://schemas.microsoft.com/office/drawing/2014/main" id="{98352255-222A-6E53-922B-7CA9A921029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64766" y="978408"/>
            <a:ext cx="5504688" cy="5367528"/>
          </a:xfrm>
        </p:spPr>
        <p:txBody>
          <a:bodyPr>
            <a:normAutofit fontScale="85000" lnSpcReduction="10000"/>
          </a:bodyPr>
          <a:lstStyle/>
          <a:p>
            <a:pPr marL="0" indent="0">
              <a:buNone/>
            </a:pPr>
            <a:r>
              <a:rPr lang="fr-FR" sz="1600" dirty="0"/>
              <a:t>Ce projet constitue une première pièce du puzzle vers un système complet et automatisé de détection du faux monnayage.</a:t>
            </a:r>
          </a:p>
          <a:p>
            <a:r>
              <a:rPr lang="fr-FR" sz="1600" b="1" dirty="0"/>
              <a:t>Amélioration continue du modèle</a:t>
            </a:r>
            <a:endParaRPr lang="fr-FR" sz="1600" dirty="0"/>
          </a:p>
          <a:p>
            <a:r>
              <a:rPr lang="fr-FR" sz="1600" dirty="0"/>
              <a:t>Enrichir le jeu de données avec de nouveaux échantillons réels et frauduleux.</a:t>
            </a:r>
          </a:p>
          <a:p>
            <a:r>
              <a:rPr lang="fr-FR" sz="1600" dirty="0"/>
              <a:t>Tester d’autres algorithmes (XGBoost, SVM) pour affiner la détection.</a:t>
            </a:r>
          </a:p>
          <a:p>
            <a:r>
              <a:rPr lang="fr-FR" sz="1600" dirty="0"/>
              <a:t>Mettre en place un recalibrage automatique du modèle à mesure que de nouvelles données sont collectées.</a:t>
            </a:r>
          </a:p>
          <a:p>
            <a:r>
              <a:rPr lang="fr-FR" sz="1600" b="1" dirty="0"/>
              <a:t>Déploiement opérationnel</a:t>
            </a:r>
            <a:endParaRPr lang="fr-FR" sz="1600" dirty="0"/>
          </a:p>
          <a:p>
            <a:r>
              <a:rPr lang="fr-FR" sz="1600" dirty="0"/>
              <a:t>Développer une interface web intuitive pour les agents de terrain.</a:t>
            </a:r>
          </a:p>
          <a:p>
            <a:r>
              <a:rPr lang="fr-FR" sz="1600" dirty="0"/>
              <a:t>Automatiser le flux complet : de la saisie à la prédiction en temps réel.</a:t>
            </a:r>
          </a:p>
          <a:p>
            <a:r>
              <a:rPr lang="fr-FR" sz="1600" b="1" dirty="0"/>
              <a:t>Intégration institutionnelle</a:t>
            </a:r>
            <a:endParaRPr lang="fr-FR" sz="1600" dirty="0"/>
          </a:p>
          <a:p>
            <a:r>
              <a:rPr lang="fr-FR" sz="1600" dirty="0"/>
              <a:t>Connecter le modèle au système de vérification interne de l’ONCFM.</a:t>
            </a:r>
          </a:p>
          <a:p>
            <a:r>
              <a:rPr lang="fr-FR" sz="1600" dirty="0"/>
              <a:t>Former les équipes à l’interprétation des résultats et au suivi des performances.</a:t>
            </a:r>
          </a:p>
        </p:txBody>
      </p:sp>
    </p:spTree>
    <p:extLst>
      <p:ext uri="{BB962C8B-B14F-4D97-AF65-F5344CB8AC3E}">
        <p14:creationId xmlns:p14="http://schemas.microsoft.com/office/powerpoint/2010/main" val="18118103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6218D76-DF3B-5C35-212B-D0D359BB8B9F}"/>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A3442910-9851-2576-7DB7-5A776DC4A8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Image 3" descr="Une image contenant texte, Impression, Police, Publication&#10;&#10;Le contenu généré par l’IA peut être incorrect.">
            <a:extLst>
              <a:ext uri="{FF2B5EF4-FFF2-40B4-BE49-F238E27FC236}">
                <a16:creationId xmlns:a16="http://schemas.microsoft.com/office/drawing/2014/main" id="{FB5AC180-E3F9-F941-628F-EC633EF4DA56}"/>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sharpenSoften amount="-79000"/>
                    </a14:imgEffect>
                  </a14:imgLayer>
                </a14:imgProps>
              </a:ext>
              <a:ext uri="{28A0092B-C50C-407E-A947-70E740481C1C}">
                <a14:useLocalDpi xmlns:a14="http://schemas.microsoft.com/office/drawing/2010/main" val="0"/>
              </a:ext>
            </a:extLst>
          </a:blip>
          <a:srcRect b="15730"/>
          <a:stretch>
            <a:fillRect/>
          </a:stretch>
        </p:blipFill>
        <p:spPr>
          <a:xfrm>
            <a:off x="-1" y="-3"/>
            <a:ext cx="12192001" cy="6858001"/>
          </a:xfrm>
          <a:prstGeom prst="rect">
            <a:avLst/>
          </a:prstGeom>
        </p:spPr>
      </p:pic>
      <p:sp>
        <p:nvSpPr>
          <p:cNvPr id="2" name="Titre 1">
            <a:extLst>
              <a:ext uri="{FF2B5EF4-FFF2-40B4-BE49-F238E27FC236}">
                <a16:creationId xmlns:a16="http://schemas.microsoft.com/office/drawing/2014/main" id="{3D3EFA1C-77B3-41C7-D00B-7EA552519DFF}"/>
              </a:ext>
            </a:extLst>
          </p:cNvPr>
          <p:cNvSpPr>
            <a:spLocks noGrp="1"/>
          </p:cNvSpPr>
          <p:nvPr>
            <p:ph type="ctrTitle"/>
          </p:nvPr>
        </p:nvSpPr>
        <p:spPr>
          <a:xfrm>
            <a:off x="1340062" y="928395"/>
            <a:ext cx="3376797" cy="784994"/>
          </a:xfrm>
        </p:spPr>
        <p:txBody>
          <a:bodyPr anchor="t">
            <a:normAutofit/>
          </a:bodyPr>
          <a:lstStyle/>
          <a:p>
            <a:pPr>
              <a:lnSpc>
                <a:spcPct val="90000"/>
              </a:lnSpc>
            </a:pPr>
            <a:r>
              <a:rPr lang="fr-FR" sz="4200" dirty="0">
                <a:solidFill>
                  <a:srgbClr val="FFFFFF"/>
                </a:solidFill>
              </a:rPr>
              <a:t>Conclusion</a:t>
            </a:r>
          </a:p>
        </p:txBody>
      </p:sp>
      <p:sp>
        <p:nvSpPr>
          <p:cNvPr id="25" name="Rectangle 24">
            <a:extLst>
              <a:ext uri="{FF2B5EF4-FFF2-40B4-BE49-F238E27FC236}">
                <a16:creationId xmlns:a16="http://schemas.microsoft.com/office/drawing/2014/main" id="{25C79D11-F107-4255-8C5F-6BEC269A05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ZoneTexte 6">
            <a:extLst>
              <a:ext uri="{FF2B5EF4-FFF2-40B4-BE49-F238E27FC236}">
                <a16:creationId xmlns:a16="http://schemas.microsoft.com/office/drawing/2014/main" id="{8AD810C3-91D0-0E06-2E5C-B2B39F3B103C}"/>
              </a:ext>
            </a:extLst>
          </p:cNvPr>
          <p:cNvSpPr txBox="1"/>
          <p:nvPr/>
        </p:nvSpPr>
        <p:spPr>
          <a:xfrm>
            <a:off x="517870" y="3064933"/>
            <a:ext cx="2895600" cy="2616101"/>
          </a:xfrm>
          <a:prstGeom prst="rect">
            <a:avLst/>
          </a:prstGeom>
          <a:noFill/>
        </p:spPr>
        <p:txBody>
          <a:bodyPr wrap="square" rtlCol="0">
            <a:spAutoFit/>
          </a:bodyPr>
          <a:lstStyle/>
          <a:p>
            <a:pPr algn="ctr"/>
            <a:r>
              <a:rPr lang="fr-FR" b="1" dirty="0"/>
              <a:t>Bilan global</a:t>
            </a:r>
            <a:br>
              <a:rPr lang="fr-FR" b="1" dirty="0"/>
            </a:br>
            <a:br>
              <a:rPr lang="fr-FR" dirty="0"/>
            </a:br>
            <a:r>
              <a:rPr lang="fr-FR" sz="1600" dirty="0"/>
              <a:t>Développement d’une solution </a:t>
            </a:r>
            <a:r>
              <a:rPr lang="fr-FR" sz="1600" b="1" dirty="0"/>
              <a:t>fiable, explicable et performante</a:t>
            </a:r>
            <a:r>
              <a:rPr lang="fr-FR" sz="1600" dirty="0"/>
              <a:t> pour détecter les faux billets à partir de mesures géométriques.</a:t>
            </a:r>
            <a:br>
              <a:rPr lang="fr-FR" sz="1600" dirty="0"/>
            </a:br>
            <a:r>
              <a:rPr lang="fr-FR" sz="1600" dirty="0"/>
              <a:t>Le modèle répond pleinement aux besoins opérationnels de l’ONCFM.</a:t>
            </a:r>
          </a:p>
        </p:txBody>
      </p:sp>
      <p:pic>
        <p:nvPicPr>
          <p:cNvPr id="9" name="Graphique 8" descr="Mille avec un remplissage uni">
            <a:extLst>
              <a:ext uri="{FF2B5EF4-FFF2-40B4-BE49-F238E27FC236}">
                <a16:creationId xmlns:a16="http://schemas.microsoft.com/office/drawing/2014/main" id="{66054DC3-5758-BF0D-E2B4-DFD405ECF3D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08470" y="2008913"/>
            <a:ext cx="914400" cy="914400"/>
          </a:xfrm>
          <a:prstGeom prst="rect">
            <a:avLst/>
          </a:prstGeom>
        </p:spPr>
      </p:pic>
      <p:sp>
        <p:nvSpPr>
          <p:cNvPr id="10" name="ZoneTexte 9">
            <a:extLst>
              <a:ext uri="{FF2B5EF4-FFF2-40B4-BE49-F238E27FC236}">
                <a16:creationId xmlns:a16="http://schemas.microsoft.com/office/drawing/2014/main" id="{885836F6-D2E7-27AF-39B6-60F02CFD242F}"/>
              </a:ext>
            </a:extLst>
          </p:cNvPr>
          <p:cNvSpPr txBox="1"/>
          <p:nvPr/>
        </p:nvSpPr>
        <p:spPr>
          <a:xfrm>
            <a:off x="4648199" y="3064933"/>
            <a:ext cx="2895600" cy="3108543"/>
          </a:xfrm>
          <a:prstGeom prst="rect">
            <a:avLst/>
          </a:prstGeom>
          <a:noFill/>
        </p:spPr>
        <p:txBody>
          <a:bodyPr wrap="square" rtlCol="0">
            <a:spAutoFit/>
          </a:bodyPr>
          <a:lstStyle/>
          <a:p>
            <a:pPr algn="ctr"/>
            <a:r>
              <a:rPr lang="fr-FR" b="1" dirty="0"/>
              <a:t>Résultats clés</a:t>
            </a:r>
            <a:br>
              <a:rPr lang="fr-FR" b="1" dirty="0"/>
            </a:br>
            <a:endParaRPr lang="fr-FR" dirty="0"/>
          </a:p>
          <a:p>
            <a:pPr algn="ctr"/>
            <a:r>
              <a:rPr lang="fr-FR" sz="1600" dirty="0"/>
              <a:t>La </a:t>
            </a:r>
            <a:r>
              <a:rPr lang="fr-FR" sz="1600" b="1" dirty="0"/>
              <a:t>régression logistique</a:t>
            </a:r>
            <a:r>
              <a:rPr lang="fr-FR" sz="1600" dirty="0"/>
              <a:t> s’impose comme le </a:t>
            </a:r>
            <a:r>
              <a:rPr lang="fr-FR" sz="1600" b="1" dirty="0"/>
              <a:t>meilleur compromis</a:t>
            </a:r>
            <a:r>
              <a:rPr lang="fr-FR" sz="1600" dirty="0"/>
              <a:t> entre </a:t>
            </a:r>
            <a:r>
              <a:rPr lang="fr-FR" sz="1600" b="1" dirty="0"/>
              <a:t>performance (99 % d’accuracy)</a:t>
            </a:r>
            <a:r>
              <a:rPr lang="fr-FR" sz="1600" dirty="0"/>
              <a:t>, </a:t>
            </a:r>
            <a:r>
              <a:rPr lang="fr-FR" sz="1600" b="1" dirty="0"/>
              <a:t>rapidité d’exécution</a:t>
            </a:r>
            <a:r>
              <a:rPr lang="fr-FR" sz="1600" dirty="0"/>
              <a:t> et </a:t>
            </a:r>
            <a:r>
              <a:rPr lang="fr-FR" sz="1600" b="1" dirty="0"/>
              <a:t>transparence</a:t>
            </a:r>
            <a:r>
              <a:rPr lang="fr-FR" sz="1600" dirty="0"/>
              <a:t>.</a:t>
            </a:r>
            <a:br>
              <a:rPr lang="fr-FR" sz="1600" dirty="0"/>
            </a:br>
            <a:r>
              <a:rPr lang="fr-FR" sz="1600" dirty="0"/>
              <a:t>Le modèle est désormais </a:t>
            </a:r>
            <a:r>
              <a:rPr lang="fr-FR" sz="1600" b="1" dirty="0"/>
              <a:t>opérationnel</a:t>
            </a:r>
            <a:r>
              <a:rPr lang="fr-FR" sz="1600" dirty="0"/>
              <a:t>, prêt à être appliqué sur de nouveaux échantillons de billets..</a:t>
            </a:r>
          </a:p>
        </p:txBody>
      </p:sp>
      <p:sp>
        <p:nvSpPr>
          <p:cNvPr id="11" name="ZoneTexte 10">
            <a:extLst>
              <a:ext uri="{FF2B5EF4-FFF2-40B4-BE49-F238E27FC236}">
                <a16:creationId xmlns:a16="http://schemas.microsoft.com/office/drawing/2014/main" id="{6B5B5CB5-8132-609D-C9C5-D428FC40E94E}"/>
              </a:ext>
            </a:extLst>
          </p:cNvPr>
          <p:cNvSpPr txBox="1"/>
          <p:nvPr/>
        </p:nvSpPr>
        <p:spPr>
          <a:xfrm>
            <a:off x="8778530" y="3064933"/>
            <a:ext cx="2895600" cy="2616101"/>
          </a:xfrm>
          <a:prstGeom prst="rect">
            <a:avLst/>
          </a:prstGeom>
          <a:noFill/>
        </p:spPr>
        <p:txBody>
          <a:bodyPr wrap="square" rtlCol="0">
            <a:spAutoFit/>
          </a:bodyPr>
          <a:lstStyle/>
          <a:p>
            <a:pPr algn="ctr"/>
            <a:r>
              <a:rPr lang="fr-FR" b="1" dirty="0"/>
              <a:t>Apports et impact</a:t>
            </a:r>
            <a:br>
              <a:rPr lang="fr-FR" b="1" dirty="0"/>
            </a:br>
            <a:br>
              <a:rPr lang="fr-FR" dirty="0"/>
            </a:br>
            <a:r>
              <a:rPr lang="fr-FR" sz="1600" dirty="0"/>
              <a:t>Ce projet </a:t>
            </a:r>
            <a:r>
              <a:rPr lang="fr-FR" sz="1600" b="1" dirty="0"/>
              <a:t>renforce la capacité de l’ONCFM à sécuriser la détection sur le terrain</a:t>
            </a:r>
            <a:r>
              <a:rPr lang="fr-FR" sz="1600" dirty="0"/>
              <a:t>, tout en ouvrant la voie à une </a:t>
            </a:r>
            <a:r>
              <a:rPr lang="fr-FR" sz="1600" b="1" dirty="0"/>
              <a:t>automatisation complète du processus</a:t>
            </a:r>
            <a:r>
              <a:rPr lang="fr-FR" sz="1600" dirty="0"/>
              <a:t> et à une meilleure traçabilité des contrôles.</a:t>
            </a:r>
          </a:p>
        </p:txBody>
      </p:sp>
      <p:pic>
        <p:nvPicPr>
          <p:cNvPr id="13" name="Graphique 12" descr="Graphique à barres avec tendance à la hausse avec un remplissage uni">
            <a:extLst>
              <a:ext uri="{FF2B5EF4-FFF2-40B4-BE49-F238E27FC236}">
                <a16:creationId xmlns:a16="http://schemas.microsoft.com/office/drawing/2014/main" id="{0040C0EE-FADF-5981-8245-DCB61E3EA7B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638799" y="2008913"/>
            <a:ext cx="914400" cy="914400"/>
          </a:xfrm>
          <a:prstGeom prst="rect">
            <a:avLst/>
          </a:prstGeom>
        </p:spPr>
      </p:pic>
      <p:pic>
        <p:nvPicPr>
          <p:cNvPr id="15" name="Graphique 14" descr="Ampoule avec un remplissage uni">
            <a:extLst>
              <a:ext uri="{FF2B5EF4-FFF2-40B4-BE49-F238E27FC236}">
                <a16:creationId xmlns:a16="http://schemas.microsoft.com/office/drawing/2014/main" id="{8E45A992-D8A2-331D-0B44-0E307BF9C79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769130" y="2008913"/>
            <a:ext cx="914400" cy="914400"/>
          </a:xfrm>
          <a:prstGeom prst="rect">
            <a:avLst/>
          </a:prstGeom>
        </p:spPr>
      </p:pic>
    </p:spTree>
    <p:extLst>
      <p:ext uri="{BB962C8B-B14F-4D97-AF65-F5344CB8AC3E}">
        <p14:creationId xmlns:p14="http://schemas.microsoft.com/office/powerpoint/2010/main" val="347942116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4508</TotalTime>
  <Words>2430</Words>
  <Application>Microsoft Office PowerPoint</Application>
  <PresentationFormat>Grand écran</PresentationFormat>
  <Paragraphs>144</Paragraphs>
  <Slides>15</Slides>
  <Notes>15</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15</vt:i4>
      </vt:variant>
    </vt:vector>
  </HeadingPairs>
  <TitlesOfParts>
    <vt:vector size="19" baseType="lpstr">
      <vt:lpstr>Aptos</vt:lpstr>
      <vt:lpstr>Arial</vt:lpstr>
      <vt:lpstr>Bierstadt</vt:lpstr>
      <vt:lpstr>GestaltVTI</vt:lpstr>
      <vt:lpstr>Détection de faux billets avec Python : Projet Data Analyst pour l’ONCFM</vt:lpstr>
      <vt:lpstr>Plan de la présentation</vt:lpstr>
      <vt:lpstr>Contexte et besoins de l’ONCFM</vt:lpstr>
      <vt:lpstr>Description du jeu de données</vt:lpstr>
      <vt:lpstr>Objectifs du projet et étapes de réalisation</vt:lpstr>
      <vt:lpstr>Analyse exploratoire et qualité des données</vt:lpstr>
      <vt:lpstr>Imputation de la variable manquante margin_low par régression linéaire</vt:lpstr>
      <vt:lpstr>Préparation des données : separation et standardisation</vt:lpstr>
      <vt:lpstr>Présentation et rôle des quatre modèles testés</vt:lpstr>
      <vt:lpstr>Résultats des modèles : comparaison des performances</vt:lpstr>
      <vt:lpstr>Pourquoi retenir la régression logistique ?</vt:lpstr>
      <vt:lpstr>Interprétation des variables clés dans la classification</vt:lpstr>
      <vt:lpstr>Mise en production du modèle : de la mesure à la prédiction</vt:lpstr>
      <vt:lpstr>Perspectives d’évolution et intégration future</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 Yung</dc:creator>
  <cp:lastModifiedBy>C Yung</cp:lastModifiedBy>
  <cp:revision>6</cp:revision>
  <dcterms:created xsi:type="dcterms:W3CDTF">2025-10-14T10:25:21Z</dcterms:created>
  <dcterms:modified xsi:type="dcterms:W3CDTF">2025-10-19T12:31:01Z</dcterms:modified>
</cp:coreProperties>
</file>