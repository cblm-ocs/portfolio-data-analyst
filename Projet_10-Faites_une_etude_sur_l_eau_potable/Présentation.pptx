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1" r:id="rId2"/>
    <p:sldId id="2562" r:id="rId3"/>
    <p:sldId id="2564" r:id="rId4"/>
    <p:sldId id="2565" r:id="rId5"/>
    <p:sldId id="2568" r:id="rId6"/>
    <p:sldId id="2572" r:id="rId7"/>
    <p:sldId id="2573" r:id="rId8"/>
    <p:sldId id="2578" r:id="rId9"/>
    <p:sldId id="2574" r:id="rId10"/>
    <p:sldId id="2587" r:id="rId11"/>
    <p:sldId id="2588" r:id="rId12"/>
    <p:sldId id="2569" r:id="rId13"/>
    <p:sldId id="2570" r:id="rId14"/>
    <p:sldId id="2577" r:id="rId15"/>
    <p:sldId id="2580"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7" d="100"/>
          <a:sy n="57" d="100"/>
        </p:scale>
        <p:origin x="1260" y="27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B1B8A4-9EA7-4EC6-A36A-CD3D75DDE333}" type="datetimeFigureOut">
              <a:rPr lang="fr-FR" smtClean="0"/>
              <a:t>13/09/2025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EDD72F-A13D-4620-9BCC-FFD5C9C86CB7}" type="slidenum">
              <a:rPr lang="fr-FR" smtClean="0"/>
              <a:t>‹N°›</a:t>
            </a:fld>
            <a:endParaRPr lang="fr-FR"/>
          </a:p>
        </p:txBody>
      </p:sp>
    </p:spTree>
    <p:extLst>
      <p:ext uri="{BB962C8B-B14F-4D97-AF65-F5344CB8AC3E}">
        <p14:creationId xmlns:p14="http://schemas.microsoft.com/office/powerpoint/2010/main" val="601814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contenu généré par l’IA peut être incorrect.
---
Cette présentation traitera de la conception d’un dashboard Power BI dédié à la planification et à l’analyse de l’accès à l’eau potable. Nous aborderons les enjeux mondiaux, le traitement des données, la conception méthodologique, le développement visuel, ainsi que la valeur ajoutée de l’outil pour la prise de décision.
Source de l’image : bibliothèque de contenu Microsoft 365
</a:t>
            </a:r>
          </a:p>
        </p:txBody>
      </p:sp>
      <p:sp>
        <p:nvSpPr>
          <p:cNvPr id="4" name="Espace réservé du numéro de diapositive 3"/>
          <p:cNvSpPr>
            <a:spLocks noGrp="1"/>
          </p:cNvSpPr>
          <p:nvPr>
            <p:ph type="sldNum" sz="quarter" idx="5"/>
          </p:nvPr>
        </p:nvSpPr>
        <p:spPr/>
        <p:txBody>
          <a:bodyPr/>
          <a:lstStyle/>
          <a:p>
            <a:fld id="{DC2EE4CD-48E7-432D-B47F-A298DF4457F1}" type="slidenum">
              <a:rPr lang="fr-FR" smtClean="0"/>
              <a:t>1</a:t>
            </a:fld>
            <a:endParaRPr lang="fr-FR"/>
          </a:p>
        </p:txBody>
      </p:sp>
    </p:spTree>
    <p:extLst>
      <p:ext uri="{BB962C8B-B14F-4D97-AF65-F5344CB8AC3E}">
        <p14:creationId xmlns:p14="http://schemas.microsoft.com/office/powerpoint/2010/main" val="2718565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
Nous commencerons par le contexte global et les enjeux liés à l’accès à l’eau potable. Ensuite, nous décrirons le prétraitement des données et les outils utilisés. Puis, nous présenterons le </a:t>
            </a:r>
            <a:r>
              <a:rPr lang="fr-FR" dirty="0" err="1"/>
              <a:t>blueprint</a:t>
            </a:r>
            <a:r>
              <a:rPr lang="fr-FR" dirty="0"/>
              <a:t> et la méthodologie de conception du dashboard. Nous poursuivrons avec le développement des </a:t>
            </a:r>
            <a:r>
              <a:rPr lang="fr-FR" dirty="0" err="1"/>
              <a:t>mockups</a:t>
            </a:r>
            <a:r>
              <a:rPr lang="fr-FR" dirty="0"/>
              <a:t> et du dashboard final, avant de conclure sur la pertinence de Power BI et les perspectives d’évolution.
Source de l’image : bibliothèque de contenu Microsoft 365
</a:t>
            </a:r>
          </a:p>
        </p:txBody>
      </p:sp>
      <p:sp>
        <p:nvSpPr>
          <p:cNvPr id="4" name="Espace réservé du numéro de diapositive 3"/>
          <p:cNvSpPr>
            <a:spLocks noGrp="1"/>
          </p:cNvSpPr>
          <p:nvPr>
            <p:ph type="sldNum" sz="quarter" idx="5"/>
          </p:nvPr>
        </p:nvSpPr>
        <p:spPr/>
        <p:txBody>
          <a:bodyPr/>
          <a:lstStyle/>
          <a:p>
            <a:fld id="{DC2EE4CD-48E7-432D-B47F-A298DF4457F1}" type="slidenum">
              <a:rPr lang="fr-FR" smtClean="0"/>
              <a:t>2</a:t>
            </a:fld>
            <a:endParaRPr lang="fr-FR"/>
          </a:p>
        </p:txBody>
      </p:sp>
    </p:spTree>
    <p:extLst>
      <p:ext uri="{BB962C8B-B14F-4D97-AF65-F5344CB8AC3E}">
        <p14:creationId xmlns:p14="http://schemas.microsoft.com/office/powerpoint/2010/main" val="1090573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L’eau potable est essentielle à la santé humaine, mais de nombreuses populations dans le monde en sont privées, ce qui engendre maladies et mortalité. Comprendre cette problématique est indispensable pour orienter efficacement les actions.
Source de l’image : bibliothèque de contenu Microsoft 365
</a:t>
            </a:r>
          </a:p>
        </p:txBody>
      </p:sp>
      <p:sp>
        <p:nvSpPr>
          <p:cNvPr id="4" name="Espace réservé du numéro de diapositive 3"/>
          <p:cNvSpPr>
            <a:spLocks noGrp="1"/>
          </p:cNvSpPr>
          <p:nvPr>
            <p:ph type="sldNum" sz="quarter" idx="5"/>
          </p:nvPr>
        </p:nvSpPr>
        <p:spPr/>
        <p:txBody>
          <a:bodyPr/>
          <a:lstStyle/>
          <a:p>
            <a:fld id="{DC2EE4CD-48E7-432D-B47F-A298DF4457F1}" type="slidenum">
              <a:rPr lang="fr-FR" smtClean="0"/>
              <a:t>3</a:t>
            </a:fld>
            <a:endParaRPr lang="fr-FR"/>
          </a:p>
        </p:txBody>
      </p:sp>
    </p:spTree>
    <p:extLst>
      <p:ext uri="{BB962C8B-B14F-4D97-AF65-F5344CB8AC3E}">
        <p14:creationId xmlns:p14="http://schemas.microsoft.com/office/powerpoint/2010/main" val="1114072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Le projet vise à identifier les zones géographiques à fort besoin en eau potable, en distinguant les contextes urbains et ruraux afin de cibler les interventions et ressources nécessaires de manière optimale.
Source de l’image : bibliothèque de contenu Microsoft 365
</a:t>
            </a:r>
          </a:p>
        </p:txBody>
      </p:sp>
      <p:sp>
        <p:nvSpPr>
          <p:cNvPr id="4" name="Espace réservé du numéro de diapositive 3"/>
          <p:cNvSpPr>
            <a:spLocks noGrp="1"/>
          </p:cNvSpPr>
          <p:nvPr>
            <p:ph type="sldNum" sz="quarter" idx="5"/>
          </p:nvPr>
        </p:nvSpPr>
        <p:spPr/>
        <p:txBody>
          <a:bodyPr/>
          <a:lstStyle/>
          <a:p>
            <a:fld id="{DC2EE4CD-48E7-432D-B47F-A298DF4457F1}" type="slidenum">
              <a:rPr lang="fr-FR" smtClean="0"/>
              <a:t>4</a:t>
            </a:fld>
            <a:endParaRPr lang="fr-FR"/>
          </a:p>
        </p:txBody>
      </p:sp>
    </p:spTree>
    <p:extLst>
      <p:ext uri="{BB962C8B-B14F-4D97-AF65-F5344CB8AC3E}">
        <p14:creationId xmlns:p14="http://schemas.microsoft.com/office/powerpoint/2010/main" val="1303576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Les données proviennent principalement d’organisations internationales telles que l’OMS et l’ONU, offrant des informations fiables et actualisées sur l’accès à l’eau potable à travers le monde.
Source de l’image : bibliothèque de contenu Microsoft 365
</a:t>
            </a:r>
          </a:p>
        </p:txBody>
      </p:sp>
      <p:sp>
        <p:nvSpPr>
          <p:cNvPr id="4" name="Espace réservé du numéro de diapositive 3"/>
          <p:cNvSpPr>
            <a:spLocks noGrp="1"/>
          </p:cNvSpPr>
          <p:nvPr>
            <p:ph type="sldNum" sz="quarter" idx="5"/>
          </p:nvPr>
        </p:nvSpPr>
        <p:spPr/>
        <p:txBody>
          <a:bodyPr/>
          <a:lstStyle/>
          <a:p>
            <a:fld id="{DC2EE4CD-48E7-432D-B47F-A298DF4457F1}" type="slidenum">
              <a:rPr lang="fr-FR" smtClean="0"/>
              <a:t>5</a:t>
            </a:fld>
            <a:endParaRPr lang="fr-FR"/>
          </a:p>
        </p:txBody>
      </p:sp>
    </p:spTree>
    <p:extLst>
      <p:ext uri="{BB962C8B-B14F-4D97-AF65-F5344CB8AC3E}">
        <p14:creationId xmlns:p14="http://schemas.microsoft.com/office/powerpoint/2010/main" val="1450781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
Le </a:t>
            </a:r>
            <a:r>
              <a:rPr lang="fr-FR" dirty="0" err="1"/>
              <a:t>blueprint</a:t>
            </a:r>
            <a:r>
              <a:rPr lang="fr-FR" dirty="0"/>
              <a:t> illustre l’architecture du dashboard avec ses différentes vues et indicateurs clés, accompagné de captures d’écran pour mieux comprendre son organisation et son ergonomie.
Source de l’image : bibliothèque de contenu Microsoft 365
</a:t>
            </a:r>
          </a:p>
        </p:txBody>
      </p:sp>
      <p:sp>
        <p:nvSpPr>
          <p:cNvPr id="4" name="Espace réservé du numéro de diapositive 3"/>
          <p:cNvSpPr>
            <a:spLocks noGrp="1"/>
          </p:cNvSpPr>
          <p:nvPr>
            <p:ph type="sldNum" sz="quarter" idx="5"/>
          </p:nvPr>
        </p:nvSpPr>
        <p:spPr/>
        <p:txBody>
          <a:bodyPr/>
          <a:lstStyle/>
          <a:p>
            <a:fld id="{DC2EE4CD-48E7-432D-B47F-A298DF4457F1}" type="slidenum">
              <a:rPr lang="fr-FR" smtClean="0"/>
              <a:t>6</a:t>
            </a:fld>
            <a:endParaRPr lang="fr-FR"/>
          </a:p>
        </p:txBody>
      </p:sp>
    </p:spTree>
    <p:extLst>
      <p:ext uri="{BB962C8B-B14F-4D97-AF65-F5344CB8AC3E}">
        <p14:creationId xmlns:p14="http://schemas.microsoft.com/office/powerpoint/2010/main" val="876176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La conception s’est appuyée sur les besoins exprimés par les utilisateurs, permettant de choisir les types de visualisations les plus pertinentes, comme les cartes choroplèthes ou les graphiques multi-niveaux.
Source de l’image : bibliothèque de contenu Microsoft 365
</a:t>
            </a:r>
          </a:p>
        </p:txBody>
      </p:sp>
      <p:sp>
        <p:nvSpPr>
          <p:cNvPr id="4" name="Espace réservé du numéro de diapositive 3"/>
          <p:cNvSpPr>
            <a:spLocks noGrp="1"/>
          </p:cNvSpPr>
          <p:nvPr>
            <p:ph type="sldNum" sz="quarter" idx="5"/>
          </p:nvPr>
        </p:nvSpPr>
        <p:spPr/>
        <p:txBody>
          <a:bodyPr/>
          <a:lstStyle/>
          <a:p>
            <a:fld id="{DC2EE4CD-48E7-432D-B47F-A298DF4457F1}" type="slidenum">
              <a:rPr lang="fr-FR" smtClean="0"/>
              <a:t>7</a:t>
            </a:fld>
            <a:endParaRPr lang="fr-FR"/>
          </a:p>
        </p:txBody>
      </p:sp>
    </p:spTree>
    <p:extLst>
      <p:ext uri="{BB962C8B-B14F-4D97-AF65-F5344CB8AC3E}">
        <p14:creationId xmlns:p14="http://schemas.microsoft.com/office/powerpoint/2010/main" val="665392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
Une capture d’écran du dashboard final illustre son interface conviviale, son interactivité et la diversité des données présentées, offrant un outil complet pour l’analyse stratégique de l’accès à l’eau potable.
Source de l’image : bibliothèque de contenu Microsoft 365
</a:t>
            </a:r>
          </a:p>
        </p:txBody>
      </p:sp>
      <p:sp>
        <p:nvSpPr>
          <p:cNvPr id="4" name="Espace réservé du numéro de diapositive 3"/>
          <p:cNvSpPr>
            <a:spLocks noGrp="1"/>
          </p:cNvSpPr>
          <p:nvPr>
            <p:ph type="sldNum" sz="quarter" idx="5"/>
          </p:nvPr>
        </p:nvSpPr>
        <p:spPr/>
        <p:txBody>
          <a:bodyPr/>
          <a:lstStyle/>
          <a:p>
            <a:fld id="{DC2EE4CD-48E7-432D-B47F-A298DF4457F1}" type="slidenum">
              <a:rPr lang="fr-FR" smtClean="0"/>
              <a:t>8</a:t>
            </a:fld>
            <a:endParaRPr lang="fr-FR"/>
          </a:p>
        </p:txBody>
      </p:sp>
    </p:spTree>
    <p:extLst>
      <p:ext uri="{BB962C8B-B14F-4D97-AF65-F5344CB8AC3E}">
        <p14:creationId xmlns:p14="http://schemas.microsoft.com/office/powerpoint/2010/main" val="19012317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
L’approche méthodologique garantit que les informations affichées sont claires, exploitables et adaptées à la diversité des utilisateurs, renforçant ainsi la qualité des décisions prises à partir du dashboard.
Source de l’image : bibliothèque de contenu Microsoft 365
</a:t>
            </a:r>
          </a:p>
        </p:txBody>
      </p:sp>
      <p:sp>
        <p:nvSpPr>
          <p:cNvPr id="4" name="Espace réservé du numéro de diapositive 3"/>
          <p:cNvSpPr>
            <a:spLocks noGrp="1"/>
          </p:cNvSpPr>
          <p:nvPr>
            <p:ph type="sldNum" sz="quarter" idx="5"/>
          </p:nvPr>
        </p:nvSpPr>
        <p:spPr/>
        <p:txBody>
          <a:bodyPr/>
          <a:lstStyle/>
          <a:p>
            <a:fld id="{DC2EE4CD-48E7-432D-B47F-A298DF4457F1}" type="slidenum">
              <a:rPr lang="fr-FR" smtClean="0"/>
              <a:t>9</a:t>
            </a:fld>
            <a:endParaRPr lang="fr-FR"/>
          </a:p>
        </p:txBody>
      </p:sp>
    </p:spTree>
    <p:extLst>
      <p:ext uri="{BB962C8B-B14F-4D97-AF65-F5344CB8AC3E}">
        <p14:creationId xmlns:p14="http://schemas.microsoft.com/office/powerpoint/2010/main" val="3372837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9D49F-5CAA-4EBC-63F5-6A58F88B334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38B418E-8F35-CCBC-3CD3-11A80E9E0F5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479A991-BAEA-8A2C-180F-0BE4711D7073}"/>
              </a:ext>
            </a:extLst>
          </p:cNvPr>
          <p:cNvSpPr>
            <a:spLocks noGrp="1"/>
          </p:cNvSpPr>
          <p:nvPr>
            <p:ph type="body" idx="1"/>
          </p:nvPr>
        </p:nvSpPr>
        <p:spPr/>
        <p:txBody>
          <a:bodyPr/>
          <a:lstStyle/>
          <a:p>
            <a:r>
              <a:rPr lang="fr-FR" dirty="0"/>
              <a:t>
---
L’approche méthodologique garantit que les informations affichées sont claires, exploitables et adaptées à la diversité des utilisateurs, renforçant ainsi la qualité des décisions prises à partir du dashboard.
Source de l’image : bibliothèque de contenu Microsoft 365
</a:t>
            </a:r>
          </a:p>
        </p:txBody>
      </p:sp>
      <p:sp>
        <p:nvSpPr>
          <p:cNvPr id="4" name="Espace réservé du numéro de diapositive 3">
            <a:extLst>
              <a:ext uri="{FF2B5EF4-FFF2-40B4-BE49-F238E27FC236}">
                <a16:creationId xmlns:a16="http://schemas.microsoft.com/office/drawing/2014/main" id="{B7849CCB-9D3D-E46F-1F49-B89C7C6A15E8}"/>
              </a:ext>
            </a:extLst>
          </p:cNvPr>
          <p:cNvSpPr>
            <a:spLocks noGrp="1"/>
          </p:cNvSpPr>
          <p:nvPr>
            <p:ph type="sldNum" sz="quarter" idx="5"/>
          </p:nvPr>
        </p:nvSpPr>
        <p:spPr/>
        <p:txBody>
          <a:bodyPr/>
          <a:lstStyle/>
          <a:p>
            <a:fld id="{DC2EE4CD-48E7-432D-B47F-A298DF4457F1}" type="slidenum">
              <a:rPr lang="fr-FR" smtClean="0"/>
              <a:t>10</a:t>
            </a:fld>
            <a:endParaRPr lang="fr-FR"/>
          </a:p>
        </p:txBody>
      </p:sp>
    </p:spTree>
    <p:extLst>
      <p:ext uri="{BB962C8B-B14F-4D97-AF65-F5344CB8AC3E}">
        <p14:creationId xmlns:p14="http://schemas.microsoft.com/office/powerpoint/2010/main" val="682375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6077E-BA62-DDF0-3800-68CF264CC37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9F4FD96-F80C-F3E7-A2AC-6DAFB3E1AAA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D822FF7-AA84-3F36-4023-84C2F35FEFE2}"/>
              </a:ext>
            </a:extLst>
          </p:cNvPr>
          <p:cNvSpPr>
            <a:spLocks noGrp="1"/>
          </p:cNvSpPr>
          <p:nvPr>
            <p:ph type="body" idx="1"/>
          </p:nvPr>
        </p:nvSpPr>
        <p:spPr/>
        <p:txBody>
          <a:bodyPr/>
          <a:lstStyle/>
          <a:p>
            <a:r>
              <a:rPr lang="fr-FR" dirty="0"/>
              <a:t>
---
L’approche méthodologique garantit que les informations affichées sont claires, exploitables et adaptées à la diversité des utilisateurs, renforçant ainsi la qualité des décisions prises à partir du dashboard.
Source de l’image : bibliothèque de contenu Microsoft 365
</a:t>
            </a:r>
          </a:p>
        </p:txBody>
      </p:sp>
      <p:sp>
        <p:nvSpPr>
          <p:cNvPr id="4" name="Espace réservé du numéro de diapositive 3">
            <a:extLst>
              <a:ext uri="{FF2B5EF4-FFF2-40B4-BE49-F238E27FC236}">
                <a16:creationId xmlns:a16="http://schemas.microsoft.com/office/drawing/2014/main" id="{59E280D3-9B36-452D-762E-03DD3E011B03}"/>
              </a:ext>
            </a:extLst>
          </p:cNvPr>
          <p:cNvSpPr>
            <a:spLocks noGrp="1"/>
          </p:cNvSpPr>
          <p:nvPr>
            <p:ph type="sldNum" sz="quarter" idx="5"/>
          </p:nvPr>
        </p:nvSpPr>
        <p:spPr/>
        <p:txBody>
          <a:bodyPr/>
          <a:lstStyle/>
          <a:p>
            <a:fld id="{DC2EE4CD-48E7-432D-B47F-A298DF4457F1}" type="slidenum">
              <a:rPr lang="fr-FR" smtClean="0"/>
              <a:t>11</a:t>
            </a:fld>
            <a:endParaRPr lang="fr-FR"/>
          </a:p>
        </p:txBody>
      </p:sp>
    </p:spTree>
    <p:extLst>
      <p:ext uri="{BB962C8B-B14F-4D97-AF65-F5344CB8AC3E}">
        <p14:creationId xmlns:p14="http://schemas.microsoft.com/office/powerpoint/2010/main" val="823246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Les données brutes nécessitent un nettoyage rigoureux, une transformation adaptée et une structuration afin d’être exploitables dans Power BI pour produire des analyses précises et cohérentes.
Source de l’image : bibliothèque de contenu Microsoft 365
</a:t>
            </a:r>
          </a:p>
        </p:txBody>
      </p:sp>
      <p:sp>
        <p:nvSpPr>
          <p:cNvPr id="4" name="Espace réservé du numéro de diapositive 3"/>
          <p:cNvSpPr>
            <a:spLocks noGrp="1"/>
          </p:cNvSpPr>
          <p:nvPr>
            <p:ph type="sldNum" sz="quarter" idx="5"/>
          </p:nvPr>
        </p:nvSpPr>
        <p:spPr/>
        <p:txBody>
          <a:bodyPr/>
          <a:lstStyle/>
          <a:p>
            <a:fld id="{DC2EE4CD-48E7-432D-B47F-A298DF4457F1}" type="slidenum">
              <a:rPr lang="fr-FR" smtClean="0"/>
              <a:t>12</a:t>
            </a:fld>
            <a:endParaRPr lang="fr-FR"/>
          </a:p>
        </p:txBody>
      </p:sp>
    </p:spTree>
    <p:extLst>
      <p:ext uri="{BB962C8B-B14F-4D97-AF65-F5344CB8AC3E}">
        <p14:creationId xmlns:p14="http://schemas.microsoft.com/office/powerpoint/2010/main" val="7904522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
Power Query est utilisé pour préparer les données grâce à ses puissantes fonctionnalités de transformation. Power BI sert à la création du dashboard interactif, réunissant et visualisant les données transformées.
Source de l’image : bibliothèque de contenu Microsoft 365
</a:t>
            </a:r>
          </a:p>
        </p:txBody>
      </p:sp>
      <p:sp>
        <p:nvSpPr>
          <p:cNvPr id="4" name="Espace réservé du numéro de diapositive 3"/>
          <p:cNvSpPr>
            <a:spLocks noGrp="1"/>
          </p:cNvSpPr>
          <p:nvPr>
            <p:ph type="sldNum" sz="quarter" idx="5"/>
          </p:nvPr>
        </p:nvSpPr>
        <p:spPr/>
        <p:txBody>
          <a:bodyPr/>
          <a:lstStyle/>
          <a:p>
            <a:fld id="{DC2EE4CD-48E7-432D-B47F-A298DF4457F1}" type="slidenum">
              <a:rPr lang="fr-FR" smtClean="0"/>
              <a:t>13</a:t>
            </a:fld>
            <a:endParaRPr lang="fr-FR"/>
          </a:p>
        </p:txBody>
      </p:sp>
    </p:spTree>
    <p:extLst>
      <p:ext uri="{BB962C8B-B14F-4D97-AF65-F5344CB8AC3E}">
        <p14:creationId xmlns:p14="http://schemas.microsoft.com/office/powerpoint/2010/main" val="37594046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Plusieurs types de visualisations sont utilisés : histogrammes pour les comparaisons, courbes pour les tendances, graphiques scatter pour les corrélations, et cartes choroplèthes pour la représentation géographique des données.
Source de l’image : bibliothèque de contenu Microsoft 365
</a:t>
            </a:r>
          </a:p>
        </p:txBody>
      </p:sp>
      <p:sp>
        <p:nvSpPr>
          <p:cNvPr id="4" name="Espace réservé du numéro de diapositive 3"/>
          <p:cNvSpPr>
            <a:spLocks noGrp="1"/>
          </p:cNvSpPr>
          <p:nvPr>
            <p:ph type="sldNum" sz="quarter" idx="5"/>
          </p:nvPr>
        </p:nvSpPr>
        <p:spPr/>
        <p:txBody>
          <a:bodyPr/>
          <a:lstStyle/>
          <a:p>
            <a:fld id="{DC2EE4CD-48E7-432D-B47F-A298DF4457F1}" type="slidenum">
              <a:rPr lang="fr-FR" smtClean="0"/>
              <a:t>14</a:t>
            </a:fld>
            <a:endParaRPr lang="fr-FR"/>
          </a:p>
        </p:txBody>
      </p:sp>
    </p:spTree>
    <p:extLst>
      <p:ext uri="{BB962C8B-B14F-4D97-AF65-F5344CB8AC3E}">
        <p14:creationId xmlns:p14="http://schemas.microsoft.com/office/powerpoint/2010/main" val="27340636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Power BI permet de gérer différentes granularités de données, intégrant à la fois des informations globales et locales, tout en offrant un large éventail de visualisations adaptées aux besoins analytiques.
Source de l’image : bibliothèque de contenu Microsoft 365
</a:t>
            </a:r>
          </a:p>
        </p:txBody>
      </p:sp>
      <p:sp>
        <p:nvSpPr>
          <p:cNvPr id="4" name="Espace réservé du numéro de diapositive 3"/>
          <p:cNvSpPr>
            <a:spLocks noGrp="1"/>
          </p:cNvSpPr>
          <p:nvPr>
            <p:ph type="sldNum" sz="quarter" idx="5"/>
          </p:nvPr>
        </p:nvSpPr>
        <p:spPr/>
        <p:txBody>
          <a:bodyPr/>
          <a:lstStyle/>
          <a:p>
            <a:fld id="{DC2EE4CD-48E7-432D-B47F-A298DF4457F1}" type="slidenum">
              <a:rPr lang="fr-FR" smtClean="0"/>
              <a:t>15</a:t>
            </a:fld>
            <a:endParaRPr lang="fr-FR"/>
          </a:p>
        </p:txBody>
      </p:sp>
    </p:spTree>
    <p:extLst>
      <p:ext uri="{BB962C8B-B14F-4D97-AF65-F5344CB8AC3E}">
        <p14:creationId xmlns:p14="http://schemas.microsoft.com/office/powerpoint/2010/main" val="1029244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9/13/2025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328092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9/13/2025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236440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9/13/2025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‹N°›</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2621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9/13/2025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2767841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9/13/2025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4973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9/13/2025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994728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9/13/2025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3809488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9/13/2025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2934633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9/13/2025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41977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9/13/2025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‹N°›</a:t>
            </a:fld>
            <a:endParaRPr lang="en-US"/>
          </a:p>
        </p:txBody>
      </p:sp>
    </p:spTree>
    <p:extLst>
      <p:ext uri="{BB962C8B-B14F-4D97-AF65-F5344CB8AC3E}">
        <p14:creationId xmlns:p14="http://schemas.microsoft.com/office/powerpoint/2010/main" val="3613019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9/13/2025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‹N°›</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7837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9/13/2025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‹N°›</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066017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Image 3">
            <a:extLst>
              <a:ext uri="{FF2B5EF4-FFF2-40B4-BE49-F238E27FC236}">
                <a16:creationId xmlns:a16="http://schemas.microsoft.com/office/drawing/2014/main" id="{9460ED2E-0732-49F6-A112-0CA33FE331EC}"/>
              </a:ext>
            </a:extLst>
          </p:cNvPr>
          <p:cNvPicPr>
            <a:picLocks noChangeAspect="1"/>
          </p:cNvPicPr>
          <p:nvPr/>
        </p:nvPicPr>
        <p:blipFill>
          <a:blip r:embed="rId3">
            <a:extLst>
              <a:ext uri="{28A0092B-C50C-407E-A947-70E740481C1C}">
                <a14:useLocalDpi xmlns:a14="http://schemas.microsoft.com/office/drawing/2010/main" val="0"/>
              </a:ext>
            </a:extLst>
          </a:blip>
          <a:srcRect t="10622" b="10622"/>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912025B4-7337-735E-4DC9-E634D2011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re 1">
            <a:extLst>
              <a:ext uri="{FF2B5EF4-FFF2-40B4-BE49-F238E27FC236}">
                <a16:creationId xmlns:a16="http://schemas.microsoft.com/office/drawing/2014/main" id="{4CE54444-0174-4DA3-C69F-2663D2388DD6}"/>
              </a:ext>
            </a:extLst>
          </p:cNvPr>
          <p:cNvSpPr>
            <a:spLocks noGrp="1"/>
          </p:cNvSpPr>
          <p:nvPr>
            <p:ph type="ctrTitle"/>
          </p:nvPr>
        </p:nvSpPr>
        <p:spPr>
          <a:xfrm>
            <a:off x="438910" y="978408"/>
            <a:ext cx="4795819" cy="3969960"/>
          </a:xfrm>
        </p:spPr>
        <p:txBody>
          <a:bodyPr anchor="t">
            <a:normAutofit/>
          </a:bodyPr>
          <a:lstStyle/>
          <a:p>
            <a:pPr>
              <a:lnSpc>
                <a:spcPct val="90000"/>
              </a:lnSpc>
            </a:pPr>
            <a:r>
              <a:rPr lang="fr-FR" sz="3600" dirty="0"/>
              <a:t>Planification et analyse de l’accès à l’eau potable : conception d’un dashboard Power BI pour la prise de décision</a:t>
            </a:r>
          </a:p>
        </p:txBody>
      </p:sp>
      <p:sp>
        <p:nvSpPr>
          <p:cNvPr id="3" name="Sous-titre 2">
            <a:extLst>
              <a:ext uri="{FF2B5EF4-FFF2-40B4-BE49-F238E27FC236}">
                <a16:creationId xmlns:a16="http://schemas.microsoft.com/office/drawing/2014/main" id="{B463BCBE-BD67-DF6B-540D-051017FA3518}"/>
              </a:ext>
            </a:extLst>
          </p:cNvPr>
          <p:cNvSpPr>
            <a:spLocks noGrp="1"/>
          </p:cNvSpPr>
          <p:nvPr>
            <p:ph type="subTitle" idx="1"/>
          </p:nvPr>
        </p:nvSpPr>
        <p:spPr>
          <a:xfrm>
            <a:off x="438910" y="4948369"/>
            <a:ext cx="4381634" cy="1157436"/>
          </a:xfrm>
        </p:spPr>
        <p:txBody>
          <a:bodyPr anchor="b">
            <a:normAutofit/>
          </a:bodyPr>
          <a:lstStyle/>
          <a:p>
            <a:r>
              <a:rPr lang="fr-FR" sz="2400" dirty="0"/>
              <a:t>Outil visuel pour améliorer la gestion de l’eau potable</a:t>
            </a:r>
          </a:p>
        </p:txBody>
      </p:sp>
      <p:sp>
        <p:nvSpPr>
          <p:cNvPr id="13" name="Rectangle 12">
            <a:extLst>
              <a:ext uri="{FF2B5EF4-FFF2-40B4-BE49-F238E27FC236}">
                <a16:creationId xmlns:a16="http://schemas.microsoft.com/office/drawing/2014/main" id="{150CDACD-D191-E642-F686-FCB54B7E5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80918000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re 1">
            <a:extLst>
              <a:ext uri="{FF2B5EF4-FFF2-40B4-BE49-F238E27FC236}">
                <a16:creationId xmlns:a16="http://schemas.microsoft.com/office/drawing/2014/main" id="{54F621C1-884A-7D02-6B48-E5605670FC0B}"/>
              </a:ext>
            </a:extLst>
          </p:cNvPr>
          <p:cNvSpPr>
            <a:spLocks noGrp="1"/>
          </p:cNvSpPr>
          <p:nvPr>
            <p:ph type="title"/>
          </p:nvPr>
        </p:nvSpPr>
        <p:spPr>
          <a:xfrm>
            <a:off x="6995160" y="978408"/>
            <a:ext cx="4745736" cy="1463040"/>
          </a:xfrm>
        </p:spPr>
        <p:txBody>
          <a:bodyPr vert="horz" lIns="91440" tIns="45720" rIns="91440" bIns="45720" rtlCol="0" anchor="t">
            <a:normAutofit/>
          </a:bodyPr>
          <a:lstStyle/>
          <a:p>
            <a:r>
              <a:rPr lang="en-US" b="1" kern="1200" dirty="0">
                <a:solidFill>
                  <a:schemeClr val="accent2">
                    <a:lumMod val="50000"/>
                  </a:schemeClr>
                </a:solidFill>
                <a:latin typeface="+mj-lt"/>
                <a:ea typeface="+mj-ea"/>
                <a:cs typeface="+mj-cs"/>
              </a:rPr>
              <a:t>Programme de la présentation</a:t>
            </a:r>
          </a:p>
        </p:txBody>
      </p:sp>
      <p:pic>
        <p:nvPicPr>
          <p:cNvPr id="5" name="Espace réservé du contenu 4" descr="http://teekid.com/istockphoto/banner/banner3.jpg">
            <a:extLst>
              <a:ext uri="{FF2B5EF4-FFF2-40B4-BE49-F238E27FC236}">
                <a16:creationId xmlns:a16="http://schemas.microsoft.com/office/drawing/2014/main" id="{874A1394-5F3A-4C04-A557-3A575CF5EBB6}"/>
              </a:ext>
            </a:extLst>
          </p:cNvPr>
          <p:cNvPicPr>
            <a:picLocks noGrp="1" noChangeAspect="1"/>
          </p:cNvPicPr>
          <p:nvPr>
            <p:ph sz="half" idx="1"/>
          </p:nvPr>
        </p:nvPicPr>
        <p:blipFill>
          <a:blip r:embed="rId3"/>
          <a:srcRect l="2414" r="-3" b="-3"/>
          <a:stretch>
            <a:fillRect/>
          </a:stretch>
        </p:blipFill>
        <p:spPr>
          <a:xfrm>
            <a:off x="517868" y="508090"/>
            <a:ext cx="5705856" cy="5846990"/>
          </a:xfrm>
          <a:prstGeom prst="rect">
            <a:avLst/>
          </a:prstGeom>
        </p:spPr>
      </p:pic>
      <p:sp>
        <p:nvSpPr>
          <p:cNvPr id="14" name="Freeform: Shape 13">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6407" y="508090"/>
            <a:ext cx="4660733"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Espace réservé du contenu 3">
            <a:extLst>
              <a:ext uri="{FF2B5EF4-FFF2-40B4-BE49-F238E27FC236}">
                <a16:creationId xmlns:a16="http://schemas.microsoft.com/office/drawing/2014/main" id="{8396138C-0688-9531-E974-0FE74C10296F}"/>
              </a:ext>
            </a:extLst>
          </p:cNvPr>
          <p:cNvSpPr>
            <a:spLocks noGrp="1"/>
          </p:cNvSpPr>
          <p:nvPr>
            <p:ph sz="half" idx="2"/>
            <p:extLst>
              <p:ext uri="{E7BDC344-281C-4309-B0C6-D0EE65EED2A8}">
                <p202:designPr xmlns:p202="http://schemas.microsoft.com/office/powerpoint/2020/02/main">
                  <p202:designTagLst>
                    <p202:designTag name="ARCH:1:CLS" val="BulletedText"/>
                  </p202:designTagLst>
                </p202:designPr>
              </p:ext>
            </p:extLst>
          </p:nvPr>
        </p:nvSpPr>
        <p:spPr>
          <a:xfrm>
            <a:off x="6995160" y="2578608"/>
            <a:ext cx="4672584" cy="3767328"/>
          </a:xfrm>
        </p:spPr>
        <p:txBody>
          <a:bodyPr vert="horz" lIns="91440" tIns="45720" rIns="91440" bIns="45720" rtlCol="0">
            <a:normAutofit/>
          </a:bodyPr>
          <a:lstStyle/>
          <a:p>
            <a:pPr>
              <a:lnSpc>
                <a:spcPct val="100000"/>
              </a:lnSpc>
            </a:pPr>
            <a:r>
              <a:rPr lang="en-US" dirty="0"/>
              <a:t>Contexte et enjeux mondiaux de l’accès à l’eau potable</a:t>
            </a:r>
          </a:p>
          <a:p>
            <a:pPr>
              <a:lnSpc>
                <a:spcPct val="100000"/>
              </a:lnSpc>
            </a:pPr>
            <a:r>
              <a:rPr lang="en-US" dirty="0"/>
              <a:t>Prétraitement des données pour l’analyse</a:t>
            </a:r>
          </a:p>
          <a:p>
            <a:pPr>
              <a:lnSpc>
                <a:spcPct val="100000"/>
              </a:lnSpc>
            </a:pPr>
            <a:r>
              <a:rPr lang="en-US" dirty="0"/>
              <a:t>Blueprint et conception méthodologique du dashboard</a:t>
            </a:r>
          </a:p>
          <a:p>
            <a:pPr>
              <a:lnSpc>
                <a:spcPct val="100000"/>
              </a:lnSpc>
            </a:pPr>
            <a:r>
              <a:rPr lang="en-US" dirty="0"/>
              <a:t>Développement et présentation des mockups et dashboard final</a:t>
            </a:r>
          </a:p>
          <a:p>
            <a:pPr>
              <a:lnSpc>
                <a:spcPct val="100000"/>
              </a:lnSpc>
            </a:pPr>
            <a:r>
              <a:rPr lang="en-US" dirty="0"/>
              <a:t>Pertinence et valeur ajoutée de Power BI pour ce projet</a:t>
            </a:r>
          </a:p>
          <a:p>
            <a:pPr>
              <a:lnSpc>
                <a:spcPct val="100000"/>
              </a:lnSpc>
            </a:pPr>
            <a:r>
              <a:rPr lang="en-US" dirty="0"/>
              <a:t>Conclusion et perspectives d’évolution du projet</a:t>
            </a:r>
          </a:p>
        </p:txBody>
      </p:sp>
    </p:spTree>
    <p:extLst>
      <p:ext uri="{BB962C8B-B14F-4D97-AF65-F5344CB8AC3E}">
        <p14:creationId xmlns:p14="http://schemas.microsoft.com/office/powerpoint/2010/main" val="26741569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4C32CD27-7027-AB2B-38F1-71C08EB84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70506C64-033C-BD81-0726-72ACE0B74130}"/>
              </a:ext>
            </a:extLst>
          </p:cNvPr>
          <p:cNvSpPr>
            <a:spLocks noGrp="1"/>
          </p:cNvSpPr>
          <p:nvPr>
            <p:ph type="title"/>
          </p:nvPr>
        </p:nvSpPr>
        <p:spPr>
          <a:xfrm>
            <a:off x="5431536" y="978408"/>
            <a:ext cx="6236208" cy="681059"/>
          </a:xfrm>
        </p:spPr>
        <p:txBody>
          <a:bodyPr vert="horz" lIns="91440" tIns="45720" rIns="91440" bIns="45720" rtlCol="0" anchor="t">
            <a:normAutofit/>
          </a:bodyPr>
          <a:lstStyle/>
          <a:p>
            <a:pPr>
              <a:lnSpc>
                <a:spcPct val="90000"/>
              </a:lnSpc>
            </a:pPr>
            <a:r>
              <a:rPr lang="en-US" sz="3100" b="1" kern="1200" dirty="0">
                <a:solidFill>
                  <a:schemeClr val="accent2">
                    <a:lumMod val="50000"/>
                  </a:schemeClr>
                </a:solidFill>
                <a:latin typeface="+mj-lt"/>
                <a:ea typeface="+mj-ea"/>
                <a:cs typeface="+mj-cs"/>
              </a:rPr>
              <a:t>Contexte - Enjeux</a:t>
            </a:r>
          </a:p>
        </p:txBody>
      </p:sp>
      <p:pic>
        <p:nvPicPr>
          <p:cNvPr id="5" name="Espace réservé du contenu 4">
            <a:extLst>
              <a:ext uri="{FF2B5EF4-FFF2-40B4-BE49-F238E27FC236}">
                <a16:creationId xmlns:a16="http://schemas.microsoft.com/office/drawing/2014/main" id="{982CAE3C-0245-4B47-945E-1E8BD98E6547}"/>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l="30007" r="30007"/>
          <a:stretch/>
        </p:blipFill>
        <p:spPr>
          <a:xfrm>
            <a:off x="517869" y="508091"/>
            <a:ext cx="4221911" cy="5837918"/>
          </a:xfrm>
          <a:prstGeom prst="rect">
            <a:avLst/>
          </a:prstGeom>
        </p:spPr>
      </p:pic>
      <p:sp>
        <p:nvSpPr>
          <p:cNvPr id="14" name="Freeform: Shape 13">
            <a:extLst>
              <a:ext uri="{FF2B5EF4-FFF2-40B4-BE49-F238E27FC236}">
                <a16:creationId xmlns:a16="http://schemas.microsoft.com/office/drawing/2014/main" id="{C6DD38CD-CFFE-4ABA-3DC8-01ED90559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4611" y="508090"/>
            <a:ext cx="6186474"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Espace réservé du contenu 3">
            <a:extLst>
              <a:ext uri="{FF2B5EF4-FFF2-40B4-BE49-F238E27FC236}">
                <a16:creationId xmlns:a16="http://schemas.microsoft.com/office/drawing/2014/main" id="{7BB00A76-E248-8246-FFFB-BA3EC02F8D1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84611" y="2112264"/>
            <a:ext cx="6236208" cy="3767328"/>
          </a:xfrm>
        </p:spPr>
        <p:txBody>
          <a:bodyPr>
            <a:normAutofit/>
          </a:bodyPr>
          <a:lstStyle/>
          <a:p>
            <a:pPr marL="0" indent="0">
              <a:spcBef>
                <a:spcPts val="2500"/>
              </a:spcBef>
              <a:buFont typeface="Arial" panose="020B0604020202020204" pitchFamily="34" charset="0"/>
              <a:buNone/>
            </a:pPr>
            <a:r>
              <a:rPr lang="fr-FR" sz="1400" b="1" dirty="0"/>
              <a:t>Importance de l’eau potable</a:t>
            </a:r>
          </a:p>
          <a:p>
            <a:pPr marL="0" lvl="1" indent="0">
              <a:buFont typeface="Arial" panose="020B0604020202020204" pitchFamily="34" charset="0"/>
              <a:buNone/>
            </a:pPr>
            <a:r>
              <a:rPr lang="fr-FR" sz="1400" dirty="0"/>
              <a:t>L’eau potable est cruciale pour maintenir la santé humaine et prévenir les maladies hydriques.</a:t>
            </a:r>
          </a:p>
          <a:p>
            <a:pPr marL="0" indent="0">
              <a:spcBef>
                <a:spcPts val="2500"/>
              </a:spcBef>
              <a:buFont typeface="Arial" panose="020B0604020202020204" pitchFamily="34" charset="0"/>
              <a:buNone/>
            </a:pPr>
            <a:r>
              <a:rPr lang="fr-FR" sz="1400" b="1" dirty="0"/>
              <a:t>Manque d’accès mondial</a:t>
            </a:r>
          </a:p>
          <a:p>
            <a:pPr marL="0" lvl="1" indent="0">
              <a:buFont typeface="Arial" panose="020B0604020202020204" pitchFamily="34" charset="0"/>
              <a:buNone/>
            </a:pPr>
            <a:r>
              <a:rPr lang="fr-FR" sz="1400" dirty="0"/>
              <a:t>De nombreuses populations dans le monde n’ont pas accès à l’eau potable, causant des problèmes de santé graves.</a:t>
            </a:r>
          </a:p>
          <a:p>
            <a:pPr marL="0" indent="0">
              <a:spcBef>
                <a:spcPts val="2500"/>
              </a:spcBef>
              <a:buFont typeface="Arial" panose="020B0604020202020204" pitchFamily="34" charset="0"/>
              <a:buNone/>
            </a:pPr>
            <a:r>
              <a:rPr lang="fr-FR" sz="1400" b="1" dirty="0"/>
              <a:t>Impact sanitaire majeur</a:t>
            </a:r>
          </a:p>
          <a:p>
            <a:pPr marL="0" lvl="1" indent="0">
              <a:buFont typeface="Arial" panose="020B0604020202020204" pitchFamily="34" charset="0"/>
              <a:buNone/>
            </a:pPr>
            <a:r>
              <a:rPr lang="fr-FR" sz="1400" dirty="0"/>
              <a:t>Le manque d’eau potable engendre maladies et mortalité, affectant particulièrement les enfants et les populations vulnérables.</a:t>
            </a:r>
          </a:p>
        </p:txBody>
      </p:sp>
    </p:spTree>
    <p:extLst>
      <p:ext uri="{BB962C8B-B14F-4D97-AF65-F5344CB8AC3E}">
        <p14:creationId xmlns:p14="http://schemas.microsoft.com/office/powerpoint/2010/main" val="12904392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re 1">
            <a:extLst>
              <a:ext uri="{FF2B5EF4-FFF2-40B4-BE49-F238E27FC236}">
                <a16:creationId xmlns:a16="http://schemas.microsoft.com/office/drawing/2014/main" id="{CAAB916D-370D-33D4-6EDB-C96E250020B6}"/>
              </a:ext>
            </a:extLst>
          </p:cNvPr>
          <p:cNvSpPr>
            <a:spLocks noGrp="1"/>
          </p:cNvSpPr>
          <p:nvPr>
            <p:ph type="title"/>
          </p:nvPr>
        </p:nvSpPr>
        <p:spPr>
          <a:xfrm>
            <a:off x="521208" y="978408"/>
            <a:ext cx="4754880" cy="652987"/>
          </a:xfrm>
        </p:spPr>
        <p:txBody>
          <a:bodyPr vert="horz" lIns="91440" tIns="45720" rIns="91440" bIns="45720" rtlCol="0" anchor="t">
            <a:normAutofit/>
          </a:bodyPr>
          <a:lstStyle/>
          <a:p>
            <a:pPr>
              <a:lnSpc>
                <a:spcPct val="90000"/>
              </a:lnSpc>
            </a:pPr>
            <a:r>
              <a:rPr lang="fr-FR" sz="2400" dirty="0">
                <a:solidFill>
                  <a:schemeClr val="accent2">
                    <a:lumMod val="50000"/>
                  </a:schemeClr>
                </a:solidFill>
              </a:rPr>
              <a:t>Objectifs et public ciblé</a:t>
            </a:r>
            <a:endParaRPr lang="en-US" sz="2400" b="1" kern="1200" dirty="0">
              <a:solidFill>
                <a:schemeClr val="accent2">
                  <a:lumMod val="50000"/>
                </a:schemeClr>
              </a:solidFill>
              <a:latin typeface="+mj-lt"/>
              <a:ea typeface="+mj-ea"/>
              <a:cs typeface="+mj-cs"/>
            </a:endParaRPr>
          </a:p>
        </p:txBody>
      </p:sp>
      <p:sp>
        <p:nvSpPr>
          <p:cNvPr id="14" name="Rectangle 13">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Espace réservé du contenu 3">
            <a:extLst>
              <a:ext uri="{FF2B5EF4-FFF2-40B4-BE49-F238E27FC236}">
                <a16:creationId xmlns:a16="http://schemas.microsoft.com/office/drawing/2014/main" id="{802BADAF-42F6-AF0F-62B4-9D0E60749DB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40633" y="1631395"/>
            <a:ext cx="5438272" cy="4718515"/>
          </a:xfrm>
        </p:spPr>
        <p:txBody>
          <a:bodyPr>
            <a:normAutofit fontScale="92500" lnSpcReduction="20000"/>
          </a:bodyPr>
          <a:lstStyle/>
          <a:p>
            <a:pPr marL="0" indent="0">
              <a:spcBef>
                <a:spcPts val="2500"/>
              </a:spcBef>
              <a:buFont typeface="Arial" panose="020B0604020202020204" pitchFamily="34" charset="0"/>
              <a:buNone/>
            </a:pPr>
            <a:r>
              <a:rPr lang="fr-FR" sz="1400" b="1" dirty="0"/>
              <a:t>Identification des zones prioritaires</a:t>
            </a:r>
          </a:p>
          <a:p>
            <a:pPr marL="0" lvl="1" indent="0">
              <a:buFont typeface="Arial" panose="020B0604020202020204" pitchFamily="34" charset="0"/>
              <a:buNone/>
            </a:pPr>
            <a:r>
              <a:rPr lang="fr-FR" sz="1400" dirty="0"/>
              <a:t>Le projet cible les zones géographiques ayant un fort besoin en eau potable pour maximiser l'impact des interventions.</a:t>
            </a:r>
          </a:p>
          <a:p>
            <a:pPr marL="0" indent="0">
              <a:spcBef>
                <a:spcPts val="2500"/>
              </a:spcBef>
              <a:buFont typeface="Arial" panose="020B0604020202020204" pitchFamily="34" charset="0"/>
              <a:buNone/>
            </a:pPr>
            <a:r>
              <a:rPr lang="fr-FR" sz="1400" b="1" dirty="0"/>
              <a:t>Analyse des contextes urbain et rural</a:t>
            </a:r>
          </a:p>
          <a:p>
            <a:pPr marL="0" lvl="1" indent="0">
              <a:buFont typeface="Arial" panose="020B0604020202020204" pitchFamily="34" charset="0"/>
              <a:buNone/>
            </a:pPr>
            <a:r>
              <a:rPr lang="fr-FR" sz="1400" dirty="0"/>
              <a:t>Une distinction claire entre zones urbaines et rurales permet d'adapter les ressources et interventions efficacement.</a:t>
            </a:r>
          </a:p>
          <a:p>
            <a:pPr marL="0" lvl="1" indent="0">
              <a:buFont typeface="Arial" panose="020B0604020202020204" pitchFamily="34" charset="0"/>
              <a:buNone/>
            </a:pPr>
            <a:endParaRPr lang="fr-FR" sz="1400" dirty="0"/>
          </a:p>
          <a:p>
            <a:pPr marL="0" indent="0">
              <a:spcBef>
                <a:spcPts val="2500"/>
              </a:spcBef>
              <a:buNone/>
            </a:pPr>
            <a:r>
              <a:rPr lang="fr-FR" sz="1400" b="1" dirty="0"/>
              <a:t>Utilisateurs principaux</a:t>
            </a:r>
          </a:p>
          <a:p>
            <a:pPr marL="0" lvl="1" indent="0">
              <a:buNone/>
            </a:pPr>
            <a:r>
              <a:rPr lang="fr-FR" sz="1400" dirty="0"/>
              <a:t>Les décideurs politiques, analystes et gouvernements utilisent le dashboard pour accéder à des informations essentielles.</a:t>
            </a:r>
          </a:p>
          <a:p>
            <a:pPr marL="0" indent="0">
              <a:spcBef>
                <a:spcPts val="2500"/>
              </a:spcBef>
              <a:buNone/>
            </a:pPr>
            <a:r>
              <a:rPr lang="fr-FR" sz="1400" b="1" dirty="0"/>
              <a:t>Besoin d’informations précises</a:t>
            </a:r>
          </a:p>
          <a:p>
            <a:pPr marL="0" lvl="1" indent="0">
              <a:buNone/>
            </a:pPr>
            <a:r>
              <a:rPr lang="fr-FR" sz="1400" dirty="0"/>
              <a:t>Ces utilisateurs nécessitent des données fiables et détaillées pour orienter leurs décisions stratégiques.</a:t>
            </a:r>
          </a:p>
          <a:p>
            <a:pPr marL="0" indent="0">
              <a:spcBef>
                <a:spcPts val="2500"/>
              </a:spcBef>
              <a:buNone/>
            </a:pPr>
            <a:r>
              <a:rPr lang="fr-FR" sz="1400" b="1" dirty="0"/>
              <a:t>Orientation stratégique</a:t>
            </a:r>
          </a:p>
          <a:p>
            <a:pPr marL="0" lvl="1" indent="0">
              <a:buNone/>
            </a:pPr>
            <a:r>
              <a:rPr lang="fr-FR" sz="1400" dirty="0"/>
              <a:t>Le dashboard aide à guider les stratégies de gouvernance grâce à des analyses approfondies.</a:t>
            </a:r>
          </a:p>
          <a:p>
            <a:pPr marL="0" lvl="1" indent="0">
              <a:buFont typeface="Arial" panose="020B0604020202020204" pitchFamily="34" charset="0"/>
              <a:buNone/>
            </a:pPr>
            <a:endParaRPr lang="fr-FR" sz="1400" dirty="0"/>
          </a:p>
        </p:txBody>
      </p:sp>
      <p:pic>
        <p:nvPicPr>
          <p:cNvPr id="5" name="Espace réservé du contenu 4" descr="Cartes touristiques">
            <a:extLst>
              <a:ext uri="{FF2B5EF4-FFF2-40B4-BE49-F238E27FC236}">
                <a16:creationId xmlns:a16="http://schemas.microsoft.com/office/drawing/2014/main" id="{0DCC9A5C-A3C4-436A-AF11-71009067F44A}"/>
              </a:ext>
            </a:extLst>
          </p:cNvPr>
          <p:cNvPicPr>
            <a:picLocks noGrp="1" noChangeAspect="1"/>
          </p:cNvPicPr>
          <p:nvPr>
            <p:ph sz="half" idx="1"/>
          </p:nvPr>
        </p:nvPicPr>
        <p:blipFill>
          <a:blip r:embed="rId3"/>
          <a:srcRect l="21989" r="12829" b="1"/>
          <a:stretch>
            <a:fillRect/>
          </a:stretch>
        </p:blipFill>
        <p:spPr>
          <a:xfrm>
            <a:off x="5958018" y="508090"/>
            <a:ext cx="5709726" cy="5846989"/>
          </a:xfrm>
          <a:prstGeom prst="rect">
            <a:avLst/>
          </a:prstGeom>
        </p:spPr>
      </p:pic>
    </p:spTree>
    <p:extLst>
      <p:ext uri="{BB962C8B-B14F-4D97-AF65-F5344CB8AC3E}">
        <p14:creationId xmlns:p14="http://schemas.microsoft.com/office/powerpoint/2010/main" val="28339799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re 1">
            <a:extLst>
              <a:ext uri="{FF2B5EF4-FFF2-40B4-BE49-F238E27FC236}">
                <a16:creationId xmlns:a16="http://schemas.microsoft.com/office/drawing/2014/main" id="{B14B788D-4EE2-02AE-E524-7C457454937D}"/>
              </a:ext>
            </a:extLst>
          </p:cNvPr>
          <p:cNvSpPr>
            <a:spLocks noGrp="1"/>
          </p:cNvSpPr>
          <p:nvPr>
            <p:ph type="title"/>
          </p:nvPr>
        </p:nvSpPr>
        <p:spPr>
          <a:xfrm>
            <a:off x="521208" y="978408"/>
            <a:ext cx="4754880" cy="1463040"/>
          </a:xfrm>
        </p:spPr>
        <p:txBody>
          <a:bodyPr vert="horz" lIns="91440" tIns="45720" rIns="91440" bIns="45720" rtlCol="0" anchor="t">
            <a:normAutofit/>
          </a:bodyPr>
          <a:lstStyle/>
          <a:p>
            <a:pPr>
              <a:lnSpc>
                <a:spcPct val="90000"/>
              </a:lnSpc>
            </a:pPr>
            <a:r>
              <a:rPr lang="fr-FR" sz="3600" dirty="0">
                <a:solidFill>
                  <a:schemeClr val="accent2">
                    <a:lumMod val="50000"/>
                  </a:schemeClr>
                </a:solidFill>
              </a:rPr>
              <a:t>Prétraitement – Sources de données</a:t>
            </a:r>
            <a:endParaRPr lang="en-US" sz="3400" b="1" kern="1200" dirty="0">
              <a:solidFill>
                <a:schemeClr val="accent2">
                  <a:lumMod val="50000"/>
                </a:schemeClr>
              </a:solidFill>
              <a:latin typeface="+mj-lt"/>
              <a:ea typeface="+mj-ea"/>
              <a:cs typeface="+mj-cs"/>
            </a:endParaRPr>
          </a:p>
        </p:txBody>
      </p:sp>
      <p:sp>
        <p:nvSpPr>
          <p:cNvPr id="14" name="Rectangle 13">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Espace réservé du contenu 3">
            <a:extLst>
              <a:ext uri="{FF2B5EF4-FFF2-40B4-BE49-F238E27FC236}">
                <a16:creationId xmlns:a16="http://schemas.microsoft.com/office/drawing/2014/main" id="{873B7B24-DAF2-FC1D-D0D8-F483DC4A4B7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72026" y="2284476"/>
            <a:ext cx="5064784" cy="4264153"/>
          </a:xfrm>
        </p:spPr>
        <p:txBody>
          <a:bodyPr>
            <a:normAutofit fontScale="85000" lnSpcReduction="20000"/>
          </a:bodyPr>
          <a:lstStyle/>
          <a:p>
            <a:r>
              <a:rPr lang="fr-FR" dirty="0"/>
              <a:t>L’OMS et l’ONU fournissent des données fiables et complètes sur l’accès à l’eau potable à l’échelle mondiale de 2000 à 2017.</a:t>
            </a:r>
          </a:p>
          <a:p>
            <a:r>
              <a:rPr lang="fr-FR" b="1" dirty="0"/>
              <a:t>Jeux de données utilisés</a:t>
            </a:r>
            <a:endParaRPr lang="fr-FR" dirty="0"/>
          </a:p>
          <a:p>
            <a:r>
              <a:rPr lang="fr-FR" b="1" dirty="0"/>
              <a:t>6 fichiers CSV</a:t>
            </a:r>
            <a:r>
              <a:rPr lang="fr-FR" dirty="0"/>
              <a:t> disponibles.</a:t>
            </a:r>
          </a:p>
          <a:p>
            <a:r>
              <a:rPr lang="fr-FR" dirty="0"/>
              <a:t>Contenu principal :</a:t>
            </a:r>
          </a:p>
          <a:p>
            <a:pPr lvl="1"/>
            <a:r>
              <a:rPr lang="fr-FR" b="1" dirty="0"/>
              <a:t>Population</a:t>
            </a:r>
            <a:r>
              <a:rPr lang="fr-FR" dirty="0"/>
              <a:t> : taille de la population par pays et par année.</a:t>
            </a:r>
          </a:p>
          <a:p>
            <a:pPr lvl="1"/>
            <a:r>
              <a:rPr lang="fr-FR" b="1" dirty="0"/>
              <a:t>Accès basique et sûr</a:t>
            </a:r>
            <a:r>
              <a:rPr lang="fr-FR" dirty="0"/>
              <a:t> : pourcentages de population ayant accès à l’eau potable (urbain/rural).</a:t>
            </a:r>
          </a:p>
          <a:p>
            <a:pPr lvl="1"/>
            <a:r>
              <a:rPr lang="fr-FR" b="1" dirty="0"/>
              <a:t>Mortalité WASH</a:t>
            </a:r>
            <a:r>
              <a:rPr lang="fr-FR" dirty="0"/>
              <a:t> : décès pour 100 000 habitants liés à l’eau insalubre.</a:t>
            </a:r>
          </a:p>
          <a:p>
            <a:pPr lvl="1"/>
            <a:r>
              <a:rPr lang="fr-FR" b="1" dirty="0"/>
              <a:t>Stabilité politique</a:t>
            </a:r>
            <a:r>
              <a:rPr lang="fr-FR" dirty="0"/>
              <a:t> : indice de gouvernance et stabilité par pays.</a:t>
            </a:r>
          </a:p>
          <a:p>
            <a:pPr lvl="1"/>
            <a:r>
              <a:rPr lang="fr-FR" b="1" dirty="0"/>
              <a:t>Dimensions complémentaires</a:t>
            </a:r>
            <a:r>
              <a:rPr lang="fr-FR" dirty="0"/>
              <a:t> : zones géographiques, années, granularité (monde, continent, pays).</a:t>
            </a:r>
          </a:p>
          <a:p>
            <a:pPr marL="0" lvl="1" indent="0">
              <a:buFont typeface="Arial" panose="020B0604020202020204" pitchFamily="34" charset="0"/>
              <a:buNone/>
            </a:pPr>
            <a:endParaRPr lang="fr-FR" sz="1400" dirty="0"/>
          </a:p>
        </p:txBody>
      </p:sp>
      <p:pic>
        <p:nvPicPr>
          <p:cNvPr id="5" name="Espace réservé du contenu 4" descr="Main humaine tenant un globe et de l’eau se déversant dessus.">
            <a:extLst>
              <a:ext uri="{FF2B5EF4-FFF2-40B4-BE49-F238E27FC236}">
                <a16:creationId xmlns:a16="http://schemas.microsoft.com/office/drawing/2014/main" id="{5990A157-EF29-4327-82F1-C3A3D1487BDA}"/>
              </a:ext>
            </a:extLst>
          </p:cNvPr>
          <p:cNvPicPr>
            <a:picLocks noGrp="1" noChangeAspect="1"/>
          </p:cNvPicPr>
          <p:nvPr>
            <p:ph sz="half" idx="1"/>
          </p:nvPr>
        </p:nvPicPr>
        <p:blipFill>
          <a:blip r:embed="rId3"/>
          <a:srcRect l="18330" r="26741" b="1"/>
          <a:stretch>
            <a:fillRect/>
          </a:stretch>
        </p:blipFill>
        <p:spPr>
          <a:xfrm>
            <a:off x="5958018" y="508090"/>
            <a:ext cx="5709726" cy="5846989"/>
          </a:xfrm>
          <a:prstGeom prst="rect">
            <a:avLst/>
          </a:prstGeom>
        </p:spPr>
      </p:pic>
    </p:spTree>
    <p:extLst>
      <p:ext uri="{BB962C8B-B14F-4D97-AF65-F5344CB8AC3E}">
        <p14:creationId xmlns:p14="http://schemas.microsoft.com/office/powerpoint/2010/main" val="15904222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39317B17-37B5-C063-B276-276D33335B14}"/>
              </a:ext>
            </a:extLst>
          </p:cNvPr>
          <p:cNvSpPr>
            <a:spLocks noGrp="1"/>
          </p:cNvSpPr>
          <p:nvPr>
            <p:ph type="title"/>
          </p:nvPr>
        </p:nvSpPr>
        <p:spPr>
          <a:xfrm>
            <a:off x="521208" y="978408"/>
            <a:ext cx="6300216" cy="1463040"/>
          </a:xfrm>
        </p:spPr>
        <p:txBody>
          <a:bodyPr vert="horz" lIns="91440" tIns="45720" rIns="91440" bIns="45720" rtlCol="0" anchor="t">
            <a:normAutofit/>
          </a:bodyPr>
          <a:lstStyle/>
          <a:p>
            <a:pPr>
              <a:lnSpc>
                <a:spcPct val="90000"/>
              </a:lnSpc>
            </a:pPr>
            <a:r>
              <a:rPr lang="en-US" sz="3100" b="1" kern="1200" dirty="0">
                <a:solidFill>
                  <a:schemeClr val="accent2">
                    <a:lumMod val="50000"/>
                  </a:schemeClr>
                </a:solidFill>
                <a:latin typeface="+mj-lt"/>
                <a:ea typeface="+mj-ea"/>
                <a:cs typeface="+mj-cs"/>
              </a:rPr>
              <a:t>Présentation du blueprint</a:t>
            </a:r>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298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Espace réservé du contenu 3">
            <a:extLst>
              <a:ext uri="{FF2B5EF4-FFF2-40B4-BE49-F238E27FC236}">
                <a16:creationId xmlns:a16="http://schemas.microsoft.com/office/drawing/2014/main" id="{0C1D7567-EE44-E5F8-72A5-A55CCAFD12B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208" y="1874018"/>
            <a:ext cx="6007929" cy="3767328"/>
          </a:xfrm>
        </p:spPr>
        <p:txBody>
          <a:bodyPr>
            <a:normAutofit/>
          </a:bodyPr>
          <a:lstStyle/>
          <a:p>
            <a:pPr marL="0" indent="0">
              <a:spcBef>
                <a:spcPts val="2500"/>
              </a:spcBef>
              <a:buFont typeface="Arial" panose="020B0604020202020204" pitchFamily="34" charset="0"/>
              <a:buNone/>
            </a:pPr>
            <a:r>
              <a:rPr lang="fr-FR" sz="1400" b="1" dirty="0"/>
              <a:t>Architecture du dashboard</a:t>
            </a:r>
          </a:p>
          <a:p>
            <a:pPr marL="0" lvl="1" indent="0">
              <a:buFont typeface="Arial" panose="020B0604020202020204" pitchFamily="34" charset="0"/>
              <a:buNone/>
            </a:pPr>
            <a:r>
              <a:rPr lang="fr-FR" sz="1400" dirty="0"/>
              <a:t>Le </a:t>
            </a:r>
            <a:r>
              <a:rPr lang="fr-FR" sz="1400" dirty="0" err="1"/>
              <a:t>blueprint</a:t>
            </a:r>
            <a:r>
              <a:rPr lang="fr-FR" sz="1400" dirty="0"/>
              <a:t> présente l’organisation structurelle du dashboard, facilitant l’accès et la navigation entre les différentes vues.</a:t>
            </a:r>
          </a:p>
          <a:p>
            <a:pPr marL="0" indent="0">
              <a:spcBef>
                <a:spcPts val="2500"/>
              </a:spcBef>
              <a:buFont typeface="Arial" panose="020B0604020202020204" pitchFamily="34" charset="0"/>
              <a:buNone/>
            </a:pPr>
            <a:r>
              <a:rPr lang="fr-FR" sz="1400" b="1" dirty="0"/>
              <a:t>Indicateurs clés</a:t>
            </a:r>
          </a:p>
          <a:p>
            <a:pPr marL="0" lvl="1" indent="0">
              <a:buFont typeface="Arial" panose="020B0604020202020204" pitchFamily="34" charset="0"/>
              <a:buNone/>
            </a:pPr>
            <a:r>
              <a:rPr lang="fr-FR" sz="1400" dirty="0"/>
              <a:t>Le dashboard met en avant les indicateurs clés pour un suivi efficace et une prise de décision rapide.</a:t>
            </a:r>
          </a:p>
          <a:p>
            <a:pPr marL="0" indent="0">
              <a:spcBef>
                <a:spcPts val="2500"/>
              </a:spcBef>
              <a:buFont typeface="Arial" panose="020B0604020202020204" pitchFamily="34" charset="0"/>
              <a:buNone/>
            </a:pPr>
            <a:r>
              <a:rPr lang="fr-FR" sz="1400" b="1" dirty="0"/>
              <a:t>Ergonomie et organisation</a:t>
            </a:r>
          </a:p>
          <a:p>
            <a:pPr marL="0" lvl="1" indent="0">
              <a:buFont typeface="Arial" panose="020B0604020202020204" pitchFamily="34" charset="0"/>
              <a:buNone/>
            </a:pPr>
            <a:r>
              <a:rPr lang="fr-FR" sz="1400" dirty="0"/>
              <a:t>Les captures d’écran illustrent une organisation claire et une ergonomie optimisée pour l’utilisateur.</a:t>
            </a:r>
          </a:p>
        </p:txBody>
      </p:sp>
      <p:pic>
        <p:nvPicPr>
          <p:cNvPr id="6" name="Image 5">
            <a:extLst>
              <a:ext uri="{FF2B5EF4-FFF2-40B4-BE49-F238E27FC236}">
                <a16:creationId xmlns:a16="http://schemas.microsoft.com/office/drawing/2014/main" id="{F85383C4-6210-D291-5E66-1E48A75D7365}"/>
              </a:ext>
            </a:extLst>
          </p:cNvPr>
          <p:cNvPicPr>
            <a:picLocks noChangeAspect="1"/>
          </p:cNvPicPr>
          <p:nvPr/>
        </p:nvPicPr>
        <p:blipFill>
          <a:blip r:embed="rId3"/>
          <a:stretch>
            <a:fillRect/>
          </a:stretch>
        </p:blipFill>
        <p:spPr>
          <a:xfrm>
            <a:off x="6645525" y="1352847"/>
            <a:ext cx="5427039" cy="4288499"/>
          </a:xfrm>
          <a:prstGeom prst="rect">
            <a:avLst/>
          </a:prstGeom>
        </p:spPr>
      </p:pic>
    </p:spTree>
    <p:extLst>
      <p:ext uri="{BB962C8B-B14F-4D97-AF65-F5344CB8AC3E}">
        <p14:creationId xmlns:p14="http://schemas.microsoft.com/office/powerpoint/2010/main" val="2824536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re 1">
            <a:extLst>
              <a:ext uri="{FF2B5EF4-FFF2-40B4-BE49-F238E27FC236}">
                <a16:creationId xmlns:a16="http://schemas.microsoft.com/office/drawing/2014/main" id="{00BA6005-5EA7-61DD-5B35-4C17CB9693EB}"/>
              </a:ext>
            </a:extLst>
          </p:cNvPr>
          <p:cNvSpPr>
            <a:spLocks noGrp="1"/>
          </p:cNvSpPr>
          <p:nvPr>
            <p:ph type="title"/>
          </p:nvPr>
        </p:nvSpPr>
        <p:spPr>
          <a:xfrm>
            <a:off x="6995160" y="978408"/>
            <a:ext cx="5193792" cy="1463040"/>
          </a:xfrm>
        </p:spPr>
        <p:txBody>
          <a:bodyPr vert="horz" lIns="91440" tIns="45720" rIns="91440" bIns="45720" rtlCol="0" anchor="t">
            <a:normAutofit/>
          </a:bodyPr>
          <a:lstStyle/>
          <a:p>
            <a:pPr>
              <a:lnSpc>
                <a:spcPct val="90000"/>
              </a:lnSpc>
            </a:pPr>
            <a:r>
              <a:rPr lang="fr-FR" sz="3200" dirty="0">
                <a:solidFill>
                  <a:schemeClr val="accent2">
                    <a:lumMod val="50000"/>
                  </a:schemeClr>
                </a:solidFill>
              </a:rPr>
              <a:t>Conception méthodologique</a:t>
            </a:r>
            <a:endParaRPr lang="en-US" sz="3100" b="1" kern="1200" dirty="0">
              <a:solidFill>
                <a:schemeClr val="accent2">
                  <a:lumMod val="50000"/>
                </a:schemeClr>
              </a:solidFill>
              <a:latin typeface="+mj-lt"/>
              <a:ea typeface="+mj-ea"/>
              <a:cs typeface="+mj-cs"/>
            </a:endParaRPr>
          </a:p>
        </p:txBody>
      </p:sp>
      <p:sp>
        <p:nvSpPr>
          <p:cNvPr id="14" name="Freeform: Shape 13">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6407" y="508090"/>
            <a:ext cx="4660733"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Espace réservé du contenu 3">
            <a:extLst>
              <a:ext uri="{FF2B5EF4-FFF2-40B4-BE49-F238E27FC236}">
                <a16:creationId xmlns:a16="http://schemas.microsoft.com/office/drawing/2014/main" id="{6BDBA267-A3C0-C4F1-2109-8429264B2A6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995160" y="2112264"/>
            <a:ext cx="4672584" cy="3767328"/>
          </a:xfrm>
        </p:spPr>
        <p:txBody>
          <a:bodyPr>
            <a:normAutofit lnSpcReduction="10000"/>
          </a:bodyPr>
          <a:lstStyle/>
          <a:p>
            <a:r>
              <a:rPr lang="fr-FR" sz="1400" b="1" dirty="0"/>
              <a:t>1. Formalisation des besoins utilisateurs</a:t>
            </a:r>
            <a:endParaRPr lang="fr-FR" sz="1400" dirty="0"/>
          </a:p>
          <a:p>
            <a:r>
              <a:rPr lang="fr-FR" sz="1400" dirty="0"/>
              <a:t>Chaque besoin a été traduit en indicateur.</a:t>
            </a:r>
          </a:p>
          <a:p>
            <a:r>
              <a:rPr lang="fr-FR" sz="1400" dirty="0"/>
              <a:t>Exemple : “Comparer urbain/rural” → % accès basique/sûr → histogramme groupé.</a:t>
            </a:r>
          </a:p>
          <a:p>
            <a:r>
              <a:rPr lang="fr-FR" sz="1400" b="1" dirty="0"/>
              <a:t>2. </a:t>
            </a:r>
            <a:r>
              <a:rPr lang="fr-FR" sz="1400" b="1" dirty="0" err="1"/>
              <a:t>Blueprint</a:t>
            </a:r>
            <a:r>
              <a:rPr lang="fr-FR" sz="1400" b="1" dirty="0"/>
              <a:t> comme étape clé</a:t>
            </a:r>
            <a:endParaRPr lang="fr-FR" sz="1400" dirty="0"/>
          </a:p>
          <a:p>
            <a:r>
              <a:rPr lang="fr-FR" sz="1400" dirty="0"/>
              <a:t>Document central reliant : Besoin → Mesures → Visualisation → Vue.</a:t>
            </a:r>
          </a:p>
          <a:p>
            <a:r>
              <a:rPr lang="fr-FR" sz="1400" dirty="0"/>
              <a:t>Assure la cohérence et la couverture complète des attentes.</a:t>
            </a:r>
          </a:p>
          <a:p>
            <a:r>
              <a:rPr lang="fr-FR" sz="1400" b="1" dirty="0"/>
              <a:t>3. Avantages méthodologiques</a:t>
            </a:r>
            <a:endParaRPr lang="fr-FR" sz="1400" dirty="0"/>
          </a:p>
          <a:p>
            <a:r>
              <a:rPr lang="fr-FR" sz="1400" dirty="0"/>
              <a:t>Clarté et traçabilité des choix.</a:t>
            </a:r>
          </a:p>
          <a:p>
            <a:r>
              <a:rPr lang="fr-FR" sz="1400" dirty="0"/>
              <a:t>Garantit des visualisations adaptées et pertinentes.</a:t>
            </a:r>
          </a:p>
        </p:txBody>
      </p:sp>
      <p:pic>
        <p:nvPicPr>
          <p:cNvPr id="6" name="Image 5">
            <a:extLst>
              <a:ext uri="{FF2B5EF4-FFF2-40B4-BE49-F238E27FC236}">
                <a16:creationId xmlns:a16="http://schemas.microsoft.com/office/drawing/2014/main" id="{21FFD8CF-8616-FB20-4EBD-E77DC75A08AE}"/>
              </a:ext>
            </a:extLst>
          </p:cNvPr>
          <p:cNvPicPr>
            <a:picLocks noChangeAspect="1"/>
          </p:cNvPicPr>
          <p:nvPr/>
        </p:nvPicPr>
        <p:blipFill>
          <a:blip r:embed="rId3"/>
          <a:stretch>
            <a:fillRect/>
          </a:stretch>
        </p:blipFill>
        <p:spPr>
          <a:xfrm>
            <a:off x="755984" y="31392"/>
            <a:ext cx="5193791" cy="6795210"/>
          </a:xfrm>
          <a:prstGeom prst="rect">
            <a:avLst/>
          </a:prstGeom>
        </p:spPr>
      </p:pic>
    </p:spTree>
    <p:extLst>
      <p:ext uri="{BB962C8B-B14F-4D97-AF65-F5344CB8AC3E}">
        <p14:creationId xmlns:p14="http://schemas.microsoft.com/office/powerpoint/2010/main" val="2510207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80DFCBAF-497A-A9C3-66D9-1494B7C56503}"/>
              </a:ext>
            </a:extLst>
          </p:cNvPr>
          <p:cNvSpPr>
            <a:spLocks noGrp="1"/>
          </p:cNvSpPr>
          <p:nvPr>
            <p:ph type="title"/>
          </p:nvPr>
        </p:nvSpPr>
        <p:spPr>
          <a:xfrm>
            <a:off x="521208" y="978408"/>
            <a:ext cx="6300216" cy="689971"/>
          </a:xfrm>
        </p:spPr>
        <p:txBody>
          <a:bodyPr vert="horz" lIns="91440" tIns="45720" rIns="91440" bIns="45720" rtlCol="0" anchor="t">
            <a:normAutofit/>
          </a:bodyPr>
          <a:lstStyle/>
          <a:p>
            <a:pPr>
              <a:lnSpc>
                <a:spcPct val="90000"/>
              </a:lnSpc>
            </a:pPr>
            <a:r>
              <a:rPr lang="fr-FR" sz="3600" dirty="0">
                <a:solidFill>
                  <a:schemeClr val="accent2">
                    <a:lumMod val="50000"/>
                  </a:schemeClr>
                </a:solidFill>
              </a:rPr>
              <a:t>Pertinence de Power BI</a:t>
            </a:r>
            <a:endParaRPr lang="en-US" sz="3400" b="1" kern="1200" dirty="0">
              <a:solidFill>
                <a:schemeClr val="accent2">
                  <a:lumMod val="50000"/>
                </a:schemeClr>
              </a:solidFill>
              <a:latin typeface="+mj-lt"/>
              <a:ea typeface="+mj-ea"/>
              <a:cs typeface="+mj-cs"/>
            </a:endParaRPr>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Espace réservé du contenu 3">
            <a:extLst>
              <a:ext uri="{FF2B5EF4-FFF2-40B4-BE49-F238E27FC236}">
                <a16:creationId xmlns:a16="http://schemas.microsoft.com/office/drawing/2014/main" id="{9D6D6E28-FEF2-42A1-02FE-505FAD7C181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513612" y="2312730"/>
            <a:ext cx="4160520" cy="4532961"/>
          </a:xfrm>
        </p:spPr>
        <p:txBody>
          <a:bodyPr>
            <a:normAutofit/>
          </a:bodyPr>
          <a:lstStyle/>
          <a:p>
            <a:r>
              <a:rPr lang="fr-FR" sz="1400" b="1" dirty="0"/>
              <a:t>1. Gestion multi-niveaux</a:t>
            </a:r>
            <a:endParaRPr lang="fr-FR" sz="1400" dirty="0"/>
          </a:p>
          <a:p>
            <a:r>
              <a:rPr lang="fr-FR" sz="1400" dirty="0"/>
              <a:t>Analyse possible à l’échelle mondiale, continentale et nationale.</a:t>
            </a:r>
          </a:p>
          <a:p>
            <a:r>
              <a:rPr lang="fr-FR" sz="1400" b="1" dirty="0"/>
              <a:t>2. Richesse des visualisations</a:t>
            </a:r>
            <a:endParaRPr lang="fr-FR" sz="1400" dirty="0"/>
          </a:p>
          <a:p>
            <a:r>
              <a:rPr lang="fr-FR" sz="1400" dirty="0"/>
              <a:t>KPI, histogrammes, courbes, cartes, </a:t>
            </a:r>
            <a:r>
              <a:rPr lang="fr-FR" sz="1400" dirty="0" err="1"/>
              <a:t>scatter</a:t>
            </a:r>
            <a:r>
              <a:rPr lang="fr-FR" sz="1400" dirty="0"/>
              <a:t> plots adaptés aux besoins.</a:t>
            </a:r>
          </a:p>
          <a:p>
            <a:r>
              <a:rPr lang="fr-FR" sz="1400" b="1" dirty="0"/>
              <a:t>3. Interactivité et accessibilité</a:t>
            </a:r>
            <a:endParaRPr lang="fr-FR" sz="1400" dirty="0"/>
          </a:p>
          <a:p>
            <a:r>
              <a:rPr lang="fr-FR" sz="1400" dirty="0"/>
              <a:t>Filtres et </a:t>
            </a:r>
            <a:r>
              <a:rPr lang="fr-FR" sz="1400" dirty="0" err="1"/>
              <a:t>slicers</a:t>
            </a:r>
            <a:r>
              <a:rPr lang="fr-FR" sz="1400" dirty="0"/>
              <a:t> pour explorer les données.</a:t>
            </a:r>
          </a:p>
          <a:p>
            <a:r>
              <a:rPr lang="fr-FR" sz="1400" dirty="0"/>
              <a:t>Outil intuitif utilisable par des décideurs non techniques.</a:t>
            </a:r>
          </a:p>
        </p:txBody>
      </p:sp>
      <p:pic>
        <p:nvPicPr>
          <p:cNvPr id="8" name="Image 7">
            <a:extLst>
              <a:ext uri="{FF2B5EF4-FFF2-40B4-BE49-F238E27FC236}">
                <a16:creationId xmlns:a16="http://schemas.microsoft.com/office/drawing/2014/main" id="{A4DEA4D2-6780-61B3-E1AD-C8B5DF828293}"/>
              </a:ext>
            </a:extLst>
          </p:cNvPr>
          <p:cNvPicPr>
            <a:picLocks noChangeAspect="1"/>
          </p:cNvPicPr>
          <p:nvPr/>
        </p:nvPicPr>
        <p:blipFill>
          <a:blip r:embed="rId3"/>
          <a:stretch>
            <a:fillRect/>
          </a:stretch>
        </p:blipFill>
        <p:spPr>
          <a:xfrm>
            <a:off x="36487" y="1843839"/>
            <a:ext cx="7477125" cy="4229100"/>
          </a:xfrm>
          <a:prstGeom prst="rect">
            <a:avLst/>
          </a:prstGeom>
        </p:spPr>
      </p:pic>
    </p:spTree>
    <p:extLst>
      <p:ext uri="{BB962C8B-B14F-4D97-AF65-F5344CB8AC3E}">
        <p14:creationId xmlns:p14="http://schemas.microsoft.com/office/powerpoint/2010/main" val="40920690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4C32CD27-7027-AB2B-38F1-71C08EB84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19E356B3-441D-6665-782B-07D0B14D5A85}"/>
              </a:ext>
            </a:extLst>
          </p:cNvPr>
          <p:cNvSpPr>
            <a:spLocks noGrp="1"/>
          </p:cNvSpPr>
          <p:nvPr>
            <p:ph type="title"/>
          </p:nvPr>
        </p:nvSpPr>
        <p:spPr>
          <a:xfrm>
            <a:off x="5484611" y="886468"/>
            <a:ext cx="6236208" cy="1463040"/>
          </a:xfrm>
        </p:spPr>
        <p:txBody>
          <a:bodyPr vert="horz" lIns="91440" tIns="45720" rIns="91440" bIns="45720" rtlCol="0" anchor="t">
            <a:normAutofit/>
          </a:bodyPr>
          <a:lstStyle/>
          <a:p>
            <a:pPr>
              <a:lnSpc>
                <a:spcPct val="90000"/>
              </a:lnSpc>
            </a:pPr>
            <a:r>
              <a:rPr lang="fr-FR" sz="3200" dirty="0" err="1">
                <a:solidFill>
                  <a:schemeClr val="accent2">
                    <a:lumMod val="50000"/>
                  </a:schemeClr>
                </a:solidFill>
              </a:rPr>
              <a:t>Mockup</a:t>
            </a:r>
            <a:r>
              <a:rPr lang="fr-FR" sz="3200" dirty="0">
                <a:solidFill>
                  <a:schemeClr val="accent2">
                    <a:lumMod val="50000"/>
                  </a:schemeClr>
                </a:solidFill>
              </a:rPr>
              <a:t> – Vue mondiale</a:t>
            </a:r>
            <a:endParaRPr lang="en-US" sz="3100" b="1" kern="1200" dirty="0">
              <a:solidFill>
                <a:schemeClr val="accent2">
                  <a:lumMod val="50000"/>
                </a:schemeClr>
              </a:solidFill>
              <a:latin typeface="+mj-lt"/>
              <a:ea typeface="+mj-ea"/>
              <a:cs typeface="+mj-cs"/>
            </a:endParaRPr>
          </a:p>
        </p:txBody>
      </p:sp>
      <p:sp>
        <p:nvSpPr>
          <p:cNvPr id="14" name="Freeform: Shape 13">
            <a:extLst>
              <a:ext uri="{FF2B5EF4-FFF2-40B4-BE49-F238E27FC236}">
                <a16:creationId xmlns:a16="http://schemas.microsoft.com/office/drawing/2014/main" id="{C6DD38CD-CFFE-4ABA-3DC8-01ED90559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4611" y="508090"/>
            <a:ext cx="6186474"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Espace réservé du contenu 3">
            <a:extLst>
              <a:ext uri="{FF2B5EF4-FFF2-40B4-BE49-F238E27FC236}">
                <a16:creationId xmlns:a16="http://schemas.microsoft.com/office/drawing/2014/main" id="{9CF32E09-9C68-7672-1750-C50076FC746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68270" y="2065267"/>
            <a:ext cx="6236208" cy="3767328"/>
          </a:xfrm>
        </p:spPr>
        <p:txBody>
          <a:bodyPr>
            <a:normAutofit/>
          </a:bodyPr>
          <a:lstStyle/>
          <a:p>
            <a:r>
              <a:rPr lang="fr-FR" sz="1400" b="1" dirty="0"/>
              <a:t>1. Vision globale</a:t>
            </a:r>
            <a:endParaRPr lang="fr-FR" sz="1400" dirty="0"/>
          </a:p>
          <a:p>
            <a:r>
              <a:rPr lang="fr-FR" sz="1400" dirty="0"/>
              <a:t>Indicateurs clés : population mondiale, accès basique, accès sûr, mortalité WASH.</a:t>
            </a:r>
          </a:p>
          <a:p>
            <a:r>
              <a:rPr lang="fr-FR" sz="1400" dirty="0"/>
              <a:t>Donne un aperçu de la situation à l’échelle planétaire.</a:t>
            </a:r>
          </a:p>
          <a:p>
            <a:r>
              <a:rPr lang="fr-FR" sz="1400" b="1" dirty="0"/>
              <a:t>2. Analyse comparative</a:t>
            </a:r>
            <a:endParaRPr lang="fr-FR" sz="1400" dirty="0"/>
          </a:p>
          <a:p>
            <a:r>
              <a:rPr lang="fr-FR" sz="1400" dirty="0"/>
              <a:t>Histogramme groupé : comparaison urbain vs rural.</a:t>
            </a:r>
          </a:p>
          <a:p>
            <a:r>
              <a:rPr lang="fr-FR" sz="1400" dirty="0" err="1"/>
              <a:t>Scatter</a:t>
            </a:r>
            <a:r>
              <a:rPr lang="fr-FR" sz="1400" dirty="0"/>
              <a:t> stabilité politique ↔ mortalité pour identifier tendances globales.</a:t>
            </a:r>
          </a:p>
          <a:p>
            <a:r>
              <a:rPr lang="fr-FR" sz="1400" b="1" dirty="0"/>
              <a:t>3. Suivi des évolutions</a:t>
            </a:r>
            <a:endParaRPr lang="fr-FR" sz="1400" dirty="0"/>
          </a:p>
          <a:p>
            <a:r>
              <a:rPr lang="fr-FR" sz="1400" dirty="0"/>
              <a:t>Courbes : progression de l’accès basique/sûr entre 2000 et 2017.</a:t>
            </a:r>
          </a:p>
          <a:p>
            <a:r>
              <a:rPr lang="fr-FR" sz="1400" dirty="0"/>
              <a:t>Permet d’évaluer l’impact des politiques mondiales.</a:t>
            </a:r>
          </a:p>
        </p:txBody>
      </p:sp>
      <p:pic>
        <p:nvPicPr>
          <p:cNvPr id="8" name="Image 7">
            <a:extLst>
              <a:ext uri="{FF2B5EF4-FFF2-40B4-BE49-F238E27FC236}">
                <a16:creationId xmlns:a16="http://schemas.microsoft.com/office/drawing/2014/main" id="{2CA1D7C1-C709-33C1-EC75-2D51F54068F2}"/>
              </a:ext>
            </a:extLst>
          </p:cNvPr>
          <p:cNvPicPr>
            <a:picLocks noChangeAspect="1"/>
          </p:cNvPicPr>
          <p:nvPr/>
        </p:nvPicPr>
        <p:blipFill>
          <a:blip r:embed="rId3"/>
          <a:stretch>
            <a:fillRect/>
          </a:stretch>
        </p:blipFill>
        <p:spPr>
          <a:xfrm>
            <a:off x="164132" y="1926330"/>
            <a:ext cx="5489428" cy="4045202"/>
          </a:xfrm>
          <a:prstGeom prst="rect">
            <a:avLst/>
          </a:prstGeom>
        </p:spPr>
      </p:pic>
    </p:spTree>
    <p:extLst>
      <p:ext uri="{BB962C8B-B14F-4D97-AF65-F5344CB8AC3E}">
        <p14:creationId xmlns:p14="http://schemas.microsoft.com/office/powerpoint/2010/main" val="12454908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A359A5-C7C2-89CF-8355-29B4BAED7F0A}"/>
            </a:ext>
          </a:extLst>
        </p:cNvPr>
        <p:cNvGrpSpPr/>
        <p:nvPr/>
      </p:nvGrpSpPr>
      <p:grpSpPr>
        <a:xfrm>
          <a:off x="0" y="0"/>
          <a:ext cx="0" cy="0"/>
          <a:chOff x="0" y="0"/>
          <a:chExt cx="0" cy="0"/>
        </a:xfrm>
      </p:grpSpPr>
      <p:sp>
        <p:nvSpPr>
          <p:cNvPr id="10" name="Freeform: Shape 9">
            <a:extLst>
              <a:ext uri="{FF2B5EF4-FFF2-40B4-BE49-F238E27FC236}">
                <a16:creationId xmlns:a16="http://schemas.microsoft.com/office/drawing/2014/main" id="{787ECCB8-B009-EE8A-D10F-94E1075A8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53767AA8-F501-D62C-5EAA-EB3FD066A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785FCD9B-D2E2-F364-54AF-0638B6704BF6}"/>
              </a:ext>
            </a:extLst>
          </p:cNvPr>
          <p:cNvSpPr>
            <a:spLocks noGrp="1"/>
          </p:cNvSpPr>
          <p:nvPr>
            <p:ph type="title"/>
          </p:nvPr>
        </p:nvSpPr>
        <p:spPr>
          <a:xfrm>
            <a:off x="5484611" y="886468"/>
            <a:ext cx="6236208" cy="1463040"/>
          </a:xfrm>
        </p:spPr>
        <p:txBody>
          <a:bodyPr vert="horz" lIns="91440" tIns="45720" rIns="91440" bIns="45720" rtlCol="0" anchor="t">
            <a:normAutofit/>
          </a:bodyPr>
          <a:lstStyle/>
          <a:p>
            <a:pPr>
              <a:lnSpc>
                <a:spcPct val="90000"/>
              </a:lnSpc>
            </a:pPr>
            <a:r>
              <a:rPr lang="fr-FR" sz="3200" dirty="0" err="1">
                <a:solidFill>
                  <a:schemeClr val="accent2">
                    <a:lumMod val="50000"/>
                  </a:schemeClr>
                </a:solidFill>
              </a:rPr>
              <a:t>Mockup</a:t>
            </a:r>
            <a:r>
              <a:rPr lang="fr-FR" sz="3200" dirty="0">
                <a:solidFill>
                  <a:schemeClr val="accent2">
                    <a:lumMod val="50000"/>
                  </a:schemeClr>
                </a:solidFill>
              </a:rPr>
              <a:t> – Vue continentale</a:t>
            </a:r>
            <a:endParaRPr lang="en-US" sz="3100" b="1" kern="1200" dirty="0">
              <a:solidFill>
                <a:schemeClr val="accent2">
                  <a:lumMod val="50000"/>
                </a:schemeClr>
              </a:solidFill>
              <a:latin typeface="+mj-lt"/>
              <a:ea typeface="+mj-ea"/>
              <a:cs typeface="+mj-cs"/>
            </a:endParaRPr>
          </a:p>
        </p:txBody>
      </p:sp>
      <p:sp>
        <p:nvSpPr>
          <p:cNvPr id="14" name="Freeform: Shape 13">
            <a:extLst>
              <a:ext uri="{FF2B5EF4-FFF2-40B4-BE49-F238E27FC236}">
                <a16:creationId xmlns:a16="http://schemas.microsoft.com/office/drawing/2014/main" id="{F9A4A334-5EB5-4494-3BCC-6FD2B7C5F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4611" y="508090"/>
            <a:ext cx="6186474"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Espace réservé du contenu 3">
            <a:extLst>
              <a:ext uri="{FF2B5EF4-FFF2-40B4-BE49-F238E27FC236}">
                <a16:creationId xmlns:a16="http://schemas.microsoft.com/office/drawing/2014/main" id="{9E718B34-311F-CC7D-ADB1-6832F9FC650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55792" y="2259255"/>
            <a:ext cx="6236208" cy="3084249"/>
          </a:xfrm>
        </p:spPr>
        <p:txBody>
          <a:bodyPr>
            <a:normAutofit/>
          </a:bodyPr>
          <a:lstStyle/>
          <a:p>
            <a:r>
              <a:rPr lang="fr-FR" sz="1400" b="1" dirty="0"/>
              <a:t>1. Comparaison par continent</a:t>
            </a:r>
            <a:endParaRPr lang="fr-FR" sz="1400" dirty="0"/>
          </a:p>
          <a:p>
            <a:r>
              <a:rPr lang="fr-FR" sz="1400" dirty="0"/>
              <a:t>KPIs continentaux : population, % accès basique, % accès sûr, décès WASH.</a:t>
            </a:r>
          </a:p>
          <a:p>
            <a:r>
              <a:rPr lang="fr-FR" sz="1400" b="1" dirty="0"/>
              <a:t>2. Différences urbain vs rural</a:t>
            </a:r>
            <a:endParaRPr lang="fr-FR" sz="1400" dirty="0"/>
          </a:p>
          <a:p>
            <a:r>
              <a:rPr lang="fr-FR" sz="1400" dirty="0"/>
              <a:t>Histogramme groupé montrant les écarts entre milieux de vie par continent.</a:t>
            </a:r>
          </a:p>
          <a:p>
            <a:r>
              <a:rPr lang="fr-FR" sz="1400" b="1" dirty="0"/>
              <a:t>3. Suivi temporel</a:t>
            </a:r>
            <a:endParaRPr lang="fr-FR" sz="1400" dirty="0"/>
          </a:p>
          <a:p>
            <a:r>
              <a:rPr lang="fr-FR" sz="1400" dirty="0"/>
              <a:t>Courbes d’évolution basique/sûr pour chaque continent.</a:t>
            </a:r>
          </a:p>
          <a:p>
            <a:r>
              <a:rPr lang="fr-FR" sz="1400" dirty="0"/>
              <a:t>Mise en évidence des disparités régionales.</a:t>
            </a:r>
          </a:p>
        </p:txBody>
      </p:sp>
      <p:pic>
        <p:nvPicPr>
          <p:cNvPr id="5" name="Image 4">
            <a:extLst>
              <a:ext uri="{FF2B5EF4-FFF2-40B4-BE49-F238E27FC236}">
                <a16:creationId xmlns:a16="http://schemas.microsoft.com/office/drawing/2014/main" id="{B62F7B6E-9B5F-F28F-5035-DF109696A63B}"/>
              </a:ext>
            </a:extLst>
          </p:cNvPr>
          <p:cNvPicPr>
            <a:picLocks noChangeAspect="1"/>
          </p:cNvPicPr>
          <p:nvPr/>
        </p:nvPicPr>
        <p:blipFill>
          <a:blip r:embed="rId3"/>
          <a:stretch>
            <a:fillRect/>
          </a:stretch>
        </p:blipFill>
        <p:spPr>
          <a:xfrm>
            <a:off x="209998" y="1770166"/>
            <a:ext cx="5448274" cy="4062429"/>
          </a:xfrm>
          <a:prstGeom prst="rect">
            <a:avLst/>
          </a:prstGeom>
        </p:spPr>
      </p:pic>
    </p:spTree>
    <p:extLst>
      <p:ext uri="{BB962C8B-B14F-4D97-AF65-F5344CB8AC3E}">
        <p14:creationId xmlns:p14="http://schemas.microsoft.com/office/powerpoint/2010/main" val="4491662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6A3674-FDA7-A672-EE2C-EB18BA339DBB}"/>
            </a:ext>
          </a:extLst>
        </p:cNvPr>
        <p:cNvGrpSpPr/>
        <p:nvPr/>
      </p:nvGrpSpPr>
      <p:grpSpPr>
        <a:xfrm>
          <a:off x="0" y="0"/>
          <a:ext cx="0" cy="0"/>
          <a:chOff x="0" y="0"/>
          <a:chExt cx="0" cy="0"/>
        </a:xfrm>
      </p:grpSpPr>
      <p:sp>
        <p:nvSpPr>
          <p:cNvPr id="10" name="Freeform: Shape 9">
            <a:extLst>
              <a:ext uri="{FF2B5EF4-FFF2-40B4-BE49-F238E27FC236}">
                <a16:creationId xmlns:a16="http://schemas.microsoft.com/office/drawing/2014/main" id="{D22840AE-2B22-FE1B-DFE9-93FA0132CD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2DF33B83-4F6F-01D6-5158-CCF987C97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076F7161-2586-64B1-0111-7042A9EF5479}"/>
              </a:ext>
            </a:extLst>
          </p:cNvPr>
          <p:cNvSpPr>
            <a:spLocks noGrp="1"/>
          </p:cNvSpPr>
          <p:nvPr>
            <p:ph type="title"/>
          </p:nvPr>
        </p:nvSpPr>
        <p:spPr>
          <a:xfrm>
            <a:off x="5484611" y="886468"/>
            <a:ext cx="6236208" cy="1463040"/>
          </a:xfrm>
        </p:spPr>
        <p:txBody>
          <a:bodyPr vert="horz" lIns="91440" tIns="45720" rIns="91440" bIns="45720" rtlCol="0" anchor="t">
            <a:normAutofit/>
          </a:bodyPr>
          <a:lstStyle/>
          <a:p>
            <a:pPr>
              <a:lnSpc>
                <a:spcPct val="90000"/>
              </a:lnSpc>
            </a:pPr>
            <a:r>
              <a:rPr lang="fr-FR" sz="3200" dirty="0" err="1">
                <a:solidFill>
                  <a:schemeClr val="accent2">
                    <a:lumMod val="50000"/>
                  </a:schemeClr>
                </a:solidFill>
              </a:rPr>
              <a:t>Mockup</a:t>
            </a:r>
            <a:r>
              <a:rPr lang="fr-FR" sz="3200" dirty="0">
                <a:solidFill>
                  <a:schemeClr val="accent2">
                    <a:lumMod val="50000"/>
                  </a:schemeClr>
                </a:solidFill>
              </a:rPr>
              <a:t> – Vue nationale</a:t>
            </a:r>
            <a:endParaRPr lang="en-US" sz="3100" b="1" kern="1200" dirty="0">
              <a:solidFill>
                <a:schemeClr val="accent2">
                  <a:lumMod val="50000"/>
                </a:schemeClr>
              </a:solidFill>
              <a:latin typeface="+mj-lt"/>
              <a:ea typeface="+mj-ea"/>
              <a:cs typeface="+mj-cs"/>
            </a:endParaRPr>
          </a:p>
        </p:txBody>
      </p:sp>
      <p:sp>
        <p:nvSpPr>
          <p:cNvPr id="14" name="Freeform: Shape 13">
            <a:extLst>
              <a:ext uri="{FF2B5EF4-FFF2-40B4-BE49-F238E27FC236}">
                <a16:creationId xmlns:a16="http://schemas.microsoft.com/office/drawing/2014/main" id="{92A0DE00-5124-8C5F-C678-F5F7AA8E1D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4611" y="508090"/>
            <a:ext cx="6186474"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Espace réservé du contenu 3">
            <a:extLst>
              <a:ext uri="{FF2B5EF4-FFF2-40B4-BE49-F238E27FC236}">
                <a16:creationId xmlns:a16="http://schemas.microsoft.com/office/drawing/2014/main" id="{6AA64F86-407C-9A55-460B-FE153CCFD08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4476" y="2349508"/>
            <a:ext cx="6236208" cy="4875454"/>
          </a:xfrm>
        </p:spPr>
        <p:txBody>
          <a:bodyPr>
            <a:normAutofit/>
          </a:bodyPr>
          <a:lstStyle/>
          <a:p>
            <a:r>
              <a:rPr lang="fr-FR" sz="1400" b="1" dirty="0"/>
              <a:t>1. Indicateurs nationaux</a:t>
            </a:r>
            <a:endParaRPr lang="fr-FR" sz="1400" dirty="0"/>
          </a:p>
          <a:p>
            <a:r>
              <a:rPr lang="fr-FR" sz="1400" dirty="0"/>
              <a:t>Population, % accès basique, % accès sûr, mortalité WASH.</a:t>
            </a:r>
          </a:p>
          <a:p>
            <a:r>
              <a:rPr lang="fr-FR" sz="1400" dirty="0"/>
              <a:t>Vue ciblée sur un pays choisi via slicer (pays ou filtre stabilité politique)</a:t>
            </a:r>
          </a:p>
          <a:p>
            <a:r>
              <a:rPr lang="fr-FR" sz="1400" b="1" dirty="0"/>
              <a:t>2. Comparaison interne</a:t>
            </a:r>
            <a:endParaRPr lang="fr-FR" sz="1400" dirty="0"/>
          </a:p>
          <a:p>
            <a:r>
              <a:rPr lang="fr-FR" sz="1400" dirty="0"/>
              <a:t>Histogrammes groupés urbain vs rural.</a:t>
            </a:r>
          </a:p>
          <a:p>
            <a:r>
              <a:rPr lang="fr-FR" sz="1400" dirty="0"/>
              <a:t>Histogramme 100 % empilé : répartition basique vs sûr.</a:t>
            </a:r>
          </a:p>
          <a:p>
            <a:r>
              <a:rPr lang="fr-FR" sz="1400" b="1" dirty="0"/>
              <a:t>3. Contexte politique et sanitaire</a:t>
            </a:r>
            <a:endParaRPr lang="fr-FR" sz="1400" dirty="0"/>
          </a:p>
          <a:p>
            <a:r>
              <a:rPr lang="fr-FR" sz="1400" dirty="0"/>
              <a:t>Carte choroplèthe des décès liés à l’eau insalubre.</a:t>
            </a:r>
          </a:p>
          <a:p>
            <a:r>
              <a:rPr lang="fr-FR" sz="1400" dirty="0"/>
              <a:t>Infobulle enrichie : indice de stabilité politique, score consulting.</a:t>
            </a:r>
          </a:p>
          <a:p>
            <a:pPr marL="0" indent="0">
              <a:buNone/>
            </a:pPr>
            <a:endParaRPr lang="fr-FR" sz="1400" dirty="0"/>
          </a:p>
        </p:txBody>
      </p:sp>
      <p:pic>
        <p:nvPicPr>
          <p:cNvPr id="6" name="Image 5">
            <a:extLst>
              <a:ext uri="{FF2B5EF4-FFF2-40B4-BE49-F238E27FC236}">
                <a16:creationId xmlns:a16="http://schemas.microsoft.com/office/drawing/2014/main" id="{BD5A684E-55BE-16C9-5B50-6234807A1949}"/>
              </a:ext>
            </a:extLst>
          </p:cNvPr>
          <p:cNvPicPr>
            <a:picLocks noChangeAspect="1"/>
          </p:cNvPicPr>
          <p:nvPr/>
        </p:nvPicPr>
        <p:blipFill>
          <a:blip r:embed="rId3"/>
          <a:stretch>
            <a:fillRect/>
          </a:stretch>
        </p:blipFill>
        <p:spPr>
          <a:xfrm>
            <a:off x="244171" y="1647436"/>
            <a:ext cx="5708573" cy="4263635"/>
          </a:xfrm>
          <a:prstGeom prst="rect">
            <a:avLst/>
          </a:prstGeom>
        </p:spPr>
      </p:pic>
    </p:spTree>
    <p:extLst>
      <p:ext uri="{BB962C8B-B14F-4D97-AF65-F5344CB8AC3E}">
        <p14:creationId xmlns:p14="http://schemas.microsoft.com/office/powerpoint/2010/main" val="5963626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506C07A2-AC75-A6A9-B58A-897291F40F20}"/>
              </a:ext>
            </a:extLst>
          </p:cNvPr>
          <p:cNvSpPr>
            <a:spLocks noGrp="1"/>
          </p:cNvSpPr>
          <p:nvPr>
            <p:ph type="title"/>
          </p:nvPr>
        </p:nvSpPr>
        <p:spPr>
          <a:xfrm>
            <a:off x="521208" y="978408"/>
            <a:ext cx="6300216" cy="1463040"/>
          </a:xfrm>
        </p:spPr>
        <p:txBody>
          <a:bodyPr vert="horz" lIns="91440" tIns="45720" rIns="91440" bIns="45720" rtlCol="0" anchor="t">
            <a:normAutofit/>
          </a:bodyPr>
          <a:lstStyle/>
          <a:p>
            <a:pPr>
              <a:lnSpc>
                <a:spcPct val="90000"/>
              </a:lnSpc>
            </a:pPr>
            <a:r>
              <a:rPr lang="en-US" sz="3400" b="1" kern="1200" dirty="0">
                <a:solidFill>
                  <a:schemeClr val="accent2">
                    <a:lumMod val="50000"/>
                  </a:schemeClr>
                </a:solidFill>
                <a:latin typeface="+mj-lt"/>
                <a:ea typeface="+mj-ea"/>
                <a:cs typeface="+mj-cs"/>
              </a:rPr>
              <a:t>Nettoyage, transformation et structuration des données</a:t>
            </a:r>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298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Espace réservé du contenu 3">
            <a:extLst>
              <a:ext uri="{FF2B5EF4-FFF2-40B4-BE49-F238E27FC236}">
                <a16:creationId xmlns:a16="http://schemas.microsoft.com/office/drawing/2014/main" id="{814EED64-CDE3-9BA0-6381-59CB8AAD298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208" y="2578608"/>
            <a:ext cx="6300216" cy="3767328"/>
          </a:xfrm>
        </p:spPr>
        <p:txBody>
          <a:bodyPr>
            <a:normAutofit/>
          </a:bodyPr>
          <a:lstStyle/>
          <a:p>
            <a:pPr marL="0" indent="0">
              <a:spcBef>
                <a:spcPts val="2500"/>
              </a:spcBef>
              <a:buFont typeface="Arial" panose="020B0604020202020204" pitchFamily="34" charset="0"/>
              <a:buNone/>
            </a:pPr>
            <a:r>
              <a:rPr lang="fr-FR" sz="1400" b="1" dirty="0"/>
              <a:t>Nettoyage des données</a:t>
            </a:r>
          </a:p>
          <a:p>
            <a:pPr marL="0" lvl="1" indent="0">
              <a:buFont typeface="Arial" panose="020B0604020202020204" pitchFamily="34" charset="0"/>
              <a:buNone/>
            </a:pPr>
            <a:r>
              <a:rPr lang="fr-FR" sz="1400" dirty="0"/>
              <a:t>Les données brutes ont été nettoyées pour éliminer les erreurs et valeurs manquantes avant l’analyse (subdivisions de pays, données manquantes ,etc.)</a:t>
            </a:r>
          </a:p>
          <a:p>
            <a:pPr marL="0" indent="0">
              <a:spcBef>
                <a:spcPts val="2500"/>
              </a:spcBef>
              <a:buFont typeface="Arial" panose="020B0604020202020204" pitchFamily="34" charset="0"/>
              <a:buNone/>
            </a:pPr>
            <a:r>
              <a:rPr lang="fr-FR" sz="1400" b="1" dirty="0"/>
              <a:t>Transformation des données</a:t>
            </a:r>
          </a:p>
          <a:p>
            <a:pPr marL="0" lvl="1" indent="0">
              <a:buFont typeface="Arial" panose="020B0604020202020204" pitchFamily="34" charset="0"/>
              <a:buNone/>
            </a:pPr>
            <a:r>
              <a:rPr lang="fr-FR" sz="1400" dirty="0"/>
              <a:t>La transformation adapte les données au format requis pour faciliter leur exploitation dans Power BI (entier en format date, pourcentages)</a:t>
            </a:r>
          </a:p>
          <a:p>
            <a:pPr marL="0" indent="0">
              <a:spcBef>
                <a:spcPts val="2500"/>
              </a:spcBef>
              <a:buFont typeface="Arial" panose="020B0604020202020204" pitchFamily="34" charset="0"/>
              <a:buNone/>
            </a:pPr>
            <a:r>
              <a:rPr lang="fr-FR" sz="1400" b="1" dirty="0"/>
              <a:t>Modèle des données : Schéma en étoile</a:t>
            </a:r>
          </a:p>
          <a:p>
            <a:pPr marL="0" lvl="1" indent="0">
              <a:buFont typeface="Arial" panose="020B0604020202020204" pitchFamily="34" charset="0"/>
              <a:buNone/>
            </a:pPr>
            <a:r>
              <a:rPr lang="fr-FR" sz="1400" dirty="0"/>
              <a:t>Un schéma en étoile efficace organise les données pour garantir des analyses précises et cohérentes : </a:t>
            </a:r>
            <a:br>
              <a:rPr lang="fr-FR" sz="1400" dirty="0"/>
            </a:br>
            <a:r>
              <a:rPr lang="fr-FR" sz="1400" dirty="0"/>
              <a:t>- Tables de faits (Population, accès, mortalité, stabilité politique)</a:t>
            </a:r>
          </a:p>
          <a:p>
            <a:pPr marL="0" lvl="1" indent="0">
              <a:buFont typeface="Arial" panose="020B0604020202020204" pitchFamily="34" charset="0"/>
              <a:buNone/>
            </a:pPr>
            <a:r>
              <a:rPr lang="fr-FR" sz="1400" dirty="0"/>
              <a:t>- Tables de dimensions (Granularité, zone géographique, années)</a:t>
            </a:r>
          </a:p>
        </p:txBody>
      </p:sp>
      <p:pic>
        <p:nvPicPr>
          <p:cNvPr id="5" name="Espace réservé du contenu 4" descr="Concept de cloud computing isolé sur fond blanc">
            <a:extLst>
              <a:ext uri="{FF2B5EF4-FFF2-40B4-BE49-F238E27FC236}">
                <a16:creationId xmlns:a16="http://schemas.microsoft.com/office/drawing/2014/main" id="{5612AC25-CCA2-45E9-B419-B53EC9492BB8}"/>
              </a:ext>
            </a:extLst>
          </p:cNvPr>
          <p:cNvPicPr>
            <a:picLocks noGrp="1" noChangeAspect="1"/>
          </p:cNvPicPr>
          <p:nvPr>
            <p:ph sz="half" idx="1"/>
          </p:nvPr>
        </p:nvPicPr>
        <p:blipFill>
          <a:blip r:embed="rId3"/>
          <a:srcRect l="22811" r="24831"/>
          <a:stretch>
            <a:fillRect/>
          </a:stretch>
        </p:blipFill>
        <p:spPr>
          <a:xfrm>
            <a:off x="7586236" y="508090"/>
            <a:ext cx="4081805" cy="5846990"/>
          </a:xfrm>
          <a:prstGeom prst="rect">
            <a:avLst/>
          </a:prstGeom>
        </p:spPr>
      </p:pic>
    </p:spTree>
    <p:extLst>
      <p:ext uri="{BB962C8B-B14F-4D97-AF65-F5344CB8AC3E}">
        <p14:creationId xmlns:p14="http://schemas.microsoft.com/office/powerpoint/2010/main" val="39463678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re 1">
            <a:extLst>
              <a:ext uri="{FF2B5EF4-FFF2-40B4-BE49-F238E27FC236}">
                <a16:creationId xmlns:a16="http://schemas.microsoft.com/office/drawing/2014/main" id="{A7E9E144-6E33-4ACF-217A-0208BD870EE6}"/>
              </a:ext>
            </a:extLst>
          </p:cNvPr>
          <p:cNvSpPr>
            <a:spLocks noGrp="1"/>
          </p:cNvSpPr>
          <p:nvPr>
            <p:ph type="title"/>
          </p:nvPr>
        </p:nvSpPr>
        <p:spPr>
          <a:xfrm>
            <a:off x="1060379" y="894360"/>
            <a:ext cx="10068194" cy="1463040"/>
          </a:xfrm>
        </p:spPr>
        <p:txBody>
          <a:bodyPr vert="horz" lIns="91440" tIns="45720" rIns="91440" bIns="45720" rtlCol="0" anchor="t">
            <a:normAutofit/>
          </a:bodyPr>
          <a:lstStyle/>
          <a:p>
            <a:pPr>
              <a:lnSpc>
                <a:spcPct val="90000"/>
              </a:lnSpc>
            </a:pPr>
            <a:r>
              <a:rPr lang="en-US" sz="3400" b="1" kern="1200" dirty="0">
                <a:solidFill>
                  <a:schemeClr val="accent2">
                    <a:lumMod val="50000"/>
                  </a:schemeClr>
                </a:solidFill>
                <a:latin typeface="+mj-lt"/>
                <a:ea typeface="+mj-ea"/>
                <a:cs typeface="+mj-cs"/>
              </a:rPr>
              <a:t>Outils utilisés : Power Query et Power BI</a:t>
            </a:r>
          </a:p>
        </p:txBody>
      </p:sp>
      <p:sp>
        <p:nvSpPr>
          <p:cNvPr id="14" name="Freeform: Shape 13">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6407" y="508090"/>
            <a:ext cx="4660733"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Espace réservé du contenu 3">
            <a:extLst>
              <a:ext uri="{FF2B5EF4-FFF2-40B4-BE49-F238E27FC236}">
                <a16:creationId xmlns:a16="http://schemas.microsoft.com/office/drawing/2014/main" id="{37DA9307-190D-1814-A5E3-B8CDB5BD75B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6731" y="5711792"/>
            <a:ext cx="4517627" cy="932131"/>
          </a:xfrm>
        </p:spPr>
        <p:txBody>
          <a:bodyPr>
            <a:normAutofit/>
          </a:bodyPr>
          <a:lstStyle/>
          <a:p>
            <a:pPr marL="0" indent="0" algn="ctr">
              <a:spcBef>
                <a:spcPts val="2500"/>
              </a:spcBef>
              <a:buFont typeface="Arial" panose="020B0604020202020204" pitchFamily="34" charset="0"/>
              <a:buNone/>
            </a:pPr>
            <a:r>
              <a:rPr lang="fr-FR" sz="1400" b="1" dirty="0"/>
              <a:t>Préparation des données</a:t>
            </a:r>
          </a:p>
          <a:p>
            <a:pPr marL="0" lvl="1" indent="0">
              <a:buFont typeface="Arial" panose="020B0604020202020204" pitchFamily="34" charset="0"/>
              <a:buNone/>
            </a:pPr>
            <a:r>
              <a:rPr lang="fr-FR" sz="1400" dirty="0"/>
              <a:t>Power Query facilite la préparation et la transformation des données avec des outils puissants et flexibles.</a:t>
            </a:r>
          </a:p>
        </p:txBody>
      </p:sp>
      <p:sp>
        <p:nvSpPr>
          <p:cNvPr id="13" name="ZoneTexte 12">
            <a:extLst>
              <a:ext uri="{FF2B5EF4-FFF2-40B4-BE49-F238E27FC236}">
                <a16:creationId xmlns:a16="http://schemas.microsoft.com/office/drawing/2014/main" id="{83AF83BE-8DA9-C202-5962-62DC36DD2040}"/>
              </a:ext>
            </a:extLst>
          </p:cNvPr>
          <p:cNvSpPr txBox="1"/>
          <p:nvPr/>
        </p:nvSpPr>
        <p:spPr>
          <a:xfrm>
            <a:off x="6610948" y="5711792"/>
            <a:ext cx="4517625" cy="1015663"/>
          </a:xfrm>
          <a:prstGeom prst="rect">
            <a:avLst/>
          </a:prstGeom>
          <a:noFill/>
        </p:spPr>
        <p:txBody>
          <a:bodyPr wrap="square" rtlCol="0">
            <a:spAutoFit/>
          </a:bodyPr>
          <a:lstStyle/>
          <a:p>
            <a:pPr algn="ctr">
              <a:spcBef>
                <a:spcPts val="2500"/>
              </a:spcBef>
            </a:pPr>
            <a:r>
              <a:rPr lang="fr-FR" sz="1400" b="1" dirty="0"/>
              <a:t>Création de dashboard</a:t>
            </a:r>
          </a:p>
          <a:p>
            <a:pPr marL="0" lvl="1" indent="0">
              <a:buFont typeface="Arial" panose="020B0604020202020204" pitchFamily="34" charset="0"/>
              <a:buNone/>
            </a:pPr>
            <a:r>
              <a:rPr lang="fr-FR" sz="1400" dirty="0"/>
              <a:t>Power BI permet de créer des Dashboard interactifs pour visualiser efficacement les données préparées.</a:t>
            </a:r>
          </a:p>
          <a:p>
            <a:endParaRPr lang="fr-FR" dirty="0"/>
          </a:p>
        </p:txBody>
      </p:sp>
      <p:pic>
        <p:nvPicPr>
          <p:cNvPr id="16" name="Image 15">
            <a:extLst>
              <a:ext uri="{FF2B5EF4-FFF2-40B4-BE49-F238E27FC236}">
                <a16:creationId xmlns:a16="http://schemas.microsoft.com/office/drawing/2014/main" id="{95CB09B4-20CA-496B-B4CE-BCEACFE61FF2}"/>
              </a:ext>
            </a:extLst>
          </p:cNvPr>
          <p:cNvPicPr>
            <a:picLocks noChangeAspect="1"/>
          </p:cNvPicPr>
          <p:nvPr/>
        </p:nvPicPr>
        <p:blipFill>
          <a:blip r:embed="rId3"/>
          <a:stretch>
            <a:fillRect/>
          </a:stretch>
        </p:blipFill>
        <p:spPr>
          <a:xfrm>
            <a:off x="1331143" y="1728663"/>
            <a:ext cx="3128801" cy="3769057"/>
          </a:xfrm>
          <a:prstGeom prst="rect">
            <a:avLst/>
          </a:prstGeom>
        </p:spPr>
      </p:pic>
      <p:pic>
        <p:nvPicPr>
          <p:cNvPr id="18" name="Image 17">
            <a:extLst>
              <a:ext uri="{FF2B5EF4-FFF2-40B4-BE49-F238E27FC236}">
                <a16:creationId xmlns:a16="http://schemas.microsoft.com/office/drawing/2014/main" id="{CA9A30A3-E6A1-E1E9-1425-33F148CC5430}"/>
              </a:ext>
            </a:extLst>
          </p:cNvPr>
          <p:cNvPicPr>
            <a:picLocks noChangeAspect="1"/>
          </p:cNvPicPr>
          <p:nvPr/>
        </p:nvPicPr>
        <p:blipFill>
          <a:blip r:embed="rId4"/>
          <a:stretch>
            <a:fillRect/>
          </a:stretch>
        </p:blipFill>
        <p:spPr>
          <a:xfrm>
            <a:off x="5583528" y="1858837"/>
            <a:ext cx="6141688" cy="3140320"/>
          </a:xfrm>
          <a:prstGeom prst="rect">
            <a:avLst/>
          </a:prstGeom>
        </p:spPr>
      </p:pic>
    </p:spTree>
    <p:extLst>
      <p:ext uri="{BB962C8B-B14F-4D97-AF65-F5344CB8AC3E}">
        <p14:creationId xmlns:p14="http://schemas.microsoft.com/office/powerpoint/2010/main" val="36836978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356F7CB0-0735-F276-62F7-BF742CB936F0}"/>
              </a:ext>
            </a:extLst>
          </p:cNvPr>
          <p:cNvSpPr>
            <a:spLocks noGrp="1"/>
          </p:cNvSpPr>
          <p:nvPr>
            <p:ph type="title"/>
          </p:nvPr>
        </p:nvSpPr>
        <p:spPr>
          <a:xfrm>
            <a:off x="521208" y="978408"/>
            <a:ext cx="5020056" cy="706013"/>
          </a:xfrm>
        </p:spPr>
        <p:txBody>
          <a:bodyPr vert="horz" lIns="91440" tIns="45720" rIns="91440" bIns="45720" rtlCol="0" anchor="t">
            <a:normAutofit/>
          </a:bodyPr>
          <a:lstStyle/>
          <a:p>
            <a:pPr>
              <a:lnSpc>
                <a:spcPct val="90000"/>
              </a:lnSpc>
            </a:pPr>
            <a:r>
              <a:rPr lang="fr-FR" sz="2800" dirty="0">
                <a:solidFill>
                  <a:schemeClr val="accent2">
                    <a:lumMod val="50000"/>
                  </a:schemeClr>
                </a:solidFill>
              </a:rPr>
              <a:t>Dashboard final</a:t>
            </a:r>
            <a:endParaRPr lang="en-US" sz="2800" b="1" kern="1200" dirty="0">
              <a:solidFill>
                <a:schemeClr val="accent2">
                  <a:lumMod val="50000"/>
                </a:schemeClr>
              </a:solidFill>
              <a:latin typeface="+mj-lt"/>
              <a:ea typeface="+mj-ea"/>
              <a:cs typeface="+mj-cs"/>
            </a:endParaRPr>
          </a:p>
        </p:txBody>
      </p:sp>
      <p:sp>
        <p:nvSpPr>
          <p:cNvPr id="14" name="Rectangle 13">
            <a:extLst>
              <a:ext uri="{FF2B5EF4-FFF2-40B4-BE49-F238E27FC236}">
                <a16:creationId xmlns:a16="http://schemas.microsoft.com/office/drawing/2014/main" id="{B3367C65-B72C-202E-98A7-9B20F8F2F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7" y="508090"/>
            <a:ext cx="502005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6" name="Rectangle 15">
            <a:extLst>
              <a:ext uri="{FF2B5EF4-FFF2-40B4-BE49-F238E27FC236}">
                <a16:creationId xmlns:a16="http://schemas.microsoft.com/office/drawing/2014/main" id="{AE558C32-DE71-E6B3-A032-D3EA9CB0F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6463" y="611650"/>
            <a:ext cx="550468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Espace réservé du contenu 3">
            <a:extLst>
              <a:ext uri="{FF2B5EF4-FFF2-40B4-BE49-F238E27FC236}">
                <a16:creationId xmlns:a16="http://schemas.microsoft.com/office/drawing/2014/main" id="{B7CBBA4F-20FF-6C4F-52A2-2DA51996CFD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72763" y="1410096"/>
            <a:ext cx="4364227" cy="5367528"/>
          </a:xfrm>
        </p:spPr>
        <p:txBody>
          <a:bodyPr>
            <a:normAutofit/>
          </a:bodyPr>
          <a:lstStyle/>
          <a:p>
            <a:r>
              <a:rPr lang="fr-FR" sz="1400" b="1" dirty="0"/>
              <a:t>1. Vue d’ensemble interactive</a:t>
            </a:r>
            <a:endParaRPr lang="fr-FR" sz="1400" dirty="0"/>
          </a:p>
          <a:p>
            <a:r>
              <a:rPr lang="fr-FR" sz="1400" dirty="0"/>
              <a:t>Indicateurs clés accessibles immédiatement (KPI).</a:t>
            </a:r>
          </a:p>
          <a:p>
            <a:r>
              <a:rPr lang="fr-FR" sz="1400" dirty="0"/>
              <a:t>Navigation entre niveaux : monde, continent, pays.</a:t>
            </a:r>
          </a:p>
          <a:p>
            <a:r>
              <a:rPr lang="fr-FR" sz="1400" b="1" dirty="0"/>
              <a:t>2. Diversité des visualisations</a:t>
            </a:r>
            <a:endParaRPr lang="fr-FR" sz="1400" dirty="0"/>
          </a:p>
          <a:p>
            <a:r>
              <a:rPr lang="fr-FR" sz="1400" dirty="0"/>
              <a:t>Histogrammes, courbes, </a:t>
            </a:r>
            <a:r>
              <a:rPr lang="fr-FR" sz="1400" dirty="0" err="1"/>
              <a:t>scatter</a:t>
            </a:r>
            <a:r>
              <a:rPr lang="fr-FR" sz="1400" dirty="0"/>
              <a:t> plots, cartes choroplèthes.</a:t>
            </a:r>
          </a:p>
          <a:p>
            <a:r>
              <a:rPr lang="fr-FR" sz="1400" dirty="0"/>
              <a:t>Adaptés aux différents besoins utilisateurs (comparaison, tendances, corrélations, géographie).</a:t>
            </a:r>
          </a:p>
          <a:p>
            <a:r>
              <a:rPr lang="fr-FR" sz="1400" b="1" dirty="0"/>
              <a:t>3. Aide à la décision</a:t>
            </a:r>
            <a:endParaRPr lang="fr-FR" sz="1400" dirty="0"/>
          </a:p>
          <a:p>
            <a:r>
              <a:rPr lang="fr-FR" sz="1400" dirty="0"/>
              <a:t>Mise en évidence des zones prioritaires.</a:t>
            </a:r>
          </a:p>
          <a:p>
            <a:r>
              <a:rPr lang="fr-FR" sz="1400" dirty="0"/>
              <a:t>Analyse des écarts urbain/rural et influence politique.</a:t>
            </a:r>
          </a:p>
          <a:p>
            <a:r>
              <a:rPr lang="fr-FR" sz="1400" dirty="0"/>
              <a:t>Support pour les gouvernements et consultants.</a:t>
            </a:r>
          </a:p>
        </p:txBody>
      </p:sp>
      <p:pic>
        <p:nvPicPr>
          <p:cNvPr id="8" name="Image 7">
            <a:extLst>
              <a:ext uri="{FF2B5EF4-FFF2-40B4-BE49-F238E27FC236}">
                <a16:creationId xmlns:a16="http://schemas.microsoft.com/office/drawing/2014/main" id="{37839C00-71DD-E68B-8288-0A30D6F393F0}"/>
              </a:ext>
            </a:extLst>
          </p:cNvPr>
          <p:cNvPicPr>
            <a:picLocks noChangeAspect="1"/>
          </p:cNvPicPr>
          <p:nvPr/>
        </p:nvPicPr>
        <p:blipFill>
          <a:blip r:embed="rId3"/>
          <a:stretch>
            <a:fillRect/>
          </a:stretch>
        </p:blipFill>
        <p:spPr>
          <a:xfrm>
            <a:off x="245151" y="1684421"/>
            <a:ext cx="6851555" cy="3874132"/>
          </a:xfrm>
          <a:prstGeom prst="rect">
            <a:avLst/>
          </a:prstGeom>
        </p:spPr>
      </p:pic>
    </p:spTree>
    <p:extLst>
      <p:ext uri="{BB962C8B-B14F-4D97-AF65-F5344CB8AC3E}">
        <p14:creationId xmlns:p14="http://schemas.microsoft.com/office/powerpoint/2010/main" val="27778549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re 1">
            <a:extLst>
              <a:ext uri="{FF2B5EF4-FFF2-40B4-BE49-F238E27FC236}">
                <a16:creationId xmlns:a16="http://schemas.microsoft.com/office/drawing/2014/main" id="{42D101FD-E766-1A1C-6759-E1A278AF71C5}"/>
              </a:ext>
            </a:extLst>
          </p:cNvPr>
          <p:cNvSpPr>
            <a:spLocks noGrp="1"/>
          </p:cNvSpPr>
          <p:nvPr>
            <p:ph type="title"/>
          </p:nvPr>
        </p:nvSpPr>
        <p:spPr>
          <a:xfrm>
            <a:off x="524256" y="886468"/>
            <a:ext cx="5221866" cy="1463040"/>
          </a:xfrm>
        </p:spPr>
        <p:txBody>
          <a:bodyPr vert="horz" lIns="91440" tIns="45720" rIns="91440" bIns="45720" rtlCol="0" anchor="t">
            <a:normAutofit/>
          </a:bodyPr>
          <a:lstStyle/>
          <a:p>
            <a:pPr>
              <a:lnSpc>
                <a:spcPct val="90000"/>
              </a:lnSpc>
            </a:pPr>
            <a:r>
              <a:rPr lang="fr-FR" sz="3200" dirty="0">
                <a:solidFill>
                  <a:schemeClr val="accent2">
                    <a:lumMod val="50000"/>
                  </a:schemeClr>
                </a:solidFill>
              </a:rPr>
              <a:t>Conclusion et perspectives</a:t>
            </a:r>
            <a:endParaRPr lang="en-US" sz="3100" b="1" kern="1200" dirty="0">
              <a:solidFill>
                <a:schemeClr val="accent2">
                  <a:lumMod val="50000"/>
                </a:schemeClr>
              </a:solidFill>
              <a:latin typeface="+mj-lt"/>
              <a:ea typeface="+mj-ea"/>
              <a:cs typeface="+mj-cs"/>
            </a:endParaRPr>
          </a:p>
        </p:txBody>
      </p:sp>
      <p:sp>
        <p:nvSpPr>
          <p:cNvPr id="14" name="Rectangle 13">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Espace réservé du contenu 3">
            <a:extLst>
              <a:ext uri="{FF2B5EF4-FFF2-40B4-BE49-F238E27FC236}">
                <a16:creationId xmlns:a16="http://schemas.microsoft.com/office/drawing/2014/main" id="{DB269F70-FE7C-C85A-6FF7-D78837078A5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42790" y="2073403"/>
            <a:ext cx="6749142" cy="4784592"/>
          </a:xfrm>
        </p:spPr>
        <p:txBody>
          <a:bodyPr>
            <a:normAutofit fontScale="92500" lnSpcReduction="10000"/>
          </a:bodyPr>
          <a:lstStyle/>
          <a:p>
            <a:r>
              <a:rPr lang="fr-FR" sz="1400" b="1" dirty="0"/>
              <a:t>1. Analyse par pays (2016) </a:t>
            </a:r>
            <a:br>
              <a:rPr lang="fr-FR" sz="1400" dirty="0"/>
            </a:br>
            <a:br>
              <a:rPr lang="fr-FR" sz="1400" dirty="0"/>
            </a:br>
            <a:r>
              <a:rPr lang="fr-FR" sz="1400" dirty="0">
                <a:solidFill>
                  <a:srgbClr val="002060"/>
                </a:solidFill>
              </a:rPr>
              <a:t>Urgence : </a:t>
            </a:r>
            <a:br>
              <a:rPr lang="fr-FR" sz="1400" dirty="0"/>
            </a:br>
            <a:r>
              <a:rPr lang="fr-FR" sz="1400" b="1" dirty="0"/>
              <a:t>RDC</a:t>
            </a:r>
            <a:r>
              <a:rPr lang="fr-FR" sz="1400" dirty="0"/>
              <a:t> : faible accès, forte mortalité. (43 % basique, </a:t>
            </a:r>
            <a:r>
              <a:rPr lang="fr-FR" sz="1400" b="1" dirty="0"/>
              <a:t>59,8 décès/100k</a:t>
            </a:r>
            <a:r>
              <a:rPr lang="fr-FR" sz="1400" dirty="0"/>
              <a:t>.)</a:t>
            </a:r>
            <a:br>
              <a:rPr lang="fr-FR" sz="1400" dirty="0"/>
            </a:br>
            <a:r>
              <a:rPr lang="fr-FR" sz="1400" b="1" dirty="0"/>
              <a:t>Nigeria</a:t>
            </a:r>
            <a:r>
              <a:rPr lang="fr-FR" sz="1400" dirty="0"/>
              <a:t> : accès sûr très bas, mortalité élevée.  (70 % basique, 19,9 % sûr, </a:t>
            </a:r>
            <a:r>
              <a:rPr lang="fr-FR" sz="1400" b="1" dirty="0"/>
              <a:t>68,6 décès/100k</a:t>
            </a:r>
            <a:r>
              <a:rPr lang="fr-FR" sz="1400" dirty="0"/>
              <a:t>.)</a:t>
            </a:r>
            <a:br>
              <a:rPr lang="fr-FR" sz="1400" dirty="0"/>
            </a:br>
            <a:r>
              <a:rPr lang="fr-FR" sz="1400" b="1" dirty="0"/>
              <a:t>Éthiopie</a:t>
            </a:r>
            <a:r>
              <a:rPr lang="fr-FR" sz="1400" dirty="0"/>
              <a:t> : couverture limitée, mortalité importante. (40 % basique, 10,9 % sûr, </a:t>
            </a:r>
            <a:r>
              <a:rPr lang="fr-FR" sz="1400" b="1" dirty="0"/>
              <a:t>43,7 décès/100k</a:t>
            </a:r>
            <a:r>
              <a:rPr lang="fr-FR" sz="1400" dirty="0"/>
              <a:t>.)</a:t>
            </a:r>
            <a:br>
              <a:rPr lang="fr-FR" sz="1400" dirty="0"/>
            </a:br>
            <a:r>
              <a:rPr lang="fr-FR" sz="1400" dirty="0">
                <a:solidFill>
                  <a:srgbClr val="002060"/>
                </a:solidFill>
              </a:rPr>
              <a:t>Intermédiaires </a:t>
            </a:r>
            <a:r>
              <a:rPr lang="fr-FR" sz="1400" dirty="0"/>
              <a:t>: </a:t>
            </a:r>
            <a:br>
              <a:rPr lang="fr-FR" sz="1400" dirty="0"/>
            </a:br>
            <a:r>
              <a:rPr lang="fr-FR" sz="1400" b="1" dirty="0"/>
              <a:t>Maroc</a:t>
            </a:r>
            <a:r>
              <a:rPr lang="fr-FR" sz="1400" dirty="0"/>
              <a:t> : bonne couverture, quelques progrès à faire. (86,6 % basique, 70 % sûr, </a:t>
            </a:r>
            <a:r>
              <a:rPr lang="fr-FR" sz="1400" b="1" dirty="0"/>
              <a:t>1,9 décès/100k</a:t>
            </a:r>
            <a:r>
              <a:rPr lang="fr-FR" sz="1400" dirty="0"/>
              <a:t>.)</a:t>
            </a:r>
            <a:br>
              <a:rPr lang="fr-FR" sz="1400" dirty="0"/>
            </a:br>
            <a:r>
              <a:rPr lang="fr-FR" sz="1400" b="1" dirty="0"/>
              <a:t>Tunisie</a:t>
            </a:r>
            <a:r>
              <a:rPr lang="fr-FR" sz="1400" dirty="0"/>
              <a:t> : haut niveau, mortalité faible. (96 % basique, 92,4 % sûr, </a:t>
            </a:r>
            <a:r>
              <a:rPr lang="fr-FR" sz="1400" b="1" dirty="0"/>
              <a:t>1 décès/100k</a:t>
            </a:r>
            <a:r>
              <a:rPr lang="fr-FR" sz="1400" dirty="0"/>
              <a:t>.)</a:t>
            </a:r>
            <a:br>
              <a:rPr lang="fr-FR" sz="1400" dirty="0"/>
            </a:br>
            <a:r>
              <a:rPr lang="fr-FR" sz="1400" dirty="0">
                <a:solidFill>
                  <a:srgbClr val="002060"/>
                </a:solidFill>
              </a:rPr>
              <a:t>Avancés</a:t>
            </a:r>
            <a:r>
              <a:rPr lang="fr-FR" sz="1400" dirty="0"/>
              <a:t> : </a:t>
            </a:r>
            <a:br>
              <a:rPr lang="fr-FR" sz="1400" dirty="0"/>
            </a:br>
            <a:r>
              <a:rPr lang="fr-FR" sz="1400" b="1" dirty="0"/>
              <a:t>Chili</a:t>
            </a:r>
            <a:r>
              <a:rPr lang="fr-FR" sz="1400" dirty="0"/>
              <a:t> : accès quasi universel, mortalité quasi nulle. (99,6 % basique, 98,5 % sûr, </a:t>
            </a:r>
            <a:r>
              <a:rPr lang="fr-FR" sz="1400" b="1" dirty="0"/>
              <a:t>0,2 décès/100k</a:t>
            </a:r>
            <a:r>
              <a:rPr lang="fr-FR" sz="1400" dirty="0"/>
              <a:t>.)</a:t>
            </a:r>
            <a:br>
              <a:rPr lang="fr-FR" sz="1400" dirty="0"/>
            </a:br>
            <a:br>
              <a:rPr lang="fr-FR" sz="1400" dirty="0"/>
            </a:br>
            <a:r>
              <a:rPr lang="fr-FR" sz="1400" dirty="0"/>
              <a:t> </a:t>
            </a:r>
            <a:r>
              <a:rPr lang="fr-FR" sz="1400" b="1" dirty="0"/>
              <a:t>2. Perspectives d’évolution</a:t>
            </a:r>
            <a:endParaRPr lang="fr-FR" sz="1400" dirty="0"/>
          </a:p>
          <a:p>
            <a:r>
              <a:rPr lang="fr-FR" sz="1400" dirty="0"/>
              <a:t>Intégration de données récentes (qualité de l’eau, infrastructures).</a:t>
            </a:r>
          </a:p>
          <a:p>
            <a:r>
              <a:rPr lang="fr-FR" sz="1400" dirty="0"/>
              <a:t>Ajout de prévisions démographiques et climatiques.</a:t>
            </a:r>
          </a:p>
          <a:p>
            <a:r>
              <a:rPr lang="fr-FR" sz="1400" dirty="0"/>
              <a:t>Extension vers d’autres indicateurs de santé publique.</a:t>
            </a:r>
          </a:p>
        </p:txBody>
      </p:sp>
      <p:pic>
        <p:nvPicPr>
          <p:cNvPr id="9" name="Image 8">
            <a:extLst>
              <a:ext uri="{FF2B5EF4-FFF2-40B4-BE49-F238E27FC236}">
                <a16:creationId xmlns:a16="http://schemas.microsoft.com/office/drawing/2014/main" id="{20A3DB4D-720D-4F56-8C47-7511878032C1}"/>
              </a:ext>
            </a:extLst>
          </p:cNvPr>
          <p:cNvPicPr>
            <a:picLocks noChangeAspect="1"/>
          </p:cNvPicPr>
          <p:nvPr/>
        </p:nvPicPr>
        <p:blipFill>
          <a:blip r:embed="rId3"/>
          <a:stretch>
            <a:fillRect/>
          </a:stretch>
        </p:blipFill>
        <p:spPr>
          <a:xfrm>
            <a:off x="6859638" y="1734943"/>
            <a:ext cx="5189572" cy="3838014"/>
          </a:xfrm>
          <a:prstGeom prst="rect">
            <a:avLst/>
          </a:prstGeom>
        </p:spPr>
      </p:pic>
    </p:spTree>
    <p:extLst>
      <p:ext uri="{BB962C8B-B14F-4D97-AF65-F5344CB8AC3E}">
        <p14:creationId xmlns:p14="http://schemas.microsoft.com/office/powerpoint/2010/main" val="12453100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224</TotalTime>
  <Words>2013</Words>
  <Application>Microsoft Office PowerPoint</Application>
  <PresentationFormat>Grand écran</PresentationFormat>
  <Paragraphs>150</Paragraphs>
  <Slides>15</Slides>
  <Notes>15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Aptos</vt:lpstr>
      <vt:lpstr>Arial</vt:lpstr>
      <vt:lpstr>Bierstadt</vt:lpstr>
      <vt:lpstr>Neue Haas Grotesk Text Pro</vt:lpstr>
      <vt:lpstr>GestaltVTI</vt:lpstr>
      <vt:lpstr>Planification et analyse de l’accès à l’eau potable : conception d’un dashboard Power BI pour la prise de décision</vt:lpstr>
      <vt:lpstr>Programme de la présentation</vt:lpstr>
      <vt:lpstr>Contexte - Enjeux</vt:lpstr>
      <vt:lpstr>Objectifs et public ciblé</vt:lpstr>
      <vt:lpstr>Prétraitement – Sources de données</vt:lpstr>
      <vt:lpstr>Présentation du blueprint</vt:lpstr>
      <vt:lpstr>Conception méthodologique</vt:lpstr>
      <vt:lpstr>Pertinence de Power BI</vt:lpstr>
      <vt:lpstr>Mockup – Vue mondiale</vt:lpstr>
      <vt:lpstr>Mockup – Vue continentale</vt:lpstr>
      <vt:lpstr>Mockup – Vue nationale</vt:lpstr>
      <vt:lpstr>Nettoyage, transformation et structuration des données</vt:lpstr>
      <vt:lpstr>Outils utilisés : Power Query et Power BI</vt:lpstr>
      <vt:lpstr>Dashboard final</vt:lpstr>
      <vt:lpstr>Conclusion et perspectives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 Yung</dc:creator>
  <cp:lastModifiedBy>C Yung</cp:lastModifiedBy>
  <cp:revision>4</cp:revision>
  <dcterms:created xsi:type="dcterms:W3CDTF">2025-09-12T08:35:23Z</dcterms:created>
  <dcterms:modified xsi:type="dcterms:W3CDTF">2025-09-13T05:13:58Z</dcterms:modified>
</cp:coreProperties>
</file>