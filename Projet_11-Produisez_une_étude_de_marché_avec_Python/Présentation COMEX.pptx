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1" r:id="rId2"/>
    <p:sldId id="2562" r:id="rId3"/>
    <p:sldId id="2563" r:id="rId4"/>
    <p:sldId id="2564" r:id="rId5"/>
    <p:sldId id="2565" r:id="rId6"/>
    <p:sldId id="2566" r:id="rId7"/>
    <p:sldId id="2567" r:id="rId8"/>
    <p:sldId id="2568" r:id="rId9"/>
    <p:sldId id="2569" r:id="rId10"/>
    <p:sldId id="2583" r:id="rId11"/>
    <p:sldId id="2584" r:id="rId12"/>
    <p:sldId id="2570" r:id="rId13"/>
    <p:sldId id="2585" r:id="rId14"/>
    <p:sldId id="2571" r:id="rId15"/>
    <p:sldId id="2572" r:id="rId16"/>
    <p:sldId id="2573" r:id="rId17"/>
    <p:sldId id="2582"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Étude de segmentation internationale pour La Poule qui Chante" id="{75E708B4-36FF-418B-8226-B5B664738D30}">
          <p14:sldIdLst>
            <p14:sldId id="2561"/>
            <p14:sldId id="2562"/>
            <p14:sldId id="2563"/>
            <p14:sldId id="2564"/>
            <p14:sldId id="2565"/>
            <p14:sldId id="2566"/>
            <p14:sldId id="2567"/>
            <p14:sldId id="2568"/>
            <p14:sldId id="2569"/>
            <p14:sldId id="2583"/>
            <p14:sldId id="2584"/>
            <p14:sldId id="2570"/>
            <p14:sldId id="2585"/>
            <p14:sldId id="2571"/>
            <p14:sldId id="2572"/>
            <p14:sldId id="2573"/>
          </p14:sldIdLst>
        </p14:section>
        <p14:section name="Conclusion" id="{EFC3734A-DD45-4CD0-8BCE-ACB2B55FB0F7}">
          <p14:sldIdLst>
            <p14:sldId id="25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7C3E"/>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7" d="100"/>
          <a:sy n="57" d="100"/>
        </p:scale>
        <p:origin x="1260" y="2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B394C8-D84A-4F80-B357-18BC687A03E4}" type="doc">
      <dgm:prSet loTypeId="urn:microsoft.com/office/officeart/2005/8/layout/hProcess4" loCatId="process" qsTypeId="urn:microsoft.com/office/officeart/2005/8/quickstyle/simple1" qsCatId="simple" csTypeId="urn:microsoft.com/office/officeart/2005/8/colors/accent6_3" csCatId="accent6" phldr="1"/>
      <dgm:spPr/>
      <dgm:t>
        <a:bodyPr/>
        <a:lstStyle/>
        <a:p>
          <a:endParaRPr lang="fr-FR"/>
        </a:p>
      </dgm:t>
    </dgm:pt>
    <dgm:pt modelId="{35983862-150C-4E19-B7CC-A34D466622DF}">
      <dgm:prSet phldrT="[Texte]" phldr="0"/>
      <dgm:spPr>
        <a:solidFill>
          <a:srgbClr val="3E7C3E"/>
        </a:solidFill>
      </dgm:spPr>
      <dgm:t>
        <a:bodyPr/>
        <a:lstStyle/>
        <a:p>
          <a:r>
            <a:rPr lang="fr-FR" b="1" dirty="0"/>
            <a:t>Import des fichiers</a:t>
          </a:r>
        </a:p>
      </dgm:t>
    </dgm:pt>
    <dgm:pt modelId="{BAF37DF3-4190-44C0-A7F0-4923187945A9}" type="parTrans" cxnId="{9C245C8D-3AE0-46F6-A98C-56658864E848}">
      <dgm:prSet/>
      <dgm:spPr/>
      <dgm:t>
        <a:bodyPr/>
        <a:lstStyle/>
        <a:p>
          <a:endParaRPr lang="fr-FR"/>
        </a:p>
      </dgm:t>
    </dgm:pt>
    <dgm:pt modelId="{381F5307-5A55-4BF5-82E9-2D67AE2FA524}" type="sibTrans" cxnId="{9C245C8D-3AE0-46F6-A98C-56658864E848}">
      <dgm:prSet/>
      <dgm:spPr>
        <a:solidFill>
          <a:srgbClr val="3E7C3E"/>
        </a:solidFill>
      </dgm:spPr>
      <dgm:t>
        <a:bodyPr/>
        <a:lstStyle/>
        <a:p>
          <a:endParaRPr lang="fr-FR"/>
        </a:p>
      </dgm:t>
    </dgm:pt>
    <dgm:pt modelId="{B505E6B6-AA07-4DD2-AFFB-8A5FCAC1A70F}">
      <dgm:prSet phldrT="[Texte]" phldr="0"/>
      <dgm:spPr>
        <a:solidFill>
          <a:srgbClr val="3E7C3E"/>
        </a:solidFill>
      </dgm:spPr>
      <dgm:t>
        <a:bodyPr/>
        <a:lstStyle/>
        <a:p>
          <a:r>
            <a:rPr lang="fr-FR" b="1" dirty="0"/>
            <a:t>Nettoyage des fichiers</a:t>
          </a:r>
        </a:p>
      </dgm:t>
    </dgm:pt>
    <dgm:pt modelId="{2BAB1DD2-E6D8-4B2B-83EB-5B1279D801E4}" type="parTrans" cxnId="{FB4D079F-7B6D-4D11-B80C-0B41E5D9ED14}">
      <dgm:prSet/>
      <dgm:spPr/>
      <dgm:t>
        <a:bodyPr/>
        <a:lstStyle/>
        <a:p>
          <a:endParaRPr lang="fr-FR"/>
        </a:p>
      </dgm:t>
    </dgm:pt>
    <dgm:pt modelId="{B7976A29-B106-4F31-B9EC-46B4E8925E4E}" type="sibTrans" cxnId="{FB4D079F-7B6D-4D11-B80C-0B41E5D9ED14}">
      <dgm:prSet/>
      <dgm:spPr>
        <a:solidFill>
          <a:srgbClr val="3E7C3E"/>
        </a:solidFill>
      </dgm:spPr>
      <dgm:t>
        <a:bodyPr/>
        <a:lstStyle/>
        <a:p>
          <a:endParaRPr lang="fr-FR"/>
        </a:p>
      </dgm:t>
    </dgm:pt>
    <dgm:pt modelId="{76E35C80-274C-4DDE-BE62-848B12EB043C}">
      <dgm:prSet phldrT="[Texte]" phldr="0"/>
      <dgm:spPr>
        <a:solidFill>
          <a:srgbClr val="3E7C3E"/>
        </a:solidFill>
      </dgm:spPr>
      <dgm:t>
        <a:bodyPr/>
        <a:lstStyle/>
        <a:p>
          <a:r>
            <a:rPr lang="fr-FR" b="1" dirty="0"/>
            <a:t>Fusion des fichiers</a:t>
          </a:r>
        </a:p>
      </dgm:t>
    </dgm:pt>
    <dgm:pt modelId="{D73B6762-9636-4E95-8529-BF415A58AF42}" type="parTrans" cxnId="{E0ABB67A-16B7-4BFF-9892-66E3B653C103}">
      <dgm:prSet/>
      <dgm:spPr/>
      <dgm:t>
        <a:bodyPr/>
        <a:lstStyle/>
        <a:p>
          <a:endParaRPr lang="fr-FR"/>
        </a:p>
      </dgm:t>
    </dgm:pt>
    <dgm:pt modelId="{A9D27748-9816-49A0-ABC9-A6B6843CEE43}" type="sibTrans" cxnId="{E0ABB67A-16B7-4BFF-9892-66E3B653C103}">
      <dgm:prSet/>
      <dgm:spPr>
        <a:solidFill>
          <a:srgbClr val="3E7C3E"/>
        </a:solidFill>
      </dgm:spPr>
      <dgm:t>
        <a:bodyPr/>
        <a:lstStyle/>
        <a:p>
          <a:endParaRPr lang="fr-FR"/>
        </a:p>
      </dgm:t>
    </dgm:pt>
    <dgm:pt modelId="{5DB9F35E-3352-4D64-B2FB-E7703B4603C0}">
      <dgm:prSet/>
      <dgm:spPr>
        <a:solidFill>
          <a:srgbClr val="3E7C3E"/>
        </a:solidFill>
      </dgm:spPr>
      <dgm:t>
        <a:bodyPr/>
        <a:lstStyle/>
        <a:p>
          <a:r>
            <a:rPr lang="fr-FR" b="1" dirty="0"/>
            <a:t>Création d’indicateurs clés</a:t>
          </a:r>
        </a:p>
      </dgm:t>
    </dgm:pt>
    <dgm:pt modelId="{A8F85FE0-FC62-41DE-B408-D34D165395BA}" type="parTrans" cxnId="{66D14FA3-28F9-477D-A7AA-16C8175D7B28}">
      <dgm:prSet/>
      <dgm:spPr/>
      <dgm:t>
        <a:bodyPr/>
        <a:lstStyle/>
        <a:p>
          <a:endParaRPr lang="fr-FR"/>
        </a:p>
      </dgm:t>
    </dgm:pt>
    <dgm:pt modelId="{62E62F57-B636-484C-9524-A87233608CA6}" type="sibTrans" cxnId="{66D14FA3-28F9-477D-A7AA-16C8175D7B28}">
      <dgm:prSet/>
      <dgm:spPr/>
      <dgm:t>
        <a:bodyPr/>
        <a:lstStyle/>
        <a:p>
          <a:endParaRPr lang="fr-FR"/>
        </a:p>
      </dgm:t>
    </dgm:pt>
    <dgm:pt modelId="{60B10DC6-AD28-425C-91AA-22DF10664370}">
      <dgm:prSet/>
      <dgm:spPr/>
      <dgm:t>
        <a:bodyPr/>
        <a:lstStyle/>
        <a:p>
          <a:r>
            <a:rPr lang="fr-FR" dirty="0">
              <a:solidFill>
                <a:schemeClr val="tx1">
                  <a:lumMod val="90000"/>
                  <a:lumOff val="10000"/>
                </a:schemeClr>
              </a:solidFill>
            </a:rPr>
            <a:t>Traitement des valeurs manquantes et doublons.</a:t>
          </a:r>
        </a:p>
      </dgm:t>
    </dgm:pt>
    <dgm:pt modelId="{BB3EE1FE-60B3-4F08-B9A7-56507C777BE2}" type="parTrans" cxnId="{3956EBFD-14C9-41DB-B8E8-4247D2F2FC15}">
      <dgm:prSet/>
      <dgm:spPr/>
      <dgm:t>
        <a:bodyPr/>
        <a:lstStyle/>
        <a:p>
          <a:endParaRPr lang="fr-FR"/>
        </a:p>
      </dgm:t>
    </dgm:pt>
    <dgm:pt modelId="{DACDA3EA-C1DB-430B-862E-CA49375AECC7}" type="sibTrans" cxnId="{3956EBFD-14C9-41DB-B8E8-4247D2F2FC15}">
      <dgm:prSet/>
      <dgm:spPr/>
      <dgm:t>
        <a:bodyPr/>
        <a:lstStyle/>
        <a:p>
          <a:endParaRPr lang="fr-FR"/>
        </a:p>
      </dgm:t>
    </dgm:pt>
    <dgm:pt modelId="{75EE6FAF-29E6-4279-9670-A8F67F71480A}">
      <dgm:prSet/>
      <dgm:spPr/>
      <dgm:t>
        <a:bodyPr/>
        <a:lstStyle/>
        <a:p>
          <a:r>
            <a:rPr lang="fr-FR" dirty="0">
              <a:solidFill>
                <a:schemeClr val="tx1">
                  <a:lumMod val="90000"/>
                  <a:lumOff val="10000"/>
                </a:schemeClr>
              </a:solidFill>
            </a:rPr>
            <a:t>Chargement des données de la FAO et Banque Mondiale.</a:t>
          </a:r>
        </a:p>
      </dgm:t>
    </dgm:pt>
    <dgm:pt modelId="{0644B178-59C0-4E45-BFB3-3D1524173C8A}" type="parTrans" cxnId="{17192EC1-C56B-4FD5-86EF-01EAD509FE4B}">
      <dgm:prSet/>
      <dgm:spPr/>
      <dgm:t>
        <a:bodyPr/>
        <a:lstStyle/>
        <a:p>
          <a:endParaRPr lang="fr-FR"/>
        </a:p>
      </dgm:t>
    </dgm:pt>
    <dgm:pt modelId="{C4466C67-6706-4D10-8C14-7B03B8BC2E39}" type="sibTrans" cxnId="{17192EC1-C56B-4FD5-86EF-01EAD509FE4B}">
      <dgm:prSet/>
      <dgm:spPr/>
      <dgm:t>
        <a:bodyPr/>
        <a:lstStyle/>
        <a:p>
          <a:endParaRPr lang="fr-FR"/>
        </a:p>
      </dgm:t>
    </dgm:pt>
    <dgm:pt modelId="{F6281F3C-C261-47B2-AC40-76782B61D1CA}">
      <dgm:prSet/>
      <dgm:spPr/>
      <dgm:t>
        <a:bodyPr/>
        <a:lstStyle/>
        <a:p>
          <a:r>
            <a:rPr lang="fr-FR" dirty="0">
              <a:solidFill>
                <a:schemeClr val="tx1">
                  <a:lumMod val="90000"/>
                  <a:lumOff val="10000"/>
                </a:schemeClr>
              </a:solidFill>
            </a:rPr>
            <a:t>Jointures internes pour un dataset unique.</a:t>
          </a:r>
        </a:p>
      </dgm:t>
    </dgm:pt>
    <dgm:pt modelId="{8B12CF58-909C-4813-9881-402652BBFA24}" type="parTrans" cxnId="{38F33513-D469-40AF-B4DF-234A661466BA}">
      <dgm:prSet/>
      <dgm:spPr/>
      <dgm:t>
        <a:bodyPr/>
        <a:lstStyle/>
        <a:p>
          <a:endParaRPr lang="fr-FR"/>
        </a:p>
      </dgm:t>
    </dgm:pt>
    <dgm:pt modelId="{EED76B26-7F78-499B-9CE9-D889521F0F72}" type="sibTrans" cxnId="{38F33513-D469-40AF-B4DF-234A661466BA}">
      <dgm:prSet/>
      <dgm:spPr/>
      <dgm:t>
        <a:bodyPr/>
        <a:lstStyle/>
        <a:p>
          <a:endParaRPr lang="fr-FR"/>
        </a:p>
      </dgm:t>
    </dgm:pt>
    <dgm:pt modelId="{D1C5E4D2-CB10-4061-9773-6D65690C8E5F}">
      <dgm:prSet/>
      <dgm:spPr/>
      <dgm:t>
        <a:bodyPr/>
        <a:lstStyle/>
        <a:p>
          <a:r>
            <a:rPr lang="fr-FR" dirty="0">
              <a:solidFill>
                <a:schemeClr val="tx1">
                  <a:lumMod val="90000"/>
                  <a:lumOff val="10000"/>
                </a:schemeClr>
              </a:solidFill>
            </a:rPr>
            <a:t>Calcul de variable dérivées pour l’analyse.</a:t>
          </a:r>
        </a:p>
      </dgm:t>
    </dgm:pt>
    <dgm:pt modelId="{BEC2A67E-587F-4524-97A8-4EA25A67DDB2}" type="parTrans" cxnId="{EF72CE19-4685-49F4-9553-EA29224611EF}">
      <dgm:prSet/>
      <dgm:spPr/>
      <dgm:t>
        <a:bodyPr/>
        <a:lstStyle/>
        <a:p>
          <a:endParaRPr lang="fr-FR"/>
        </a:p>
      </dgm:t>
    </dgm:pt>
    <dgm:pt modelId="{56E3774E-C470-43C3-BAF8-72BEC83B2182}" type="sibTrans" cxnId="{EF72CE19-4685-49F4-9553-EA29224611EF}">
      <dgm:prSet/>
      <dgm:spPr/>
      <dgm:t>
        <a:bodyPr/>
        <a:lstStyle/>
        <a:p>
          <a:endParaRPr lang="fr-FR"/>
        </a:p>
      </dgm:t>
    </dgm:pt>
    <dgm:pt modelId="{A5472EC8-3965-4682-BE7B-DFD49227FE2D}" type="pres">
      <dgm:prSet presAssocID="{01B394C8-D84A-4F80-B357-18BC687A03E4}" presName="Name0" presStyleCnt="0">
        <dgm:presLayoutVars>
          <dgm:dir/>
          <dgm:animLvl val="lvl"/>
          <dgm:resizeHandles val="exact"/>
        </dgm:presLayoutVars>
      </dgm:prSet>
      <dgm:spPr/>
    </dgm:pt>
    <dgm:pt modelId="{4573FFD1-68D3-421F-B1BC-4DF04FC192C0}" type="pres">
      <dgm:prSet presAssocID="{01B394C8-D84A-4F80-B357-18BC687A03E4}" presName="tSp" presStyleCnt="0"/>
      <dgm:spPr/>
    </dgm:pt>
    <dgm:pt modelId="{2215133F-C681-4554-8181-DDECB4CC646C}" type="pres">
      <dgm:prSet presAssocID="{01B394C8-D84A-4F80-B357-18BC687A03E4}" presName="bSp" presStyleCnt="0"/>
      <dgm:spPr/>
    </dgm:pt>
    <dgm:pt modelId="{CBE90AE9-EED5-41F7-9C74-4C1D3DD87F31}" type="pres">
      <dgm:prSet presAssocID="{01B394C8-D84A-4F80-B357-18BC687A03E4}" presName="process" presStyleCnt="0"/>
      <dgm:spPr/>
    </dgm:pt>
    <dgm:pt modelId="{41608F82-17E0-4EDD-BF6E-98B93E538B18}" type="pres">
      <dgm:prSet presAssocID="{35983862-150C-4E19-B7CC-A34D466622DF}" presName="composite1" presStyleCnt="0"/>
      <dgm:spPr/>
    </dgm:pt>
    <dgm:pt modelId="{748BE4CA-6E0E-48B7-8821-04C8368DC9FA}" type="pres">
      <dgm:prSet presAssocID="{35983862-150C-4E19-B7CC-A34D466622DF}" presName="dummyNode1" presStyleLbl="node1" presStyleIdx="0" presStyleCnt="4"/>
      <dgm:spPr/>
    </dgm:pt>
    <dgm:pt modelId="{34676443-DC03-4CD8-ACDB-1420F5B3FC96}" type="pres">
      <dgm:prSet presAssocID="{35983862-150C-4E19-B7CC-A34D466622DF}" presName="childNode1" presStyleLbl="bgAcc1" presStyleIdx="0" presStyleCnt="4">
        <dgm:presLayoutVars>
          <dgm:bulletEnabled val="1"/>
        </dgm:presLayoutVars>
      </dgm:prSet>
      <dgm:spPr/>
    </dgm:pt>
    <dgm:pt modelId="{31E3BC8F-8B6B-4978-8341-175EFDC28D05}" type="pres">
      <dgm:prSet presAssocID="{35983862-150C-4E19-B7CC-A34D466622DF}" presName="childNode1tx" presStyleLbl="bgAcc1" presStyleIdx="0" presStyleCnt="4">
        <dgm:presLayoutVars>
          <dgm:bulletEnabled val="1"/>
        </dgm:presLayoutVars>
      </dgm:prSet>
      <dgm:spPr/>
    </dgm:pt>
    <dgm:pt modelId="{2268F0ED-22F7-4ED2-9E29-BA3DB0058825}" type="pres">
      <dgm:prSet presAssocID="{35983862-150C-4E19-B7CC-A34D466622DF}" presName="parentNode1" presStyleLbl="node1" presStyleIdx="0" presStyleCnt="4">
        <dgm:presLayoutVars>
          <dgm:chMax val="1"/>
          <dgm:bulletEnabled val="1"/>
        </dgm:presLayoutVars>
      </dgm:prSet>
      <dgm:spPr/>
    </dgm:pt>
    <dgm:pt modelId="{0BCEF156-FDAA-488B-8443-2EA05FBB915E}" type="pres">
      <dgm:prSet presAssocID="{35983862-150C-4E19-B7CC-A34D466622DF}" presName="connSite1" presStyleCnt="0"/>
      <dgm:spPr/>
    </dgm:pt>
    <dgm:pt modelId="{E60229C6-52CB-40FC-A48E-1D7890BBE626}" type="pres">
      <dgm:prSet presAssocID="{381F5307-5A55-4BF5-82E9-2D67AE2FA524}" presName="Name9" presStyleLbl="sibTrans2D1" presStyleIdx="0" presStyleCnt="3"/>
      <dgm:spPr/>
    </dgm:pt>
    <dgm:pt modelId="{0E1682E9-A1BB-401A-BB50-C20770339CC1}" type="pres">
      <dgm:prSet presAssocID="{B505E6B6-AA07-4DD2-AFFB-8A5FCAC1A70F}" presName="composite2" presStyleCnt="0"/>
      <dgm:spPr/>
    </dgm:pt>
    <dgm:pt modelId="{08D4A15A-C590-4103-B113-7F510ACAA742}" type="pres">
      <dgm:prSet presAssocID="{B505E6B6-AA07-4DD2-AFFB-8A5FCAC1A70F}" presName="dummyNode2" presStyleLbl="node1" presStyleIdx="0" presStyleCnt="4"/>
      <dgm:spPr/>
    </dgm:pt>
    <dgm:pt modelId="{20CF0198-0D20-4B76-928C-184ACECA9B6B}" type="pres">
      <dgm:prSet presAssocID="{B505E6B6-AA07-4DD2-AFFB-8A5FCAC1A70F}" presName="childNode2" presStyleLbl="bgAcc1" presStyleIdx="1" presStyleCnt="4">
        <dgm:presLayoutVars>
          <dgm:bulletEnabled val="1"/>
        </dgm:presLayoutVars>
      </dgm:prSet>
      <dgm:spPr/>
    </dgm:pt>
    <dgm:pt modelId="{0F58BE08-BCB7-4DAD-BCF8-59353ADB1A78}" type="pres">
      <dgm:prSet presAssocID="{B505E6B6-AA07-4DD2-AFFB-8A5FCAC1A70F}" presName="childNode2tx" presStyleLbl="bgAcc1" presStyleIdx="1" presStyleCnt="4">
        <dgm:presLayoutVars>
          <dgm:bulletEnabled val="1"/>
        </dgm:presLayoutVars>
      </dgm:prSet>
      <dgm:spPr/>
    </dgm:pt>
    <dgm:pt modelId="{69C70F54-ECC5-41AF-9479-1F7AFD5D83F4}" type="pres">
      <dgm:prSet presAssocID="{B505E6B6-AA07-4DD2-AFFB-8A5FCAC1A70F}" presName="parentNode2" presStyleLbl="node1" presStyleIdx="1" presStyleCnt="4">
        <dgm:presLayoutVars>
          <dgm:chMax val="0"/>
          <dgm:bulletEnabled val="1"/>
        </dgm:presLayoutVars>
      </dgm:prSet>
      <dgm:spPr/>
    </dgm:pt>
    <dgm:pt modelId="{0AB0AAC9-EC07-421D-BF82-C1DE1D18B645}" type="pres">
      <dgm:prSet presAssocID="{B505E6B6-AA07-4DD2-AFFB-8A5FCAC1A70F}" presName="connSite2" presStyleCnt="0"/>
      <dgm:spPr/>
    </dgm:pt>
    <dgm:pt modelId="{B18222F3-AD7A-4111-A5E0-C69D7D4D7379}" type="pres">
      <dgm:prSet presAssocID="{B7976A29-B106-4F31-B9EC-46B4E8925E4E}" presName="Name18" presStyleLbl="sibTrans2D1" presStyleIdx="1" presStyleCnt="3"/>
      <dgm:spPr/>
    </dgm:pt>
    <dgm:pt modelId="{BCB7160E-52AB-4F20-82E2-01C725417271}" type="pres">
      <dgm:prSet presAssocID="{76E35C80-274C-4DDE-BE62-848B12EB043C}" presName="composite1" presStyleCnt="0"/>
      <dgm:spPr/>
    </dgm:pt>
    <dgm:pt modelId="{4E82FB82-090F-4C44-8384-817E2B1D7872}" type="pres">
      <dgm:prSet presAssocID="{76E35C80-274C-4DDE-BE62-848B12EB043C}" presName="dummyNode1" presStyleLbl="node1" presStyleIdx="1" presStyleCnt="4"/>
      <dgm:spPr/>
    </dgm:pt>
    <dgm:pt modelId="{436227B4-14F8-40C5-9B51-AF181D41D91F}" type="pres">
      <dgm:prSet presAssocID="{76E35C80-274C-4DDE-BE62-848B12EB043C}" presName="childNode1" presStyleLbl="bgAcc1" presStyleIdx="2" presStyleCnt="4">
        <dgm:presLayoutVars>
          <dgm:bulletEnabled val="1"/>
        </dgm:presLayoutVars>
      </dgm:prSet>
      <dgm:spPr/>
    </dgm:pt>
    <dgm:pt modelId="{0FE98A73-1B26-45D8-A9EE-8E40D4B07426}" type="pres">
      <dgm:prSet presAssocID="{76E35C80-274C-4DDE-BE62-848B12EB043C}" presName="childNode1tx" presStyleLbl="bgAcc1" presStyleIdx="2" presStyleCnt="4">
        <dgm:presLayoutVars>
          <dgm:bulletEnabled val="1"/>
        </dgm:presLayoutVars>
      </dgm:prSet>
      <dgm:spPr/>
    </dgm:pt>
    <dgm:pt modelId="{58FF8DAD-CF04-42EB-9B2C-B12BC1E924BC}" type="pres">
      <dgm:prSet presAssocID="{76E35C80-274C-4DDE-BE62-848B12EB043C}" presName="parentNode1" presStyleLbl="node1" presStyleIdx="2" presStyleCnt="4">
        <dgm:presLayoutVars>
          <dgm:chMax val="1"/>
          <dgm:bulletEnabled val="1"/>
        </dgm:presLayoutVars>
      </dgm:prSet>
      <dgm:spPr/>
    </dgm:pt>
    <dgm:pt modelId="{D0BBAA10-B2B9-4221-9FE1-1B2C9A925630}" type="pres">
      <dgm:prSet presAssocID="{76E35C80-274C-4DDE-BE62-848B12EB043C}" presName="connSite1" presStyleCnt="0"/>
      <dgm:spPr/>
    </dgm:pt>
    <dgm:pt modelId="{4E7F04C4-CE5A-4154-B162-5473EE593347}" type="pres">
      <dgm:prSet presAssocID="{A9D27748-9816-49A0-ABC9-A6B6843CEE43}" presName="Name9" presStyleLbl="sibTrans2D1" presStyleIdx="2" presStyleCnt="3"/>
      <dgm:spPr/>
    </dgm:pt>
    <dgm:pt modelId="{E7C1166E-FB0D-4AC7-9609-2776C74AEBE7}" type="pres">
      <dgm:prSet presAssocID="{5DB9F35E-3352-4D64-B2FB-E7703B4603C0}" presName="composite2" presStyleCnt="0"/>
      <dgm:spPr/>
    </dgm:pt>
    <dgm:pt modelId="{5F363C44-1407-4186-A6B1-4858579F3D64}" type="pres">
      <dgm:prSet presAssocID="{5DB9F35E-3352-4D64-B2FB-E7703B4603C0}" presName="dummyNode2" presStyleLbl="node1" presStyleIdx="2" presStyleCnt="4"/>
      <dgm:spPr/>
    </dgm:pt>
    <dgm:pt modelId="{C4EA87BD-8AC8-4C0F-ACDB-80E986000EFA}" type="pres">
      <dgm:prSet presAssocID="{5DB9F35E-3352-4D64-B2FB-E7703B4603C0}" presName="childNode2" presStyleLbl="bgAcc1" presStyleIdx="3" presStyleCnt="4">
        <dgm:presLayoutVars>
          <dgm:bulletEnabled val="1"/>
        </dgm:presLayoutVars>
      </dgm:prSet>
      <dgm:spPr/>
    </dgm:pt>
    <dgm:pt modelId="{D5B4E744-0071-4181-8C25-EBE503C2109E}" type="pres">
      <dgm:prSet presAssocID="{5DB9F35E-3352-4D64-B2FB-E7703B4603C0}" presName="childNode2tx" presStyleLbl="bgAcc1" presStyleIdx="3" presStyleCnt="4">
        <dgm:presLayoutVars>
          <dgm:bulletEnabled val="1"/>
        </dgm:presLayoutVars>
      </dgm:prSet>
      <dgm:spPr/>
    </dgm:pt>
    <dgm:pt modelId="{433B5290-15F8-413E-AAFF-BC518275DE06}" type="pres">
      <dgm:prSet presAssocID="{5DB9F35E-3352-4D64-B2FB-E7703B4603C0}" presName="parentNode2" presStyleLbl="node1" presStyleIdx="3" presStyleCnt="4">
        <dgm:presLayoutVars>
          <dgm:chMax val="0"/>
          <dgm:bulletEnabled val="1"/>
        </dgm:presLayoutVars>
      </dgm:prSet>
      <dgm:spPr/>
    </dgm:pt>
    <dgm:pt modelId="{A5F59CFB-C374-4BE3-B533-4212BACF4578}" type="pres">
      <dgm:prSet presAssocID="{5DB9F35E-3352-4D64-B2FB-E7703B4603C0}" presName="connSite2" presStyleCnt="0"/>
      <dgm:spPr/>
    </dgm:pt>
  </dgm:ptLst>
  <dgm:cxnLst>
    <dgm:cxn modelId="{38F33513-D469-40AF-B4DF-234A661466BA}" srcId="{76E35C80-274C-4DDE-BE62-848B12EB043C}" destId="{F6281F3C-C261-47B2-AC40-76782B61D1CA}" srcOrd="0" destOrd="0" parTransId="{8B12CF58-909C-4813-9881-402652BBFA24}" sibTransId="{EED76B26-7F78-499B-9CE9-D889521F0F72}"/>
    <dgm:cxn modelId="{EC28B716-E3DE-4AA1-A4FD-6E7C95115C9C}" type="presOf" srcId="{381F5307-5A55-4BF5-82E9-2D67AE2FA524}" destId="{E60229C6-52CB-40FC-A48E-1D7890BBE626}" srcOrd="0" destOrd="0" presId="urn:microsoft.com/office/officeart/2005/8/layout/hProcess4"/>
    <dgm:cxn modelId="{EF72CE19-4685-49F4-9553-EA29224611EF}" srcId="{5DB9F35E-3352-4D64-B2FB-E7703B4603C0}" destId="{D1C5E4D2-CB10-4061-9773-6D65690C8E5F}" srcOrd="0" destOrd="0" parTransId="{BEC2A67E-587F-4524-97A8-4EA25A67DDB2}" sibTransId="{56E3774E-C470-43C3-BAF8-72BEC83B2182}"/>
    <dgm:cxn modelId="{EC7D902A-E023-4A18-BEA5-FE519FDB029A}" type="presOf" srcId="{60B10DC6-AD28-425C-91AA-22DF10664370}" destId="{0F58BE08-BCB7-4DAD-BCF8-59353ADB1A78}" srcOrd="1" destOrd="0" presId="urn:microsoft.com/office/officeart/2005/8/layout/hProcess4"/>
    <dgm:cxn modelId="{B12BC82C-FD6D-4709-AB4F-254F53CA5524}" type="presOf" srcId="{35983862-150C-4E19-B7CC-A34D466622DF}" destId="{2268F0ED-22F7-4ED2-9E29-BA3DB0058825}" srcOrd="0" destOrd="0" presId="urn:microsoft.com/office/officeart/2005/8/layout/hProcess4"/>
    <dgm:cxn modelId="{A8EDEA3C-0E0C-4BB7-AD72-E89AB9164AB6}" type="presOf" srcId="{A9D27748-9816-49A0-ABC9-A6B6843CEE43}" destId="{4E7F04C4-CE5A-4154-B162-5473EE593347}" srcOrd="0" destOrd="0" presId="urn:microsoft.com/office/officeart/2005/8/layout/hProcess4"/>
    <dgm:cxn modelId="{97B31D46-D8D4-4DDB-B723-A8CCE8E6B52A}" type="presOf" srcId="{F6281F3C-C261-47B2-AC40-76782B61D1CA}" destId="{436227B4-14F8-40C5-9B51-AF181D41D91F}" srcOrd="0" destOrd="0" presId="urn:microsoft.com/office/officeart/2005/8/layout/hProcess4"/>
    <dgm:cxn modelId="{4F0E254C-766D-474E-8765-FDB7A74D2657}" type="presOf" srcId="{01B394C8-D84A-4F80-B357-18BC687A03E4}" destId="{A5472EC8-3965-4682-BE7B-DFD49227FE2D}" srcOrd="0" destOrd="0" presId="urn:microsoft.com/office/officeart/2005/8/layout/hProcess4"/>
    <dgm:cxn modelId="{05B7FD6D-2BC6-4CFE-86F7-7F7A3430D022}" type="presOf" srcId="{D1C5E4D2-CB10-4061-9773-6D65690C8E5F}" destId="{C4EA87BD-8AC8-4C0F-ACDB-80E986000EFA}" srcOrd="0" destOrd="0" presId="urn:microsoft.com/office/officeart/2005/8/layout/hProcess4"/>
    <dgm:cxn modelId="{E0ABB67A-16B7-4BFF-9892-66E3B653C103}" srcId="{01B394C8-D84A-4F80-B357-18BC687A03E4}" destId="{76E35C80-274C-4DDE-BE62-848B12EB043C}" srcOrd="2" destOrd="0" parTransId="{D73B6762-9636-4E95-8529-BF415A58AF42}" sibTransId="{A9D27748-9816-49A0-ABC9-A6B6843CEE43}"/>
    <dgm:cxn modelId="{46D5447D-559E-453C-A481-6FC77EA65E48}" type="presOf" srcId="{75EE6FAF-29E6-4279-9670-A8F67F71480A}" destId="{34676443-DC03-4CD8-ACDB-1420F5B3FC96}" srcOrd="0" destOrd="0" presId="urn:microsoft.com/office/officeart/2005/8/layout/hProcess4"/>
    <dgm:cxn modelId="{CD1A0D7E-09DC-460A-98C7-63014E86529F}" type="presOf" srcId="{76E35C80-274C-4DDE-BE62-848B12EB043C}" destId="{58FF8DAD-CF04-42EB-9B2C-B12BC1E924BC}" srcOrd="0" destOrd="0" presId="urn:microsoft.com/office/officeart/2005/8/layout/hProcess4"/>
    <dgm:cxn modelId="{9C245C8D-3AE0-46F6-A98C-56658864E848}" srcId="{01B394C8-D84A-4F80-B357-18BC687A03E4}" destId="{35983862-150C-4E19-B7CC-A34D466622DF}" srcOrd="0" destOrd="0" parTransId="{BAF37DF3-4190-44C0-A7F0-4923187945A9}" sibTransId="{381F5307-5A55-4BF5-82E9-2D67AE2FA524}"/>
    <dgm:cxn modelId="{FB4D079F-7B6D-4D11-B80C-0B41E5D9ED14}" srcId="{01B394C8-D84A-4F80-B357-18BC687A03E4}" destId="{B505E6B6-AA07-4DD2-AFFB-8A5FCAC1A70F}" srcOrd="1" destOrd="0" parTransId="{2BAB1DD2-E6D8-4B2B-83EB-5B1279D801E4}" sibTransId="{B7976A29-B106-4F31-B9EC-46B4E8925E4E}"/>
    <dgm:cxn modelId="{66D14FA3-28F9-477D-A7AA-16C8175D7B28}" srcId="{01B394C8-D84A-4F80-B357-18BC687A03E4}" destId="{5DB9F35E-3352-4D64-B2FB-E7703B4603C0}" srcOrd="3" destOrd="0" parTransId="{A8F85FE0-FC62-41DE-B408-D34D165395BA}" sibTransId="{62E62F57-B636-484C-9524-A87233608CA6}"/>
    <dgm:cxn modelId="{03C849B5-679B-4EBC-BD8B-347749BCE85D}" type="presOf" srcId="{60B10DC6-AD28-425C-91AA-22DF10664370}" destId="{20CF0198-0D20-4B76-928C-184ACECA9B6B}" srcOrd="0" destOrd="0" presId="urn:microsoft.com/office/officeart/2005/8/layout/hProcess4"/>
    <dgm:cxn modelId="{17192EC1-C56B-4FD5-86EF-01EAD509FE4B}" srcId="{35983862-150C-4E19-B7CC-A34D466622DF}" destId="{75EE6FAF-29E6-4279-9670-A8F67F71480A}" srcOrd="0" destOrd="0" parTransId="{0644B178-59C0-4E45-BFB3-3D1524173C8A}" sibTransId="{C4466C67-6706-4D10-8C14-7B03B8BC2E39}"/>
    <dgm:cxn modelId="{9CCB71C8-7F02-4B2B-87B1-6E0071EB8CE2}" type="presOf" srcId="{B505E6B6-AA07-4DD2-AFFB-8A5FCAC1A70F}" destId="{69C70F54-ECC5-41AF-9479-1F7AFD5D83F4}" srcOrd="0" destOrd="0" presId="urn:microsoft.com/office/officeart/2005/8/layout/hProcess4"/>
    <dgm:cxn modelId="{7442EEC9-E64C-4013-8B9F-6DFE1E7E24CA}" type="presOf" srcId="{F6281F3C-C261-47B2-AC40-76782B61D1CA}" destId="{0FE98A73-1B26-45D8-A9EE-8E40D4B07426}" srcOrd="1" destOrd="0" presId="urn:microsoft.com/office/officeart/2005/8/layout/hProcess4"/>
    <dgm:cxn modelId="{CB0DEAD6-D677-4DA7-A3A8-6984C8385534}" type="presOf" srcId="{B7976A29-B106-4F31-B9EC-46B4E8925E4E}" destId="{B18222F3-AD7A-4111-A5E0-C69D7D4D7379}" srcOrd="0" destOrd="0" presId="urn:microsoft.com/office/officeart/2005/8/layout/hProcess4"/>
    <dgm:cxn modelId="{2141ACE8-2EBF-4577-99A7-3B77576399CC}" type="presOf" srcId="{75EE6FAF-29E6-4279-9670-A8F67F71480A}" destId="{31E3BC8F-8B6B-4978-8341-175EFDC28D05}" srcOrd="1" destOrd="0" presId="urn:microsoft.com/office/officeart/2005/8/layout/hProcess4"/>
    <dgm:cxn modelId="{1E8B38E9-9628-4053-A04E-D3C87917F8C0}" type="presOf" srcId="{5DB9F35E-3352-4D64-B2FB-E7703B4603C0}" destId="{433B5290-15F8-413E-AAFF-BC518275DE06}" srcOrd="0" destOrd="0" presId="urn:microsoft.com/office/officeart/2005/8/layout/hProcess4"/>
    <dgm:cxn modelId="{F17901F8-32F0-4CEA-8121-5EA54389E7F1}" type="presOf" srcId="{D1C5E4D2-CB10-4061-9773-6D65690C8E5F}" destId="{D5B4E744-0071-4181-8C25-EBE503C2109E}" srcOrd="1" destOrd="0" presId="urn:microsoft.com/office/officeart/2005/8/layout/hProcess4"/>
    <dgm:cxn modelId="{3956EBFD-14C9-41DB-B8E8-4247D2F2FC15}" srcId="{B505E6B6-AA07-4DD2-AFFB-8A5FCAC1A70F}" destId="{60B10DC6-AD28-425C-91AA-22DF10664370}" srcOrd="0" destOrd="0" parTransId="{BB3EE1FE-60B3-4F08-B9A7-56507C777BE2}" sibTransId="{DACDA3EA-C1DB-430B-862E-CA49375AECC7}"/>
    <dgm:cxn modelId="{091E3E4F-5363-4FCC-AE7F-66894578BC82}" type="presParOf" srcId="{A5472EC8-3965-4682-BE7B-DFD49227FE2D}" destId="{4573FFD1-68D3-421F-B1BC-4DF04FC192C0}" srcOrd="0" destOrd="0" presId="urn:microsoft.com/office/officeart/2005/8/layout/hProcess4"/>
    <dgm:cxn modelId="{4CCED835-559D-4FCC-97D8-7B82737A5B15}" type="presParOf" srcId="{A5472EC8-3965-4682-BE7B-DFD49227FE2D}" destId="{2215133F-C681-4554-8181-DDECB4CC646C}" srcOrd="1" destOrd="0" presId="urn:microsoft.com/office/officeart/2005/8/layout/hProcess4"/>
    <dgm:cxn modelId="{78A08642-9C6D-4B2E-8D51-E11C4A0F90EA}" type="presParOf" srcId="{A5472EC8-3965-4682-BE7B-DFD49227FE2D}" destId="{CBE90AE9-EED5-41F7-9C74-4C1D3DD87F31}" srcOrd="2" destOrd="0" presId="urn:microsoft.com/office/officeart/2005/8/layout/hProcess4"/>
    <dgm:cxn modelId="{5102E5E2-44E7-4488-8540-EE089C72918C}" type="presParOf" srcId="{CBE90AE9-EED5-41F7-9C74-4C1D3DD87F31}" destId="{41608F82-17E0-4EDD-BF6E-98B93E538B18}" srcOrd="0" destOrd="0" presId="urn:microsoft.com/office/officeart/2005/8/layout/hProcess4"/>
    <dgm:cxn modelId="{05C7BCB3-47BA-4DF2-B963-2C39EF39B94E}" type="presParOf" srcId="{41608F82-17E0-4EDD-BF6E-98B93E538B18}" destId="{748BE4CA-6E0E-48B7-8821-04C8368DC9FA}" srcOrd="0" destOrd="0" presId="urn:microsoft.com/office/officeart/2005/8/layout/hProcess4"/>
    <dgm:cxn modelId="{E93894A5-6998-4A68-BB96-F39E87860887}" type="presParOf" srcId="{41608F82-17E0-4EDD-BF6E-98B93E538B18}" destId="{34676443-DC03-4CD8-ACDB-1420F5B3FC96}" srcOrd="1" destOrd="0" presId="urn:microsoft.com/office/officeart/2005/8/layout/hProcess4"/>
    <dgm:cxn modelId="{D11197E5-4E67-4D76-81B6-16582379CFF7}" type="presParOf" srcId="{41608F82-17E0-4EDD-BF6E-98B93E538B18}" destId="{31E3BC8F-8B6B-4978-8341-175EFDC28D05}" srcOrd="2" destOrd="0" presId="urn:microsoft.com/office/officeart/2005/8/layout/hProcess4"/>
    <dgm:cxn modelId="{2183D736-11B7-45D3-8DD0-66F8C8F5AED7}" type="presParOf" srcId="{41608F82-17E0-4EDD-BF6E-98B93E538B18}" destId="{2268F0ED-22F7-4ED2-9E29-BA3DB0058825}" srcOrd="3" destOrd="0" presId="urn:microsoft.com/office/officeart/2005/8/layout/hProcess4"/>
    <dgm:cxn modelId="{61383B90-16D0-4DB5-A584-12054F030006}" type="presParOf" srcId="{41608F82-17E0-4EDD-BF6E-98B93E538B18}" destId="{0BCEF156-FDAA-488B-8443-2EA05FBB915E}" srcOrd="4" destOrd="0" presId="urn:microsoft.com/office/officeart/2005/8/layout/hProcess4"/>
    <dgm:cxn modelId="{9A8D2223-A3A8-4192-B842-ADA4911B2A25}" type="presParOf" srcId="{CBE90AE9-EED5-41F7-9C74-4C1D3DD87F31}" destId="{E60229C6-52CB-40FC-A48E-1D7890BBE626}" srcOrd="1" destOrd="0" presId="urn:microsoft.com/office/officeart/2005/8/layout/hProcess4"/>
    <dgm:cxn modelId="{2DE61727-EE52-4724-82F9-0B4E6D985870}" type="presParOf" srcId="{CBE90AE9-EED5-41F7-9C74-4C1D3DD87F31}" destId="{0E1682E9-A1BB-401A-BB50-C20770339CC1}" srcOrd="2" destOrd="0" presId="urn:microsoft.com/office/officeart/2005/8/layout/hProcess4"/>
    <dgm:cxn modelId="{8DB5E761-AE6E-4739-B412-C67AAD8C5202}" type="presParOf" srcId="{0E1682E9-A1BB-401A-BB50-C20770339CC1}" destId="{08D4A15A-C590-4103-B113-7F510ACAA742}" srcOrd="0" destOrd="0" presId="urn:microsoft.com/office/officeart/2005/8/layout/hProcess4"/>
    <dgm:cxn modelId="{B17C25D9-EB65-47C2-B85F-E67F798B7C6F}" type="presParOf" srcId="{0E1682E9-A1BB-401A-BB50-C20770339CC1}" destId="{20CF0198-0D20-4B76-928C-184ACECA9B6B}" srcOrd="1" destOrd="0" presId="urn:microsoft.com/office/officeart/2005/8/layout/hProcess4"/>
    <dgm:cxn modelId="{CAACDAC0-6480-4EFE-93CB-90821C66C188}" type="presParOf" srcId="{0E1682E9-A1BB-401A-BB50-C20770339CC1}" destId="{0F58BE08-BCB7-4DAD-BCF8-59353ADB1A78}" srcOrd="2" destOrd="0" presId="urn:microsoft.com/office/officeart/2005/8/layout/hProcess4"/>
    <dgm:cxn modelId="{380D3EC8-7DB7-4A56-88FF-9FF9C38829A8}" type="presParOf" srcId="{0E1682E9-A1BB-401A-BB50-C20770339CC1}" destId="{69C70F54-ECC5-41AF-9479-1F7AFD5D83F4}" srcOrd="3" destOrd="0" presId="urn:microsoft.com/office/officeart/2005/8/layout/hProcess4"/>
    <dgm:cxn modelId="{3C0D3E32-B0F6-425D-A441-BA8D86CBB01E}" type="presParOf" srcId="{0E1682E9-A1BB-401A-BB50-C20770339CC1}" destId="{0AB0AAC9-EC07-421D-BF82-C1DE1D18B645}" srcOrd="4" destOrd="0" presId="urn:microsoft.com/office/officeart/2005/8/layout/hProcess4"/>
    <dgm:cxn modelId="{FF0ED8A3-E1B8-49C2-85B7-A9580008A729}" type="presParOf" srcId="{CBE90AE9-EED5-41F7-9C74-4C1D3DD87F31}" destId="{B18222F3-AD7A-4111-A5E0-C69D7D4D7379}" srcOrd="3" destOrd="0" presId="urn:microsoft.com/office/officeart/2005/8/layout/hProcess4"/>
    <dgm:cxn modelId="{B73D859B-99C0-465E-9E17-2DD31C43DC37}" type="presParOf" srcId="{CBE90AE9-EED5-41F7-9C74-4C1D3DD87F31}" destId="{BCB7160E-52AB-4F20-82E2-01C725417271}" srcOrd="4" destOrd="0" presId="urn:microsoft.com/office/officeart/2005/8/layout/hProcess4"/>
    <dgm:cxn modelId="{31D14B7D-E0E6-4490-871A-B5639BE47269}" type="presParOf" srcId="{BCB7160E-52AB-4F20-82E2-01C725417271}" destId="{4E82FB82-090F-4C44-8384-817E2B1D7872}" srcOrd="0" destOrd="0" presId="urn:microsoft.com/office/officeart/2005/8/layout/hProcess4"/>
    <dgm:cxn modelId="{0F4A951A-E573-46DD-BB8C-B28FF7A51373}" type="presParOf" srcId="{BCB7160E-52AB-4F20-82E2-01C725417271}" destId="{436227B4-14F8-40C5-9B51-AF181D41D91F}" srcOrd="1" destOrd="0" presId="urn:microsoft.com/office/officeart/2005/8/layout/hProcess4"/>
    <dgm:cxn modelId="{A28B44FD-57F4-4ADF-963B-E2EC4056D9C1}" type="presParOf" srcId="{BCB7160E-52AB-4F20-82E2-01C725417271}" destId="{0FE98A73-1B26-45D8-A9EE-8E40D4B07426}" srcOrd="2" destOrd="0" presId="urn:microsoft.com/office/officeart/2005/8/layout/hProcess4"/>
    <dgm:cxn modelId="{BA7C9A1E-CCB5-4744-BF35-DD0FED258F43}" type="presParOf" srcId="{BCB7160E-52AB-4F20-82E2-01C725417271}" destId="{58FF8DAD-CF04-42EB-9B2C-B12BC1E924BC}" srcOrd="3" destOrd="0" presId="urn:microsoft.com/office/officeart/2005/8/layout/hProcess4"/>
    <dgm:cxn modelId="{1B79C028-D073-4488-8581-AF01AFAF5C84}" type="presParOf" srcId="{BCB7160E-52AB-4F20-82E2-01C725417271}" destId="{D0BBAA10-B2B9-4221-9FE1-1B2C9A925630}" srcOrd="4" destOrd="0" presId="urn:microsoft.com/office/officeart/2005/8/layout/hProcess4"/>
    <dgm:cxn modelId="{F401DFF2-0139-4409-845D-66AD4E006772}" type="presParOf" srcId="{CBE90AE9-EED5-41F7-9C74-4C1D3DD87F31}" destId="{4E7F04C4-CE5A-4154-B162-5473EE593347}" srcOrd="5" destOrd="0" presId="urn:microsoft.com/office/officeart/2005/8/layout/hProcess4"/>
    <dgm:cxn modelId="{A4B44970-81EF-4339-A9F9-FAA95D73435C}" type="presParOf" srcId="{CBE90AE9-EED5-41F7-9C74-4C1D3DD87F31}" destId="{E7C1166E-FB0D-4AC7-9609-2776C74AEBE7}" srcOrd="6" destOrd="0" presId="urn:microsoft.com/office/officeart/2005/8/layout/hProcess4"/>
    <dgm:cxn modelId="{F7C927CE-DC3C-44EE-A8C2-E67210A28526}" type="presParOf" srcId="{E7C1166E-FB0D-4AC7-9609-2776C74AEBE7}" destId="{5F363C44-1407-4186-A6B1-4858579F3D64}" srcOrd="0" destOrd="0" presId="urn:microsoft.com/office/officeart/2005/8/layout/hProcess4"/>
    <dgm:cxn modelId="{B6D90FBE-597D-4C47-8D69-1416DA41BAC7}" type="presParOf" srcId="{E7C1166E-FB0D-4AC7-9609-2776C74AEBE7}" destId="{C4EA87BD-8AC8-4C0F-ACDB-80E986000EFA}" srcOrd="1" destOrd="0" presId="urn:microsoft.com/office/officeart/2005/8/layout/hProcess4"/>
    <dgm:cxn modelId="{5E125435-02CD-4FD4-B930-8685587AF3BB}" type="presParOf" srcId="{E7C1166E-FB0D-4AC7-9609-2776C74AEBE7}" destId="{D5B4E744-0071-4181-8C25-EBE503C2109E}" srcOrd="2" destOrd="0" presId="urn:microsoft.com/office/officeart/2005/8/layout/hProcess4"/>
    <dgm:cxn modelId="{3907FFDF-3CE7-49CE-9900-D8D7012301BB}" type="presParOf" srcId="{E7C1166E-FB0D-4AC7-9609-2776C74AEBE7}" destId="{433B5290-15F8-413E-AAFF-BC518275DE06}" srcOrd="3" destOrd="0" presId="urn:microsoft.com/office/officeart/2005/8/layout/hProcess4"/>
    <dgm:cxn modelId="{9C690312-78E0-47C3-92F8-98897DBA0DBB}" type="presParOf" srcId="{E7C1166E-FB0D-4AC7-9609-2776C74AEBE7}" destId="{A5F59CFB-C374-4BE3-B533-4212BACF4578}"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676443-DC03-4CD8-ACDB-1420F5B3FC96}">
      <dsp:nvSpPr>
        <dsp:cNvPr id="0" name=""/>
        <dsp:cNvSpPr/>
      </dsp:nvSpPr>
      <dsp:spPr>
        <a:xfrm>
          <a:off x="168" y="1859922"/>
          <a:ext cx="2365577" cy="1951106"/>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fr-FR" sz="2000" kern="1200" dirty="0">
              <a:solidFill>
                <a:schemeClr val="tx1">
                  <a:lumMod val="90000"/>
                  <a:lumOff val="10000"/>
                </a:schemeClr>
              </a:solidFill>
            </a:rPr>
            <a:t>Chargement des données de la FAO et Banque Mondiale.</a:t>
          </a:r>
        </a:p>
      </dsp:txBody>
      <dsp:txXfrm>
        <a:off x="45068" y="1904822"/>
        <a:ext cx="2275777" cy="1443212"/>
      </dsp:txXfrm>
    </dsp:sp>
    <dsp:sp modelId="{E60229C6-52CB-40FC-A48E-1D7890BBE626}">
      <dsp:nvSpPr>
        <dsp:cNvPr id="0" name=""/>
        <dsp:cNvSpPr/>
      </dsp:nvSpPr>
      <dsp:spPr>
        <a:xfrm>
          <a:off x="1323295" y="2302112"/>
          <a:ext cx="2642036" cy="2642036"/>
        </a:xfrm>
        <a:prstGeom prst="leftCircularArrow">
          <a:avLst>
            <a:gd name="adj1" fmla="val 3279"/>
            <a:gd name="adj2" fmla="val 404756"/>
            <a:gd name="adj3" fmla="val 2180267"/>
            <a:gd name="adj4" fmla="val 9024489"/>
            <a:gd name="adj5" fmla="val 3826"/>
          </a:avLst>
        </a:prstGeom>
        <a:solidFill>
          <a:srgbClr val="3E7C3E"/>
        </a:solidFill>
        <a:ln>
          <a:noFill/>
        </a:ln>
        <a:effectLst/>
      </dsp:spPr>
      <dsp:style>
        <a:lnRef idx="0">
          <a:scrgbClr r="0" g="0" b="0"/>
        </a:lnRef>
        <a:fillRef idx="1">
          <a:scrgbClr r="0" g="0" b="0"/>
        </a:fillRef>
        <a:effectRef idx="0">
          <a:scrgbClr r="0" g="0" b="0"/>
        </a:effectRef>
        <a:fontRef idx="minor">
          <a:schemeClr val="lt1"/>
        </a:fontRef>
      </dsp:style>
    </dsp:sp>
    <dsp:sp modelId="{2268F0ED-22F7-4ED2-9E29-BA3DB0058825}">
      <dsp:nvSpPr>
        <dsp:cNvPr id="0" name=""/>
        <dsp:cNvSpPr/>
      </dsp:nvSpPr>
      <dsp:spPr>
        <a:xfrm>
          <a:off x="525852" y="3392935"/>
          <a:ext cx="2102735" cy="836188"/>
        </a:xfrm>
        <a:prstGeom prst="roundRect">
          <a:avLst>
            <a:gd name="adj" fmla="val 10000"/>
          </a:avLst>
        </a:prstGeom>
        <a:solidFill>
          <a:srgbClr val="3E7C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Import des fichiers</a:t>
          </a:r>
        </a:p>
      </dsp:txBody>
      <dsp:txXfrm>
        <a:off x="550343" y="3417426"/>
        <a:ext cx="2053753" cy="787206"/>
      </dsp:txXfrm>
    </dsp:sp>
    <dsp:sp modelId="{20CF0198-0D20-4B76-928C-184ACECA9B6B}">
      <dsp:nvSpPr>
        <dsp:cNvPr id="0" name=""/>
        <dsp:cNvSpPr/>
      </dsp:nvSpPr>
      <dsp:spPr>
        <a:xfrm>
          <a:off x="3041160" y="1859922"/>
          <a:ext cx="2365577" cy="1951106"/>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22150"/>
              <a:satOff val="-2182"/>
              <a:lumOff val="89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fr-FR" sz="2000" kern="1200" dirty="0">
              <a:solidFill>
                <a:schemeClr val="tx1">
                  <a:lumMod val="90000"/>
                  <a:lumOff val="10000"/>
                </a:schemeClr>
              </a:solidFill>
            </a:rPr>
            <a:t>Traitement des valeurs manquantes et doublons.</a:t>
          </a:r>
        </a:p>
      </dsp:txBody>
      <dsp:txXfrm>
        <a:off x="3086060" y="2322916"/>
        <a:ext cx="2275777" cy="1443212"/>
      </dsp:txXfrm>
    </dsp:sp>
    <dsp:sp modelId="{B18222F3-AD7A-4111-A5E0-C69D7D4D7379}">
      <dsp:nvSpPr>
        <dsp:cNvPr id="0" name=""/>
        <dsp:cNvSpPr/>
      </dsp:nvSpPr>
      <dsp:spPr>
        <a:xfrm>
          <a:off x="4344574" y="650301"/>
          <a:ext cx="2944304" cy="2944304"/>
        </a:xfrm>
        <a:prstGeom prst="circularArrow">
          <a:avLst>
            <a:gd name="adj1" fmla="val 2943"/>
            <a:gd name="adj2" fmla="val 360330"/>
            <a:gd name="adj3" fmla="val 19464159"/>
            <a:gd name="adj4" fmla="val 12575511"/>
            <a:gd name="adj5" fmla="val 3433"/>
          </a:avLst>
        </a:prstGeom>
        <a:solidFill>
          <a:srgbClr val="3E7C3E"/>
        </a:solidFill>
        <a:ln>
          <a:noFill/>
        </a:ln>
        <a:effectLst/>
      </dsp:spPr>
      <dsp:style>
        <a:lnRef idx="0">
          <a:scrgbClr r="0" g="0" b="0"/>
        </a:lnRef>
        <a:fillRef idx="1">
          <a:scrgbClr r="0" g="0" b="0"/>
        </a:fillRef>
        <a:effectRef idx="0">
          <a:scrgbClr r="0" g="0" b="0"/>
        </a:effectRef>
        <a:fontRef idx="minor">
          <a:schemeClr val="lt1"/>
        </a:fontRef>
      </dsp:style>
    </dsp:sp>
    <dsp:sp modelId="{69C70F54-ECC5-41AF-9479-1F7AFD5D83F4}">
      <dsp:nvSpPr>
        <dsp:cNvPr id="0" name=""/>
        <dsp:cNvSpPr/>
      </dsp:nvSpPr>
      <dsp:spPr>
        <a:xfrm>
          <a:off x="3566844" y="1441828"/>
          <a:ext cx="2102735" cy="836188"/>
        </a:xfrm>
        <a:prstGeom prst="roundRect">
          <a:avLst>
            <a:gd name="adj" fmla="val 10000"/>
          </a:avLst>
        </a:prstGeom>
        <a:solidFill>
          <a:srgbClr val="3E7C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Nettoyage des fichiers</a:t>
          </a:r>
        </a:p>
      </dsp:txBody>
      <dsp:txXfrm>
        <a:off x="3591335" y="1466319"/>
        <a:ext cx="2053753" cy="787206"/>
      </dsp:txXfrm>
    </dsp:sp>
    <dsp:sp modelId="{436227B4-14F8-40C5-9B51-AF181D41D91F}">
      <dsp:nvSpPr>
        <dsp:cNvPr id="0" name=""/>
        <dsp:cNvSpPr/>
      </dsp:nvSpPr>
      <dsp:spPr>
        <a:xfrm>
          <a:off x="6082153" y="1859922"/>
          <a:ext cx="2365577" cy="1951106"/>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44301"/>
              <a:satOff val="-4365"/>
              <a:lumOff val="1793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fr-FR" sz="2000" kern="1200" dirty="0">
              <a:solidFill>
                <a:schemeClr val="tx1">
                  <a:lumMod val="90000"/>
                  <a:lumOff val="10000"/>
                </a:schemeClr>
              </a:solidFill>
            </a:rPr>
            <a:t>Jointures internes pour un dataset unique.</a:t>
          </a:r>
        </a:p>
      </dsp:txBody>
      <dsp:txXfrm>
        <a:off x="6127053" y="1904822"/>
        <a:ext cx="2275777" cy="1443212"/>
      </dsp:txXfrm>
    </dsp:sp>
    <dsp:sp modelId="{4E7F04C4-CE5A-4154-B162-5473EE593347}">
      <dsp:nvSpPr>
        <dsp:cNvPr id="0" name=""/>
        <dsp:cNvSpPr/>
      </dsp:nvSpPr>
      <dsp:spPr>
        <a:xfrm>
          <a:off x="7405280" y="2302112"/>
          <a:ext cx="2642036" cy="2642036"/>
        </a:xfrm>
        <a:prstGeom prst="leftCircularArrow">
          <a:avLst>
            <a:gd name="adj1" fmla="val 3279"/>
            <a:gd name="adj2" fmla="val 404756"/>
            <a:gd name="adj3" fmla="val 2180267"/>
            <a:gd name="adj4" fmla="val 9024489"/>
            <a:gd name="adj5" fmla="val 3826"/>
          </a:avLst>
        </a:prstGeom>
        <a:solidFill>
          <a:srgbClr val="3E7C3E"/>
        </a:solidFill>
        <a:ln>
          <a:noFill/>
        </a:ln>
        <a:effectLst/>
      </dsp:spPr>
      <dsp:style>
        <a:lnRef idx="0">
          <a:scrgbClr r="0" g="0" b="0"/>
        </a:lnRef>
        <a:fillRef idx="1">
          <a:scrgbClr r="0" g="0" b="0"/>
        </a:fillRef>
        <a:effectRef idx="0">
          <a:scrgbClr r="0" g="0" b="0"/>
        </a:effectRef>
        <a:fontRef idx="minor">
          <a:schemeClr val="lt1"/>
        </a:fontRef>
      </dsp:style>
    </dsp:sp>
    <dsp:sp modelId="{58FF8DAD-CF04-42EB-9B2C-B12BC1E924BC}">
      <dsp:nvSpPr>
        <dsp:cNvPr id="0" name=""/>
        <dsp:cNvSpPr/>
      </dsp:nvSpPr>
      <dsp:spPr>
        <a:xfrm>
          <a:off x="6607836" y="3392935"/>
          <a:ext cx="2102735" cy="836188"/>
        </a:xfrm>
        <a:prstGeom prst="roundRect">
          <a:avLst>
            <a:gd name="adj" fmla="val 10000"/>
          </a:avLst>
        </a:prstGeom>
        <a:solidFill>
          <a:srgbClr val="3E7C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Fusion des fichiers</a:t>
          </a:r>
        </a:p>
      </dsp:txBody>
      <dsp:txXfrm>
        <a:off x="6632327" y="3417426"/>
        <a:ext cx="2053753" cy="787206"/>
      </dsp:txXfrm>
    </dsp:sp>
    <dsp:sp modelId="{C4EA87BD-8AC8-4C0F-ACDB-80E986000EFA}">
      <dsp:nvSpPr>
        <dsp:cNvPr id="0" name=""/>
        <dsp:cNvSpPr/>
      </dsp:nvSpPr>
      <dsp:spPr>
        <a:xfrm>
          <a:off x="9123145" y="1859922"/>
          <a:ext cx="2365577" cy="1951106"/>
        </a:xfrm>
        <a:prstGeom prst="roundRect">
          <a:avLst>
            <a:gd name="adj" fmla="val 10000"/>
          </a:avLst>
        </a:prstGeom>
        <a:solidFill>
          <a:schemeClr val="lt1">
            <a:alpha val="90000"/>
            <a:hueOff val="0"/>
            <a:satOff val="0"/>
            <a:lumOff val="0"/>
            <a:alphaOff val="0"/>
          </a:schemeClr>
        </a:solidFill>
        <a:ln w="12700" cap="flat" cmpd="sng" algn="ctr">
          <a:solidFill>
            <a:schemeClr val="accent6">
              <a:shade val="80000"/>
              <a:hueOff val="-66451"/>
              <a:satOff val="-6547"/>
              <a:lumOff val="2689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228600" lvl="1" indent="-228600" algn="l" defTabSz="889000">
            <a:lnSpc>
              <a:spcPct val="90000"/>
            </a:lnSpc>
            <a:spcBef>
              <a:spcPct val="0"/>
            </a:spcBef>
            <a:spcAft>
              <a:spcPct val="15000"/>
            </a:spcAft>
            <a:buChar char="•"/>
          </a:pPr>
          <a:r>
            <a:rPr lang="fr-FR" sz="2000" kern="1200" dirty="0">
              <a:solidFill>
                <a:schemeClr val="tx1">
                  <a:lumMod val="90000"/>
                  <a:lumOff val="10000"/>
                </a:schemeClr>
              </a:solidFill>
            </a:rPr>
            <a:t>Calcul de variable dérivées pour l’analyse.</a:t>
          </a:r>
        </a:p>
      </dsp:txBody>
      <dsp:txXfrm>
        <a:off x="9168045" y="2322916"/>
        <a:ext cx="2275777" cy="1443212"/>
      </dsp:txXfrm>
    </dsp:sp>
    <dsp:sp modelId="{433B5290-15F8-413E-AAFF-BC518275DE06}">
      <dsp:nvSpPr>
        <dsp:cNvPr id="0" name=""/>
        <dsp:cNvSpPr/>
      </dsp:nvSpPr>
      <dsp:spPr>
        <a:xfrm>
          <a:off x="9648829" y="1441828"/>
          <a:ext cx="2102735" cy="836188"/>
        </a:xfrm>
        <a:prstGeom prst="roundRect">
          <a:avLst>
            <a:gd name="adj" fmla="val 10000"/>
          </a:avLst>
        </a:prstGeom>
        <a:solidFill>
          <a:srgbClr val="3E7C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fr-FR" sz="1800" b="1" kern="1200" dirty="0"/>
            <a:t>Création d’indicateurs clés</a:t>
          </a:r>
        </a:p>
      </dsp:txBody>
      <dsp:txXfrm>
        <a:off x="9673320" y="1466319"/>
        <a:ext cx="2053753" cy="78720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9913E-CAC9-4F2D-8AE0-F9028CF27792}" type="datetimeFigureOut">
              <a:rPr lang="fr-FR" smtClean="0"/>
              <a:t>03/10/2025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A4B647-CB5A-4B2B-AE2F-7B202F287E3E}" type="slidenum">
              <a:rPr lang="fr-FR" smtClean="0"/>
              <a:t>‹N°›</a:t>
            </a:fld>
            <a:endParaRPr lang="fr-FR"/>
          </a:p>
        </p:txBody>
      </p:sp>
    </p:spTree>
    <p:extLst>
      <p:ext uri="{BB962C8B-B14F-4D97-AF65-F5344CB8AC3E}">
        <p14:creationId xmlns:p14="http://schemas.microsoft.com/office/powerpoint/2010/main" val="1031088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Le contenu généré par l’IA peut être incorrect.
---
Cette présentation explore l’identification des marchés d’exportation les plus prometteurs pour la volaille bio de La Poule qui Chante. Nous analyserons le contexte, la méthodologie utilisée, les résultats obtenus, ainsi que nos recommandations stratégiques pour une expansion internationale réussie.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1</a:t>
            </a:fld>
            <a:endParaRPr lang="fr-FR"/>
          </a:p>
        </p:txBody>
      </p:sp>
    </p:spTree>
    <p:extLst>
      <p:ext uri="{BB962C8B-B14F-4D97-AF65-F5344CB8AC3E}">
        <p14:creationId xmlns:p14="http://schemas.microsoft.com/office/powerpoint/2010/main" val="2212732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Nous débuterons par une introduction et le contexte de La Poule qui Chante, suivis de la méthodologie employée pour construire notre analyse. Ensuite, nous présenterons les résultats de la segmentation des marchés, les recommandations pour l’expansion internationale, et enfin, la synthèse avec les prochaines étapes.</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2</a:t>
            </a:fld>
            <a:endParaRPr lang="fr-FR"/>
          </a:p>
        </p:txBody>
      </p:sp>
    </p:spTree>
    <p:extLst>
      <p:ext uri="{BB962C8B-B14F-4D97-AF65-F5344CB8AC3E}">
        <p14:creationId xmlns:p14="http://schemas.microsoft.com/office/powerpoint/2010/main" val="3963015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Cette section présente La Poule qui Chante, son positionnement sur le marché de la volaille bio, ainsi que ses ambitions d’exportation. Nous préciserons aussi les objectifs stratégiques et ceux spécifiques à cette étude de segmentation internationale.</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3</a:t>
            </a:fld>
            <a:endParaRPr lang="fr-FR"/>
          </a:p>
        </p:txBody>
      </p:sp>
    </p:spTree>
    <p:extLst>
      <p:ext uri="{BB962C8B-B14F-4D97-AF65-F5344CB8AC3E}">
        <p14:creationId xmlns:p14="http://schemas.microsoft.com/office/powerpoint/2010/main" val="4185487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 Poule qui Chante est une marque reconnue pour sa volaille bio de qualité supérieure. Elle se positionne comme un acteur engagé dans l’agriculture durable, cherchant à satisfaire une clientèle sensible à la qualité et à l’éthique.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4</a:t>
            </a:fld>
            <a:endParaRPr lang="fr-FR"/>
          </a:p>
        </p:txBody>
      </p:sp>
    </p:spTree>
    <p:extLst>
      <p:ext uri="{BB962C8B-B14F-4D97-AF65-F5344CB8AC3E}">
        <p14:creationId xmlns:p14="http://schemas.microsoft.com/office/powerpoint/2010/main" val="3572078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Face à la demande croissante, La Poule qui Chante vise à étendre sa présence à l’international. Les objectifs stratégiques incluent la conquête de nouveaux marchés, l’amélioration de la visibilité de la marque et l’augmentation des volumes d’exportation.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5</a:t>
            </a:fld>
            <a:endParaRPr lang="fr-FR"/>
          </a:p>
        </p:txBody>
      </p:sp>
    </p:spTree>
    <p:extLst>
      <p:ext uri="{BB962C8B-B14F-4D97-AF65-F5344CB8AC3E}">
        <p14:creationId xmlns:p14="http://schemas.microsoft.com/office/powerpoint/2010/main" val="3687300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Cette étude vise à identifier les marchés d’exportation les plus prometteurs pour la volaille bio, en tenant compte des facteurs économiques, démographiques et logistiques, afin d’orienter la stratégie d’implantation à l’étranger.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6</a:t>
            </a:fld>
            <a:endParaRPr lang="fr-FR"/>
          </a:p>
        </p:txBody>
      </p:sp>
    </p:spTree>
    <p:extLst>
      <p:ext uri="{BB962C8B-B14F-4D97-AF65-F5344CB8AC3E}">
        <p14:creationId xmlns:p14="http://schemas.microsoft.com/office/powerpoint/2010/main" val="2450157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Nous détaillerons les sources d’information utilisées, la création du jeu de données ainsi que les techniques d’analyse statistique appliquées pour segmenter les marchés internationaux.</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7</a:t>
            </a:fld>
            <a:endParaRPr lang="fr-FR"/>
          </a:p>
        </p:txBody>
      </p:sp>
    </p:spTree>
    <p:extLst>
      <p:ext uri="{BB962C8B-B14F-4D97-AF65-F5344CB8AC3E}">
        <p14:creationId xmlns:p14="http://schemas.microsoft.com/office/powerpoint/2010/main" val="2620521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Les données proviennent de sources fiables telles que la FAO et la Banque Mondiale, sélectionnées selon leur pertinence pour les indicateurs liés à la volaille bio, l’économie et les infrastructures d’import-export.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8</a:t>
            </a:fld>
            <a:endParaRPr lang="fr-FR"/>
          </a:p>
        </p:txBody>
      </p:sp>
    </p:spTree>
    <p:extLst>
      <p:ext uri="{BB962C8B-B14F-4D97-AF65-F5344CB8AC3E}">
        <p14:creationId xmlns:p14="http://schemas.microsoft.com/office/powerpoint/2010/main" val="35490303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dirty="0"/>
              <a:t>
---
Le dataset comprend des variables économiques, démographiques et logistiques, notamment population, pouvoir d’achat, capacités d’importation, et infrastructures, pour bien représenter le potentiel des marchés ciblés.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9</a:t>
            </a:fld>
            <a:endParaRPr lang="fr-FR"/>
          </a:p>
        </p:txBody>
      </p:sp>
    </p:spTree>
    <p:extLst>
      <p:ext uri="{BB962C8B-B14F-4D97-AF65-F5344CB8AC3E}">
        <p14:creationId xmlns:p14="http://schemas.microsoft.com/office/powerpoint/2010/main" val="351730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0C8E0-24C1-26F9-4096-B2AE1D25369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0E8558-068B-4976-68D3-3C30018D61C6}"/>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9774747C-1773-4DE0-FDD6-A64F338A3ABC}"/>
              </a:ext>
            </a:extLst>
          </p:cNvPr>
          <p:cNvSpPr>
            <a:spLocks noGrp="1"/>
          </p:cNvSpPr>
          <p:nvPr>
            <p:ph type="body" idx="1"/>
          </p:nvPr>
        </p:nvSpPr>
        <p:spPr/>
        <p:txBody>
          <a:bodyPr/>
          <a:lstStyle/>
          <a:p>
            <a:r>
              <a:rPr lang="fr-FR" dirty="0"/>
              <a:t>
---
Le dataset comprend des variables économiques, démographiques et logistiques, notamment population, pouvoir d’achat, capacités d’importation, et infrastructures, pour bien représenter le potentiel des marchés ciblés.
Source de l’image : bibliothèque de contenu Microsoft 365
</a:t>
            </a:r>
          </a:p>
        </p:txBody>
      </p:sp>
      <p:sp>
        <p:nvSpPr>
          <p:cNvPr id="4" name="Espace réservé du numéro de diapositive 3">
            <a:extLst>
              <a:ext uri="{FF2B5EF4-FFF2-40B4-BE49-F238E27FC236}">
                <a16:creationId xmlns:a16="http://schemas.microsoft.com/office/drawing/2014/main" id="{35288C85-BD87-6C68-AE45-3FE3256C8101}"/>
              </a:ext>
            </a:extLst>
          </p:cNvPr>
          <p:cNvSpPr>
            <a:spLocks noGrp="1"/>
          </p:cNvSpPr>
          <p:nvPr>
            <p:ph type="sldNum" sz="quarter" idx="5"/>
          </p:nvPr>
        </p:nvSpPr>
        <p:spPr/>
        <p:txBody>
          <a:bodyPr/>
          <a:lstStyle/>
          <a:p>
            <a:fld id="{5717BC69-B3BE-47CE-A9AE-91E0ECF85A03}" type="slidenum">
              <a:rPr lang="fr-FR" smtClean="0"/>
              <a:t>10</a:t>
            </a:fld>
            <a:endParaRPr lang="fr-FR"/>
          </a:p>
        </p:txBody>
      </p:sp>
    </p:spTree>
    <p:extLst>
      <p:ext uri="{BB962C8B-B14F-4D97-AF65-F5344CB8AC3E}">
        <p14:creationId xmlns:p14="http://schemas.microsoft.com/office/powerpoint/2010/main" val="1557165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D5C86-0755-F158-D9B7-A0CEE02BD3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D8CE06-06ED-063F-F1B8-A2CAFB6A122F}"/>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E8DD640A-DAC2-9DD8-F285-1A94D2F8905D}"/>
              </a:ext>
            </a:extLst>
          </p:cNvPr>
          <p:cNvSpPr>
            <a:spLocks noGrp="1"/>
          </p:cNvSpPr>
          <p:nvPr>
            <p:ph type="body" idx="1"/>
          </p:nvPr>
        </p:nvSpPr>
        <p:spPr/>
        <p:txBody>
          <a:bodyPr/>
          <a:lstStyle/>
          <a:p>
            <a:r>
              <a:rPr lang="fr-FR" dirty="0"/>
              <a:t>
---
Le dataset comprend des variables économiques, démographiques et logistiques, notamment population, pouvoir d’achat, capacités d’importation, et infrastructures, pour bien représenter le potentiel des marchés ciblés.
Source de l’image : bibliothèque de contenu Microsoft 365
</a:t>
            </a:r>
          </a:p>
        </p:txBody>
      </p:sp>
      <p:sp>
        <p:nvSpPr>
          <p:cNvPr id="4" name="Espace réservé du numéro de diapositive 3">
            <a:extLst>
              <a:ext uri="{FF2B5EF4-FFF2-40B4-BE49-F238E27FC236}">
                <a16:creationId xmlns:a16="http://schemas.microsoft.com/office/drawing/2014/main" id="{8D65F5D1-6E00-4E0E-CFA9-CD11D434F068}"/>
              </a:ext>
            </a:extLst>
          </p:cNvPr>
          <p:cNvSpPr>
            <a:spLocks noGrp="1"/>
          </p:cNvSpPr>
          <p:nvPr>
            <p:ph type="sldNum" sz="quarter" idx="5"/>
          </p:nvPr>
        </p:nvSpPr>
        <p:spPr/>
        <p:txBody>
          <a:bodyPr/>
          <a:lstStyle/>
          <a:p>
            <a:fld id="{5717BC69-B3BE-47CE-A9AE-91E0ECF85A03}" type="slidenum">
              <a:rPr lang="fr-FR" smtClean="0"/>
              <a:t>11</a:t>
            </a:fld>
            <a:endParaRPr lang="fr-FR"/>
          </a:p>
        </p:txBody>
      </p:sp>
    </p:spTree>
    <p:extLst>
      <p:ext uri="{BB962C8B-B14F-4D97-AF65-F5344CB8AC3E}">
        <p14:creationId xmlns:p14="http://schemas.microsoft.com/office/powerpoint/2010/main" val="1167078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L’Analyse en Composantes Principales (ACP) a permis de réduire la dimensionnalité des données, la Classification Ascendante Hiérarchique (CAH) et l’algorithme K-means ont servi à segmenter les pays en groupes homogènes pour une meilleure compréhension des profils marchés.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12</a:t>
            </a:fld>
            <a:endParaRPr lang="fr-FR"/>
          </a:p>
        </p:txBody>
      </p:sp>
    </p:spTree>
    <p:extLst>
      <p:ext uri="{BB962C8B-B14F-4D97-AF65-F5344CB8AC3E}">
        <p14:creationId xmlns:p14="http://schemas.microsoft.com/office/powerpoint/2010/main" val="4287636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C2028-084D-4940-C6BA-92F12BDA8A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684F387-E098-D125-066D-127440D71C2E}"/>
              </a:ext>
            </a:extLst>
          </p:cNvPr>
          <p:cNvSpPr>
            <a:spLocks noGrp="1" noRot="1" noChangeAspect="1"/>
          </p:cNvSpPr>
          <p:nvPr>
            <p:ph type="sldImg"/>
          </p:nvPr>
        </p:nvSpPr>
        <p:spPr/>
        <p:txBody>
          <a:bodyPr/>
          <a:lstStyle/>
          <a:p>
            <a:endParaRPr lang="fr-FR"/>
          </a:p>
        </p:txBody>
      </p:sp>
      <p:sp>
        <p:nvSpPr>
          <p:cNvPr id="3" name="Espace réservé des notes 2">
            <a:extLst>
              <a:ext uri="{FF2B5EF4-FFF2-40B4-BE49-F238E27FC236}">
                <a16:creationId xmlns:a16="http://schemas.microsoft.com/office/drawing/2014/main" id="{17B25D2E-2FD4-CB19-2F24-742C9404D6E7}"/>
              </a:ext>
            </a:extLst>
          </p:cNvPr>
          <p:cNvSpPr>
            <a:spLocks noGrp="1"/>
          </p:cNvSpPr>
          <p:nvPr>
            <p:ph type="body" idx="1"/>
          </p:nvPr>
        </p:nvSpPr>
        <p:spPr/>
        <p:txBody>
          <a:bodyPr/>
          <a:lstStyle/>
          <a:p>
            <a:r>
              <a:rPr lang="fr-FR"/>
              <a:t>
---
L’Analyse en Composantes Principales (ACP) a permis de réduire la dimensionnalité des données, la Classification Ascendante Hiérarchique (CAH) et l’algorithme K-means ont servi à segmenter les pays en groupes homogènes pour une meilleure compréhension des profils marchés.
Source de l’image : bibliothèque de contenu Microsoft 365
</a:t>
            </a:r>
          </a:p>
        </p:txBody>
      </p:sp>
      <p:sp>
        <p:nvSpPr>
          <p:cNvPr id="4" name="Espace réservé du numéro de diapositive 3">
            <a:extLst>
              <a:ext uri="{FF2B5EF4-FFF2-40B4-BE49-F238E27FC236}">
                <a16:creationId xmlns:a16="http://schemas.microsoft.com/office/drawing/2014/main" id="{865654E7-097E-5DE9-548F-2C17B15B516B}"/>
              </a:ext>
            </a:extLst>
          </p:cNvPr>
          <p:cNvSpPr>
            <a:spLocks noGrp="1"/>
          </p:cNvSpPr>
          <p:nvPr>
            <p:ph type="sldNum" sz="quarter" idx="5"/>
          </p:nvPr>
        </p:nvSpPr>
        <p:spPr/>
        <p:txBody>
          <a:bodyPr/>
          <a:lstStyle/>
          <a:p>
            <a:fld id="{5717BC69-B3BE-47CE-A9AE-91E0ECF85A03}" type="slidenum">
              <a:rPr lang="fr-FR" smtClean="0"/>
              <a:t>13</a:t>
            </a:fld>
            <a:endParaRPr lang="fr-FR"/>
          </a:p>
        </p:txBody>
      </p:sp>
    </p:spTree>
    <p:extLst>
      <p:ext uri="{BB962C8B-B14F-4D97-AF65-F5344CB8AC3E}">
        <p14:creationId xmlns:p14="http://schemas.microsoft.com/office/powerpoint/2010/main" val="3062442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Nous présenterons ici la vue d’ensemble des pays analysés, les résultats de la projection ACP, les clusters identifiés, ainsi que la description des profils types et des scénarios de ciblage associés.</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14</a:t>
            </a:fld>
            <a:endParaRPr lang="fr-FR"/>
          </a:p>
        </p:txBody>
      </p:sp>
    </p:spTree>
    <p:extLst>
      <p:ext uri="{BB962C8B-B14F-4D97-AF65-F5344CB8AC3E}">
        <p14:creationId xmlns:p14="http://schemas.microsoft.com/office/powerpoint/2010/main" val="3307788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Le panel comprend un ensemble de pays sélectionnés selon leur volume d’importation et leur potentiel de consommation de volaille bio, couvrant différentes régions géographiques et niveaux de développement économique.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15</a:t>
            </a:fld>
            <a:endParaRPr lang="fr-FR"/>
          </a:p>
        </p:txBody>
      </p:sp>
    </p:spTree>
    <p:extLst>
      <p:ext uri="{BB962C8B-B14F-4D97-AF65-F5344CB8AC3E}">
        <p14:creationId xmlns:p14="http://schemas.microsoft.com/office/powerpoint/2010/main" val="4185660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
---
L’ACP a permis de visualiser la dispersion des pays selon les critères clés. La classification a abouti à plusieurs clusters distincts représentant différents profils de marché quant à leur attractivité et spécificités logistiques.
Source de l’image : bibliothèque de contenu Microsoft 365
</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16</a:t>
            </a:fld>
            <a:endParaRPr lang="fr-FR"/>
          </a:p>
        </p:txBody>
      </p:sp>
    </p:spTree>
    <p:extLst>
      <p:ext uri="{BB962C8B-B14F-4D97-AF65-F5344CB8AC3E}">
        <p14:creationId xmlns:p14="http://schemas.microsoft.com/office/powerpoint/2010/main" val="2918277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r>
              <a:rPr lang="fr-FR"/>
              <a:t>Cette étude offre à La Poule qui Chante une base solide pour son développement international, en identifiant les marchés prometteurs et en proposant des recommandations claires pour une stratégie d’exportation efficace et durable.</a:t>
            </a:r>
          </a:p>
        </p:txBody>
      </p:sp>
      <p:sp>
        <p:nvSpPr>
          <p:cNvPr id="4" name="Espace réservé du numéro de diapositive 3"/>
          <p:cNvSpPr>
            <a:spLocks noGrp="1"/>
          </p:cNvSpPr>
          <p:nvPr>
            <p:ph type="sldNum" sz="quarter" idx="5"/>
          </p:nvPr>
        </p:nvSpPr>
        <p:spPr/>
        <p:txBody>
          <a:bodyPr/>
          <a:lstStyle/>
          <a:p>
            <a:fld id="{5717BC69-B3BE-47CE-A9AE-91E0ECF85A03}" type="slidenum">
              <a:rPr lang="fr-FR" smtClean="0"/>
              <a:t>17</a:t>
            </a:fld>
            <a:endParaRPr lang="fr-FR"/>
          </a:p>
        </p:txBody>
      </p:sp>
    </p:spTree>
    <p:extLst>
      <p:ext uri="{BB962C8B-B14F-4D97-AF65-F5344CB8AC3E}">
        <p14:creationId xmlns:p14="http://schemas.microsoft.com/office/powerpoint/2010/main" val="763429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10/3/2025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‹N°›</a:t>
            </a:fld>
            <a:endParaRPr lang="en-US" dirty="0"/>
          </a:p>
        </p:txBody>
      </p:sp>
    </p:spTree>
    <p:extLst>
      <p:ext uri="{BB962C8B-B14F-4D97-AF65-F5344CB8AC3E}">
        <p14:creationId xmlns:p14="http://schemas.microsoft.com/office/powerpoint/2010/main" val="3545688741"/>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10/3/2025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‹N°›</a:t>
            </a:fld>
            <a:endParaRPr lang="en-US" dirty="0"/>
          </a:p>
        </p:txBody>
      </p:sp>
    </p:spTree>
    <p:extLst>
      <p:ext uri="{BB962C8B-B14F-4D97-AF65-F5344CB8AC3E}">
        <p14:creationId xmlns:p14="http://schemas.microsoft.com/office/powerpoint/2010/main" val="3879309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10/3/2025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‹N°›</a:t>
            </a:fld>
            <a:endParaRPr lang="en-US" dirty="0"/>
          </a:p>
        </p:txBody>
      </p:sp>
    </p:spTree>
    <p:extLst>
      <p:ext uri="{BB962C8B-B14F-4D97-AF65-F5344CB8AC3E}">
        <p14:creationId xmlns:p14="http://schemas.microsoft.com/office/powerpoint/2010/main" val="2877686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‹N°›</a:t>
            </a:fld>
            <a:endParaRPr lang="en-US" dirty="0"/>
          </a:p>
        </p:txBody>
      </p:sp>
    </p:spTree>
    <p:extLst>
      <p:ext uri="{BB962C8B-B14F-4D97-AF65-F5344CB8AC3E}">
        <p14:creationId xmlns:p14="http://schemas.microsoft.com/office/powerpoint/2010/main" val="1900575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10/3/2025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4199074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10/3/2025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0043558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10/3/2025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0562160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10/3/2025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14503512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10/3/2025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36022527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24870897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884022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647741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1594052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5195297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976711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8757297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4260120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944082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5438351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3044081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2568345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6296894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437652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2593677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6625687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413614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9153162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32321825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2088654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8464356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a:t>
            </a:fld>
            <a:endParaRPr lang="en-US" dirty="0"/>
          </a:p>
        </p:txBody>
      </p:sp>
    </p:spTree>
    <p:extLst>
      <p:ext uri="{BB962C8B-B14F-4D97-AF65-F5344CB8AC3E}">
        <p14:creationId xmlns:p14="http://schemas.microsoft.com/office/powerpoint/2010/main" val="2606644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586395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2321282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10/3/2025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1525541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10/3/2025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53212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10/3/2025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6526802"/>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10/3/2025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6402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10/3/2025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16255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10/3/2025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01067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10/3/2025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364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10/3/2025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‹N°›</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8547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71911599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10/3/2025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232813665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10/3/2025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9209031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10/3/2025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13843974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10/3/2025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a:t>
            </a:fld>
            <a:endParaRPr lang="en-US" dirty="0"/>
          </a:p>
        </p:txBody>
      </p:sp>
    </p:spTree>
    <p:extLst>
      <p:ext uri="{BB962C8B-B14F-4D97-AF65-F5344CB8AC3E}">
        <p14:creationId xmlns:p14="http://schemas.microsoft.com/office/powerpoint/2010/main" val="30078027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10/3/2025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‹N°›</a:t>
            </a:fld>
            <a:endParaRPr lang="en-US" dirty="0"/>
          </a:p>
        </p:txBody>
      </p:sp>
    </p:spTree>
    <p:extLst>
      <p:ext uri="{BB962C8B-B14F-4D97-AF65-F5344CB8AC3E}">
        <p14:creationId xmlns:p14="http://schemas.microsoft.com/office/powerpoint/2010/main" val="3767818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0.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svg"/><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svg"/><Relationship Id="rId9" Type="http://schemas.openxmlformats.org/officeDocument/2006/relationships/image" Target="../media/image3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3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1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0.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49.sv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F93D46-6778-C3EA-A0F4-7FE932F91827}"/>
              </a:ext>
            </a:extLst>
          </p:cNvPr>
          <p:cNvSpPr>
            <a:spLocks noGrp="1"/>
          </p:cNvSpPr>
          <p:nvPr>
            <p:ph type="ctrTitle"/>
          </p:nvPr>
        </p:nvSpPr>
        <p:spPr>
          <a:xfrm>
            <a:off x="515840" y="242123"/>
            <a:ext cx="8221761" cy="3754144"/>
          </a:xfrm>
        </p:spPr>
        <p:txBody>
          <a:bodyPr anchor="ctr">
            <a:normAutofit/>
          </a:bodyPr>
          <a:lstStyle/>
          <a:p>
            <a:pPr>
              <a:lnSpc>
                <a:spcPct val="100000"/>
              </a:lnSpc>
            </a:pPr>
            <a:r>
              <a:rPr lang="fr-FR" sz="4800" dirty="0">
                <a:solidFill>
                  <a:schemeClr val="tx1"/>
                </a:solidFill>
              </a:rPr>
              <a:t>Étude stratégique des marchés export pour </a:t>
            </a:r>
            <a:r>
              <a:rPr lang="fr-FR" sz="4800" b="1" dirty="0">
                <a:solidFill>
                  <a:schemeClr val="tx1"/>
                </a:solidFill>
              </a:rPr>
              <a:t>La Poule qui Chante</a:t>
            </a:r>
            <a:endParaRPr lang="fr-FR" sz="4500" b="1" dirty="0">
              <a:solidFill>
                <a:schemeClr val="tx1"/>
              </a:solidFill>
            </a:endParaRPr>
          </a:p>
        </p:txBody>
      </p:sp>
      <p:sp>
        <p:nvSpPr>
          <p:cNvPr id="6" name="Espace réservé du numéro de diapositive 5">
            <a:extLst>
              <a:ext uri="{FF2B5EF4-FFF2-40B4-BE49-F238E27FC236}">
                <a16:creationId xmlns:a16="http://schemas.microsoft.com/office/drawing/2014/main" id="{9FB46C4C-60DF-9ABD-EB6D-17DD296C0D28}"/>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a:t>
            </a:fld>
            <a:endParaRPr lang="en-US"/>
          </a:p>
        </p:txBody>
      </p:sp>
      <p:sp>
        <p:nvSpPr>
          <p:cNvPr id="7" name="ZoneTexte 6">
            <a:extLst>
              <a:ext uri="{FF2B5EF4-FFF2-40B4-BE49-F238E27FC236}">
                <a16:creationId xmlns:a16="http://schemas.microsoft.com/office/drawing/2014/main" id="{6D90B519-B706-868A-4DC0-B77EFC728908}"/>
              </a:ext>
            </a:extLst>
          </p:cNvPr>
          <p:cNvSpPr txBox="1"/>
          <p:nvPr/>
        </p:nvSpPr>
        <p:spPr>
          <a:xfrm>
            <a:off x="585053" y="5242760"/>
            <a:ext cx="6314431" cy="830997"/>
          </a:xfrm>
          <a:prstGeom prst="rect">
            <a:avLst/>
          </a:prstGeom>
          <a:noFill/>
        </p:spPr>
        <p:txBody>
          <a:bodyPr wrap="square" rtlCol="0">
            <a:spAutoFit/>
          </a:bodyPr>
          <a:lstStyle/>
          <a:p>
            <a:r>
              <a:rPr lang="fr-FR" sz="2400" i="1" dirty="0">
                <a:solidFill>
                  <a:schemeClr val="bg1">
                    <a:lumMod val="50000"/>
                  </a:schemeClr>
                </a:solidFill>
              </a:rPr>
              <a:t>Méthodologie et résultats pour orienter l’expansion internationale</a:t>
            </a:r>
          </a:p>
        </p:txBody>
      </p:sp>
      <p:pic>
        <p:nvPicPr>
          <p:cNvPr id="9" name="Graphique 8" descr="Poulet contour">
            <a:extLst>
              <a:ext uri="{FF2B5EF4-FFF2-40B4-BE49-F238E27FC236}">
                <a16:creationId xmlns:a16="http://schemas.microsoft.com/office/drawing/2014/main" id="{EDEC1492-330D-CD1C-83D0-B44701821E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07865" y="2369404"/>
            <a:ext cx="3253726" cy="3253726"/>
          </a:xfrm>
          <a:prstGeom prst="rect">
            <a:avLst/>
          </a:prstGeom>
        </p:spPr>
      </p:pic>
    </p:spTree>
    <p:extLst>
      <p:ext uri="{BB962C8B-B14F-4D97-AF65-F5344CB8AC3E}">
        <p14:creationId xmlns:p14="http://schemas.microsoft.com/office/powerpoint/2010/main" val="275954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5C76BC-9406-19E6-C243-50AAE5B01FDB}"/>
              </a:ext>
            </a:extLst>
          </p:cNvPr>
          <p:cNvSpPr>
            <a:spLocks noGrp="1"/>
          </p:cNvSpPr>
          <p:nvPr>
            <p:ph type="title"/>
          </p:nvPr>
        </p:nvSpPr>
        <p:spPr>
          <a:xfrm>
            <a:off x="429768" y="334873"/>
            <a:ext cx="11045952" cy="993987"/>
          </a:xfrm>
        </p:spPr>
        <p:txBody>
          <a:bodyPr anchor="t">
            <a:normAutofit/>
          </a:bodyPr>
          <a:lstStyle/>
          <a:p>
            <a:pPr algn="ctr"/>
            <a:r>
              <a:rPr lang="fr-FR" sz="4000" dirty="0"/>
              <a:t>Plan de la présentation</a:t>
            </a:r>
          </a:p>
        </p:txBody>
      </p:sp>
      <p:sp>
        <p:nvSpPr>
          <p:cNvPr id="6" name="Espace réservé du numéro de diapositive 5">
            <a:extLst>
              <a:ext uri="{FF2B5EF4-FFF2-40B4-BE49-F238E27FC236}">
                <a16:creationId xmlns:a16="http://schemas.microsoft.com/office/drawing/2014/main" id="{3C110F89-94F3-8CA8-00F4-2A3E0EDDA14E}"/>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2</a:t>
            </a:fld>
            <a:endParaRPr lang="en-US"/>
          </a:p>
        </p:txBody>
      </p:sp>
      <p:sp>
        <p:nvSpPr>
          <p:cNvPr id="8" name="Rectangle : coins arrondis 7">
            <a:extLst>
              <a:ext uri="{FF2B5EF4-FFF2-40B4-BE49-F238E27FC236}">
                <a16:creationId xmlns:a16="http://schemas.microsoft.com/office/drawing/2014/main" id="{0EA37B3D-320C-70EE-4084-F48156F8BEFE}"/>
              </a:ext>
            </a:extLst>
          </p:cNvPr>
          <p:cNvSpPr/>
          <p:nvPr/>
        </p:nvSpPr>
        <p:spPr>
          <a:xfrm>
            <a:off x="429768" y="1744134"/>
            <a:ext cx="3092365" cy="1879600"/>
          </a:xfrm>
          <a:prstGeom prst="roundRect">
            <a:avLst/>
          </a:prstGeom>
          <a:noFill/>
          <a:ln w="9525" cap="flat" cmpd="sng" algn="ctr">
            <a:solidFill>
              <a:srgbClr val="3E7C3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a:p>
        </p:txBody>
      </p:sp>
      <p:sp>
        <p:nvSpPr>
          <p:cNvPr id="9" name="Rectangle : coins arrondis 8">
            <a:extLst>
              <a:ext uri="{FF2B5EF4-FFF2-40B4-BE49-F238E27FC236}">
                <a16:creationId xmlns:a16="http://schemas.microsoft.com/office/drawing/2014/main" id="{8B0BD3AA-9561-E743-BBB5-6577E489E60E}"/>
              </a:ext>
            </a:extLst>
          </p:cNvPr>
          <p:cNvSpPr/>
          <p:nvPr/>
        </p:nvSpPr>
        <p:spPr>
          <a:xfrm>
            <a:off x="4492917" y="1744134"/>
            <a:ext cx="3092365" cy="1879600"/>
          </a:xfrm>
          <a:prstGeom prst="roundRect">
            <a:avLst/>
          </a:prstGeom>
          <a:noFill/>
          <a:ln w="9525" cap="flat" cmpd="sng" algn="ctr">
            <a:solidFill>
              <a:srgbClr val="3E7C3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511CFCEF-C795-550B-6C34-5740EDB49450}"/>
              </a:ext>
            </a:extLst>
          </p:cNvPr>
          <p:cNvSpPr/>
          <p:nvPr/>
        </p:nvSpPr>
        <p:spPr>
          <a:xfrm>
            <a:off x="8556066" y="1744134"/>
            <a:ext cx="3092365" cy="1879600"/>
          </a:xfrm>
          <a:prstGeom prst="roundRect">
            <a:avLst/>
          </a:prstGeom>
          <a:noFill/>
          <a:ln w="9525" cap="flat" cmpd="sng" algn="ctr">
            <a:solidFill>
              <a:srgbClr val="3E7C3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E278E10A-ABFA-5B79-9EB9-9EB3B2B23D31}"/>
              </a:ext>
            </a:extLst>
          </p:cNvPr>
          <p:cNvSpPr/>
          <p:nvPr/>
        </p:nvSpPr>
        <p:spPr>
          <a:xfrm>
            <a:off x="2444834" y="4419600"/>
            <a:ext cx="3092365" cy="1879600"/>
          </a:xfrm>
          <a:prstGeom prst="roundRect">
            <a:avLst/>
          </a:prstGeom>
          <a:noFill/>
          <a:ln w="9525" cap="flat" cmpd="sng" algn="ctr">
            <a:solidFill>
              <a:srgbClr val="3E7C3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DC9F78D0-D696-C383-5C91-44F68437CBF8}"/>
              </a:ext>
            </a:extLst>
          </p:cNvPr>
          <p:cNvSpPr/>
          <p:nvPr/>
        </p:nvSpPr>
        <p:spPr>
          <a:xfrm>
            <a:off x="6908800" y="4419600"/>
            <a:ext cx="3092365" cy="1879600"/>
          </a:xfrm>
          <a:prstGeom prst="roundRect">
            <a:avLst/>
          </a:prstGeom>
          <a:noFill/>
          <a:ln w="9525" cap="flat" cmpd="sng" algn="ctr">
            <a:solidFill>
              <a:srgbClr val="3E7C3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a:p>
        </p:txBody>
      </p:sp>
      <p:sp>
        <p:nvSpPr>
          <p:cNvPr id="13" name="ZoneTexte 12">
            <a:extLst>
              <a:ext uri="{FF2B5EF4-FFF2-40B4-BE49-F238E27FC236}">
                <a16:creationId xmlns:a16="http://schemas.microsoft.com/office/drawing/2014/main" id="{EE743166-2B4D-DF69-DBE6-94460E427357}"/>
              </a:ext>
            </a:extLst>
          </p:cNvPr>
          <p:cNvSpPr txBox="1"/>
          <p:nvPr/>
        </p:nvSpPr>
        <p:spPr>
          <a:xfrm>
            <a:off x="543569" y="1845141"/>
            <a:ext cx="2929466" cy="369332"/>
          </a:xfrm>
          <a:prstGeom prst="rect">
            <a:avLst/>
          </a:prstGeom>
          <a:noFill/>
        </p:spPr>
        <p:txBody>
          <a:bodyPr wrap="square" rtlCol="0">
            <a:spAutoFit/>
          </a:bodyPr>
          <a:lstStyle/>
          <a:p>
            <a:r>
              <a:rPr lang="fr-FR" b="1" dirty="0"/>
              <a:t>Introduction &amp; contexte</a:t>
            </a:r>
          </a:p>
        </p:txBody>
      </p:sp>
      <p:sp>
        <p:nvSpPr>
          <p:cNvPr id="14" name="ZoneTexte 13">
            <a:extLst>
              <a:ext uri="{FF2B5EF4-FFF2-40B4-BE49-F238E27FC236}">
                <a16:creationId xmlns:a16="http://schemas.microsoft.com/office/drawing/2014/main" id="{136A97A7-CF75-399B-0EE9-66A0FF852933}"/>
              </a:ext>
            </a:extLst>
          </p:cNvPr>
          <p:cNvSpPr txBox="1"/>
          <p:nvPr/>
        </p:nvSpPr>
        <p:spPr>
          <a:xfrm>
            <a:off x="612817" y="2380012"/>
            <a:ext cx="2726266" cy="923330"/>
          </a:xfrm>
          <a:prstGeom prst="rect">
            <a:avLst/>
          </a:prstGeom>
          <a:noFill/>
        </p:spPr>
        <p:txBody>
          <a:bodyPr wrap="square" rtlCol="0">
            <a:spAutoFit/>
          </a:bodyPr>
          <a:lstStyle/>
          <a:p>
            <a:r>
              <a:rPr lang="fr-FR" i="1" dirty="0"/>
              <a:t>Présentation de l’entreprise, objectifs et enjeux de l’étude</a:t>
            </a:r>
          </a:p>
        </p:txBody>
      </p:sp>
      <p:sp>
        <p:nvSpPr>
          <p:cNvPr id="15" name="ZoneTexte 14">
            <a:extLst>
              <a:ext uri="{FF2B5EF4-FFF2-40B4-BE49-F238E27FC236}">
                <a16:creationId xmlns:a16="http://schemas.microsoft.com/office/drawing/2014/main" id="{A7139EAF-441A-6709-DBD8-E5C6AD3F7AEF}"/>
              </a:ext>
            </a:extLst>
          </p:cNvPr>
          <p:cNvSpPr txBox="1"/>
          <p:nvPr/>
        </p:nvSpPr>
        <p:spPr>
          <a:xfrm>
            <a:off x="4549817" y="1812875"/>
            <a:ext cx="3092365" cy="369332"/>
          </a:xfrm>
          <a:prstGeom prst="rect">
            <a:avLst/>
          </a:prstGeom>
          <a:noFill/>
        </p:spPr>
        <p:txBody>
          <a:bodyPr wrap="square" rtlCol="0">
            <a:spAutoFit/>
          </a:bodyPr>
          <a:lstStyle/>
          <a:p>
            <a:r>
              <a:rPr lang="fr-FR" b="1" dirty="0"/>
              <a:t>Méthodologie &amp; données</a:t>
            </a:r>
          </a:p>
        </p:txBody>
      </p:sp>
      <p:sp>
        <p:nvSpPr>
          <p:cNvPr id="16" name="ZoneTexte 15">
            <a:extLst>
              <a:ext uri="{FF2B5EF4-FFF2-40B4-BE49-F238E27FC236}">
                <a16:creationId xmlns:a16="http://schemas.microsoft.com/office/drawing/2014/main" id="{8EBA3091-6E3A-FA2B-67D7-BAE14F1DD2A6}"/>
              </a:ext>
            </a:extLst>
          </p:cNvPr>
          <p:cNvSpPr txBox="1"/>
          <p:nvPr/>
        </p:nvSpPr>
        <p:spPr>
          <a:xfrm>
            <a:off x="4675966" y="2315480"/>
            <a:ext cx="2726266" cy="923330"/>
          </a:xfrm>
          <a:prstGeom prst="rect">
            <a:avLst/>
          </a:prstGeom>
          <a:noFill/>
        </p:spPr>
        <p:txBody>
          <a:bodyPr wrap="square" rtlCol="0">
            <a:spAutoFit/>
          </a:bodyPr>
          <a:lstStyle/>
          <a:p>
            <a:r>
              <a:rPr lang="fr-FR" i="1" dirty="0"/>
              <a:t>Sources, construction du jeu de données et indicateurs clés</a:t>
            </a:r>
          </a:p>
        </p:txBody>
      </p:sp>
      <p:sp>
        <p:nvSpPr>
          <p:cNvPr id="17" name="ZoneTexte 16">
            <a:extLst>
              <a:ext uri="{FF2B5EF4-FFF2-40B4-BE49-F238E27FC236}">
                <a16:creationId xmlns:a16="http://schemas.microsoft.com/office/drawing/2014/main" id="{13570E36-C2DA-6E49-E5EF-A15F3937687D}"/>
              </a:ext>
            </a:extLst>
          </p:cNvPr>
          <p:cNvSpPr txBox="1"/>
          <p:nvPr/>
        </p:nvSpPr>
        <p:spPr>
          <a:xfrm>
            <a:off x="8612966" y="1845141"/>
            <a:ext cx="3092365" cy="369332"/>
          </a:xfrm>
          <a:prstGeom prst="rect">
            <a:avLst/>
          </a:prstGeom>
          <a:noFill/>
        </p:spPr>
        <p:txBody>
          <a:bodyPr wrap="square" rtlCol="0">
            <a:spAutoFit/>
          </a:bodyPr>
          <a:lstStyle/>
          <a:p>
            <a:r>
              <a:rPr lang="fr-FR" b="1" dirty="0"/>
              <a:t>Résultats &amp; segmentation</a:t>
            </a:r>
          </a:p>
        </p:txBody>
      </p:sp>
      <p:sp>
        <p:nvSpPr>
          <p:cNvPr id="3" name="ZoneTexte 2">
            <a:extLst>
              <a:ext uri="{FF2B5EF4-FFF2-40B4-BE49-F238E27FC236}">
                <a16:creationId xmlns:a16="http://schemas.microsoft.com/office/drawing/2014/main" id="{AAE07892-11DF-7A7E-342B-BC2DE76207FE}"/>
              </a:ext>
            </a:extLst>
          </p:cNvPr>
          <p:cNvSpPr txBox="1"/>
          <p:nvPr/>
        </p:nvSpPr>
        <p:spPr>
          <a:xfrm>
            <a:off x="8739115" y="2377197"/>
            <a:ext cx="2726266" cy="923330"/>
          </a:xfrm>
          <a:prstGeom prst="rect">
            <a:avLst/>
          </a:prstGeom>
          <a:noFill/>
        </p:spPr>
        <p:txBody>
          <a:bodyPr wrap="square" rtlCol="0">
            <a:spAutoFit/>
          </a:bodyPr>
          <a:lstStyle/>
          <a:p>
            <a:r>
              <a:rPr lang="fr-FR" i="1" dirty="0"/>
              <a:t>Analyse des pays, profils types et clusters identifiés</a:t>
            </a:r>
          </a:p>
        </p:txBody>
      </p:sp>
      <p:sp>
        <p:nvSpPr>
          <p:cNvPr id="4" name="ZoneTexte 3">
            <a:extLst>
              <a:ext uri="{FF2B5EF4-FFF2-40B4-BE49-F238E27FC236}">
                <a16:creationId xmlns:a16="http://schemas.microsoft.com/office/drawing/2014/main" id="{075B7238-67B1-0244-C975-6D0551BD4E42}"/>
              </a:ext>
            </a:extLst>
          </p:cNvPr>
          <p:cNvSpPr txBox="1"/>
          <p:nvPr/>
        </p:nvSpPr>
        <p:spPr>
          <a:xfrm>
            <a:off x="2898226" y="4557764"/>
            <a:ext cx="2929466" cy="369332"/>
          </a:xfrm>
          <a:prstGeom prst="rect">
            <a:avLst/>
          </a:prstGeom>
          <a:noFill/>
        </p:spPr>
        <p:txBody>
          <a:bodyPr wrap="square" rtlCol="0">
            <a:spAutoFit/>
          </a:bodyPr>
          <a:lstStyle/>
          <a:p>
            <a:r>
              <a:rPr lang="fr-FR" b="1" dirty="0"/>
              <a:t>Recommandations</a:t>
            </a:r>
          </a:p>
        </p:txBody>
      </p:sp>
      <p:sp>
        <p:nvSpPr>
          <p:cNvPr id="5" name="ZoneTexte 4">
            <a:extLst>
              <a:ext uri="{FF2B5EF4-FFF2-40B4-BE49-F238E27FC236}">
                <a16:creationId xmlns:a16="http://schemas.microsoft.com/office/drawing/2014/main" id="{F812DF40-E7D2-6879-F52D-7919BCAF3F1C}"/>
              </a:ext>
            </a:extLst>
          </p:cNvPr>
          <p:cNvSpPr txBox="1"/>
          <p:nvPr/>
        </p:nvSpPr>
        <p:spPr>
          <a:xfrm>
            <a:off x="2518409" y="5065260"/>
            <a:ext cx="3092365" cy="646331"/>
          </a:xfrm>
          <a:prstGeom prst="rect">
            <a:avLst/>
          </a:prstGeom>
          <a:noFill/>
        </p:spPr>
        <p:txBody>
          <a:bodyPr wrap="square" rtlCol="0">
            <a:spAutoFit/>
          </a:bodyPr>
          <a:lstStyle/>
          <a:p>
            <a:r>
              <a:rPr lang="fr-FR" i="1" dirty="0"/>
              <a:t>Pays cible pour une expansion internationale</a:t>
            </a:r>
          </a:p>
        </p:txBody>
      </p:sp>
      <p:sp>
        <p:nvSpPr>
          <p:cNvPr id="18" name="ZoneTexte 17">
            <a:extLst>
              <a:ext uri="{FF2B5EF4-FFF2-40B4-BE49-F238E27FC236}">
                <a16:creationId xmlns:a16="http://schemas.microsoft.com/office/drawing/2014/main" id="{4FFFF068-8BE5-00E8-17DA-CBD4091E0E8F}"/>
              </a:ext>
            </a:extLst>
          </p:cNvPr>
          <p:cNvSpPr txBox="1"/>
          <p:nvPr/>
        </p:nvSpPr>
        <p:spPr>
          <a:xfrm>
            <a:off x="7747591" y="4522762"/>
            <a:ext cx="3092365" cy="369332"/>
          </a:xfrm>
          <a:prstGeom prst="rect">
            <a:avLst/>
          </a:prstGeom>
          <a:noFill/>
        </p:spPr>
        <p:txBody>
          <a:bodyPr wrap="square" rtlCol="0">
            <a:spAutoFit/>
          </a:bodyPr>
          <a:lstStyle/>
          <a:p>
            <a:r>
              <a:rPr lang="fr-FR" b="1" dirty="0"/>
              <a:t>Conclusion</a:t>
            </a:r>
          </a:p>
        </p:txBody>
      </p:sp>
      <p:sp>
        <p:nvSpPr>
          <p:cNvPr id="19" name="ZoneTexte 18">
            <a:extLst>
              <a:ext uri="{FF2B5EF4-FFF2-40B4-BE49-F238E27FC236}">
                <a16:creationId xmlns:a16="http://schemas.microsoft.com/office/drawing/2014/main" id="{6C139FF1-FB67-B2B4-E2B3-5B99C291ABBB}"/>
              </a:ext>
            </a:extLst>
          </p:cNvPr>
          <p:cNvSpPr txBox="1"/>
          <p:nvPr/>
        </p:nvSpPr>
        <p:spPr>
          <a:xfrm>
            <a:off x="7091849" y="5036234"/>
            <a:ext cx="2726266" cy="646331"/>
          </a:xfrm>
          <a:prstGeom prst="rect">
            <a:avLst/>
          </a:prstGeom>
          <a:noFill/>
        </p:spPr>
        <p:txBody>
          <a:bodyPr wrap="square" rtlCol="0">
            <a:spAutoFit/>
          </a:bodyPr>
          <a:lstStyle/>
          <a:p>
            <a:r>
              <a:rPr lang="fr-FR" i="1" dirty="0"/>
              <a:t>Synthèse des résultats et actions à engager</a:t>
            </a:r>
          </a:p>
        </p:txBody>
      </p:sp>
    </p:spTree>
    <p:extLst>
      <p:ext uri="{BB962C8B-B14F-4D97-AF65-F5344CB8AC3E}">
        <p14:creationId xmlns:p14="http://schemas.microsoft.com/office/powerpoint/2010/main" val="200227100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5EB01B-275B-183C-BD06-F5E22D4EADCF}"/>
              </a:ext>
            </a:extLst>
          </p:cNvPr>
          <p:cNvSpPr>
            <a:spLocks noGrp="1"/>
          </p:cNvSpPr>
          <p:nvPr>
            <p:ph type="title"/>
          </p:nvPr>
        </p:nvSpPr>
        <p:spPr>
          <a:xfrm>
            <a:off x="431172" y="240660"/>
            <a:ext cx="11422161" cy="843074"/>
          </a:xfrm>
        </p:spPr>
        <p:txBody>
          <a:bodyPr anchor="t">
            <a:normAutofit/>
          </a:bodyPr>
          <a:lstStyle/>
          <a:p>
            <a:pPr algn="ctr">
              <a:lnSpc>
                <a:spcPct val="100000"/>
              </a:lnSpc>
            </a:pPr>
            <a:r>
              <a:rPr lang="fr-FR" sz="4000" dirty="0"/>
              <a:t>Introduction</a:t>
            </a:r>
          </a:p>
        </p:txBody>
      </p:sp>
      <p:sp>
        <p:nvSpPr>
          <p:cNvPr id="6" name="Espace réservé du numéro de diapositive 5">
            <a:extLst>
              <a:ext uri="{FF2B5EF4-FFF2-40B4-BE49-F238E27FC236}">
                <a16:creationId xmlns:a16="http://schemas.microsoft.com/office/drawing/2014/main" id="{27812F5B-44CD-BF60-90E9-7FEA9FD81D85}"/>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3</a:t>
            </a:fld>
            <a:endParaRPr lang="en-US"/>
          </a:p>
        </p:txBody>
      </p:sp>
      <p:sp>
        <p:nvSpPr>
          <p:cNvPr id="3" name="ZoneTexte 2">
            <a:extLst>
              <a:ext uri="{FF2B5EF4-FFF2-40B4-BE49-F238E27FC236}">
                <a16:creationId xmlns:a16="http://schemas.microsoft.com/office/drawing/2014/main" id="{1C9579C4-0292-963C-2827-5F004B778550}"/>
              </a:ext>
            </a:extLst>
          </p:cNvPr>
          <p:cNvSpPr txBox="1"/>
          <p:nvPr/>
        </p:nvSpPr>
        <p:spPr>
          <a:xfrm>
            <a:off x="240355" y="3429000"/>
            <a:ext cx="3361895" cy="1705916"/>
          </a:xfrm>
          <a:prstGeom prst="rect">
            <a:avLst/>
          </a:prstGeom>
          <a:noFill/>
        </p:spPr>
        <p:txBody>
          <a:bodyPr wrap="square" rtlCol="0">
            <a:spAutoFit/>
          </a:bodyPr>
          <a:lstStyle/>
          <a:p>
            <a:pPr algn="ctr">
              <a:lnSpc>
                <a:spcPct val="150000"/>
              </a:lnSpc>
            </a:pPr>
            <a:r>
              <a:rPr lang="fr-FR" b="1" dirty="0">
                <a:solidFill>
                  <a:schemeClr val="tx1">
                    <a:lumMod val="90000"/>
                    <a:lumOff val="10000"/>
                  </a:schemeClr>
                </a:solidFill>
              </a:rPr>
              <a:t>Objectif de l’étude : </a:t>
            </a:r>
            <a:br>
              <a:rPr lang="fr-FR" dirty="0">
                <a:solidFill>
                  <a:schemeClr val="tx1">
                    <a:lumMod val="90000"/>
                    <a:lumOff val="10000"/>
                  </a:schemeClr>
                </a:solidFill>
              </a:rPr>
            </a:br>
            <a:r>
              <a:rPr lang="fr-FR" dirty="0">
                <a:solidFill>
                  <a:schemeClr val="tx1">
                    <a:lumMod val="90000"/>
                    <a:lumOff val="10000"/>
                  </a:schemeClr>
                </a:solidFill>
              </a:rPr>
              <a:t>Identifier les pays présentant le plus fort potentiel pour l’exportation de volaille bio.</a:t>
            </a:r>
          </a:p>
        </p:txBody>
      </p:sp>
      <p:pic>
        <p:nvPicPr>
          <p:cNvPr id="8" name="Graphique 7" descr="Mille avec un remplissage uni">
            <a:extLst>
              <a:ext uri="{FF2B5EF4-FFF2-40B4-BE49-F238E27FC236}">
                <a16:creationId xmlns:a16="http://schemas.microsoft.com/office/drawing/2014/main" id="{AE4E6674-59A9-F3AB-010F-E427AE10AB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332" y="1437730"/>
            <a:ext cx="1557943" cy="1557943"/>
          </a:xfrm>
          <a:prstGeom prst="rect">
            <a:avLst/>
          </a:prstGeom>
        </p:spPr>
      </p:pic>
      <p:sp>
        <p:nvSpPr>
          <p:cNvPr id="9" name="ZoneTexte 8">
            <a:extLst>
              <a:ext uri="{FF2B5EF4-FFF2-40B4-BE49-F238E27FC236}">
                <a16:creationId xmlns:a16="http://schemas.microsoft.com/office/drawing/2014/main" id="{66B118D1-C73F-00F2-5796-9D275CC35423}"/>
              </a:ext>
            </a:extLst>
          </p:cNvPr>
          <p:cNvSpPr txBox="1"/>
          <p:nvPr/>
        </p:nvSpPr>
        <p:spPr>
          <a:xfrm>
            <a:off x="4415052" y="3429000"/>
            <a:ext cx="3361895" cy="2536913"/>
          </a:xfrm>
          <a:prstGeom prst="rect">
            <a:avLst/>
          </a:prstGeom>
          <a:noFill/>
        </p:spPr>
        <p:txBody>
          <a:bodyPr wrap="square" rtlCol="0">
            <a:spAutoFit/>
          </a:bodyPr>
          <a:lstStyle/>
          <a:p>
            <a:pPr algn="ctr">
              <a:lnSpc>
                <a:spcPct val="150000"/>
              </a:lnSpc>
            </a:pPr>
            <a:r>
              <a:rPr lang="fr-FR" b="1" dirty="0">
                <a:solidFill>
                  <a:schemeClr val="tx1">
                    <a:lumMod val="90000"/>
                    <a:lumOff val="10000"/>
                  </a:schemeClr>
                </a:solidFill>
              </a:rPr>
              <a:t>Mission confiée :</a:t>
            </a:r>
            <a:br>
              <a:rPr lang="fr-FR" dirty="0">
                <a:solidFill>
                  <a:schemeClr val="tx1">
                    <a:lumMod val="90000"/>
                    <a:lumOff val="10000"/>
                  </a:schemeClr>
                </a:solidFill>
              </a:rPr>
            </a:br>
            <a:r>
              <a:rPr lang="fr-FR" dirty="0">
                <a:solidFill>
                  <a:schemeClr val="tx1">
                    <a:lumMod val="90000"/>
                    <a:lumOff val="10000"/>
                  </a:schemeClr>
                </a:solidFill>
              </a:rPr>
              <a:t>Analyser et segmenter les marchés étrangers pour recommander des cibles prioritaires et des scénarios d’expansion.</a:t>
            </a:r>
          </a:p>
        </p:txBody>
      </p:sp>
      <p:sp>
        <p:nvSpPr>
          <p:cNvPr id="10" name="ZoneTexte 9">
            <a:extLst>
              <a:ext uri="{FF2B5EF4-FFF2-40B4-BE49-F238E27FC236}">
                <a16:creationId xmlns:a16="http://schemas.microsoft.com/office/drawing/2014/main" id="{EE97D429-1534-7E12-E950-934FCBF92D0A}"/>
              </a:ext>
            </a:extLst>
          </p:cNvPr>
          <p:cNvSpPr txBox="1"/>
          <p:nvPr/>
        </p:nvSpPr>
        <p:spPr>
          <a:xfrm>
            <a:off x="8589750" y="3429000"/>
            <a:ext cx="3361895" cy="1705916"/>
          </a:xfrm>
          <a:prstGeom prst="rect">
            <a:avLst/>
          </a:prstGeom>
          <a:noFill/>
        </p:spPr>
        <p:txBody>
          <a:bodyPr wrap="square" rtlCol="0">
            <a:spAutoFit/>
          </a:bodyPr>
          <a:lstStyle/>
          <a:p>
            <a:pPr algn="ctr">
              <a:lnSpc>
                <a:spcPct val="150000"/>
              </a:lnSpc>
            </a:pPr>
            <a:r>
              <a:rPr lang="fr-FR" b="1" dirty="0">
                <a:solidFill>
                  <a:schemeClr val="tx1">
                    <a:lumMod val="90000"/>
                    <a:lumOff val="10000"/>
                  </a:schemeClr>
                </a:solidFill>
              </a:rPr>
              <a:t>Finalité :</a:t>
            </a:r>
            <a:br>
              <a:rPr lang="fr-FR" dirty="0">
                <a:solidFill>
                  <a:schemeClr val="tx1">
                    <a:lumMod val="90000"/>
                    <a:lumOff val="10000"/>
                  </a:schemeClr>
                </a:solidFill>
              </a:rPr>
            </a:br>
            <a:r>
              <a:rPr lang="fr-FR" dirty="0"/>
              <a:t>Fournir à la Direction une vue synthétique des marchés et des pays prioritaires.</a:t>
            </a:r>
            <a:endParaRPr lang="fr-FR" dirty="0">
              <a:solidFill>
                <a:schemeClr val="tx1">
                  <a:lumMod val="90000"/>
                  <a:lumOff val="10000"/>
                </a:schemeClr>
              </a:solidFill>
            </a:endParaRPr>
          </a:p>
        </p:txBody>
      </p:sp>
      <p:pic>
        <p:nvPicPr>
          <p:cNvPr id="13" name="Graphique 12" descr="Amérique du Nord avec un remplissage uni">
            <a:extLst>
              <a:ext uri="{FF2B5EF4-FFF2-40B4-BE49-F238E27FC236}">
                <a16:creationId xmlns:a16="http://schemas.microsoft.com/office/drawing/2014/main" id="{C3157DD2-41BE-2F40-E629-C009201214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17029" y="1437729"/>
            <a:ext cx="1557942" cy="1557942"/>
          </a:xfrm>
          <a:prstGeom prst="rect">
            <a:avLst/>
          </a:prstGeom>
        </p:spPr>
      </p:pic>
      <p:pic>
        <p:nvPicPr>
          <p:cNvPr id="15" name="Graphique 14" descr="Présentation avec camembert avec un remplissage uni">
            <a:extLst>
              <a:ext uri="{FF2B5EF4-FFF2-40B4-BE49-F238E27FC236}">
                <a16:creationId xmlns:a16="http://schemas.microsoft.com/office/drawing/2014/main" id="{43FB5A9D-412E-EEB7-E420-C0F7EDF058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91725" y="1437729"/>
            <a:ext cx="1557942" cy="1557942"/>
          </a:xfrm>
          <a:prstGeom prst="rect">
            <a:avLst/>
          </a:prstGeom>
        </p:spPr>
      </p:pic>
    </p:spTree>
    <p:extLst>
      <p:ext uri="{BB962C8B-B14F-4D97-AF65-F5344CB8AC3E}">
        <p14:creationId xmlns:p14="http://schemas.microsoft.com/office/powerpoint/2010/main" val="23340356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49DFE08E-8C26-24E4-17A9-CD7561891842}"/>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4</a:t>
            </a:fld>
            <a:endParaRPr lang="en-US"/>
          </a:p>
        </p:txBody>
      </p:sp>
      <p:sp>
        <p:nvSpPr>
          <p:cNvPr id="9" name="Titre 8">
            <a:extLst>
              <a:ext uri="{FF2B5EF4-FFF2-40B4-BE49-F238E27FC236}">
                <a16:creationId xmlns:a16="http://schemas.microsoft.com/office/drawing/2014/main" id="{C3AE3CCF-E821-07B3-72E6-88058C845069}"/>
              </a:ext>
            </a:extLst>
          </p:cNvPr>
          <p:cNvSpPr>
            <a:spLocks noGrp="1"/>
          </p:cNvSpPr>
          <p:nvPr>
            <p:ph type="title"/>
          </p:nvPr>
        </p:nvSpPr>
        <p:spPr>
          <a:xfrm>
            <a:off x="497500" y="144372"/>
            <a:ext cx="10881699" cy="1089829"/>
          </a:xfrm>
        </p:spPr>
        <p:txBody>
          <a:bodyPr anchor="ctr">
            <a:normAutofit/>
          </a:bodyPr>
          <a:lstStyle/>
          <a:p>
            <a:pPr algn="ctr"/>
            <a:r>
              <a:rPr lang="fr-FR" sz="4000" dirty="0"/>
              <a:t>CONTEXTE</a:t>
            </a:r>
          </a:p>
        </p:txBody>
      </p:sp>
      <p:grpSp>
        <p:nvGrpSpPr>
          <p:cNvPr id="29" name="Groupe 28">
            <a:extLst>
              <a:ext uri="{FF2B5EF4-FFF2-40B4-BE49-F238E27FC236}">
                <a16:creationId xmlns:a16="http://schemas.microsoft.com/office/drawing/2014/main" id="{AF4E1E50-72FA-6681-2C66-67BC0429E213}"/>
              </a:ext>
            </a:extLst>
          </p:cNvPr>
          <p:cNvGrpSpPr/>
          <p:nvPr/>
        </p:nvGrpSpPr>
        <p:grpSpPr>
          <a:xfrm>
            <a:off x="1439990" y="2096921"/>
            <a:ext cx="9312019" cy="1332079"/>
            <a:chOff x="728132" y="1861492"/>
            <a:chExt cx="9312019" cy="1332079"/>
          </a:xfrm>
        </p:grpSpPr>
        <p:pic>
          <p:nvPicPr>
            <p:cNvPr id="15" name="Graphique 14" descr="Poulet contour">
              <a:extLst>
                <a:ext uri="{FF2B5EF4-FFF2-40B4-BE49-F238E27FC236}">
                  <a16:creationId xmlns:a16="http://schemas.microsoft.com/office/drawing/2014/main" id="{A3339239-EA57-D3FB-6B70-833AB297BB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8132" y="1861492"/>
              <a:ext cx="1332079" cy="1332079"/>
            </a:xfrm>
            <a:prstGeom prst="rect">
              <a:avLst/>
            </a:prstGeom>
          </p:spPr>
        </p:pic>
        <p:pic>
          <p:nvPicPr>
            <p:cNvPr id="20" name="Image 19" descr="Une image contenant carte&#10;&#10;Le contenu généré par l’IA peut être incorrect.">
              <a:extLst>
                <a:ext uri="{FF2B5EF4-FFF2-40B4-BE49-F238E27FC236}">
                  <a16:creationId xmlns:a16="http://schemas.microsoft.com/office/drawing/2014/main" id="{D8815A2B-B98D-E179-30B0-16ECAA6842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8112" y="1861492"/>
              <a:ext cx="1332079" cy="1332079"/>
            </a:xfrm>
            <a:prstGeom prst="rect">
              <a:avLst/>
            </a:prstGeom>
          </p:spPr>
        </p:pic>
        <p:pic>
          <p:nvPicPr>
            <p:cNvPr id="23" name="Graphique 22" descr="Excellent contour">
              <a:extLst>
                <a:ext uri="{FF2B5EF4-FFF2-40B4-BE49-F238E27FC236}">
                  <a16:creationId xmlns:a16="http://schemas.microsoft.com/office/drawing/2014/main" id="{A39FAF9E-F1EF-95C8-50F5-1E3F4D35CF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48092" y="1861492"/>
              <a:ext cx="1332079" cy="1332079"/>
            </a:xfrm>
            <a:prstGeom prst="rect">
              <a:avLst/>
            </a:prstGeom>
          </p:spPr>
        </p:pic>
        <p:pic>
          <p:nvPicPr>
            <p:cNvPr id="26" name="Graphique 25" descr="Graphique exponentiel avec un remplissage uni">
              <a:extLst>
                <a:ext uri="{FF2B5EF4-FFF2-40B4-BE49-F238E27FC236}">
                  <a16:creationId xmlns:a16="http://schemas.microsoft.com/office/drawing/2014/main" id="{A3FE2122-F6F1-BBE9-E904-E6520CEA105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08072" y="1861492"/>
              <a:ext cx="1332079" cy="1332079"/>
            </a:xfrm>
            <a:prstGeom prst="rect">
              <a:avLst/>
            </a:prstGeom>
          </p:spPr>
        </p:pic>
      </p:grpSp>
      <p:grpSp>
        <p:nvGrpSpPr>
          <p:cNvPr id="30" name="Groupe 29">
            <a:extLst>
              <a:ext uri="{FF2B5EF4-FFF2-40B4-BE49-F238E27FC236}">
                <a16:creationId xmlns:a16="http://schemas.microsoft.com/office/drawing/2014/main" id="{B2C20563-B774-2ACF-40B1-EAC0B65C290C}"/>
              </a:ext>
            </a:extLst>
          </p:cNvPr>
          <p:cNvGrpSpPr/>
          <p:nvPr/>
        </p:nvGrpSpPr>
        <p:grpSpPr>
          <a:xfrm>
            <a:off x="897007" y="4137388"/>
            <a:ext cx="10980024" cy="2031325"/>
            <a:chOff x="181016" y="3502853"/>
            <a:chExt cx="10980024" cy="2031325"/>
          </a:xfrm>
        </p:grpSpPr>
        <p:sp>
          <p:nvSpPr>
            <p:cNvPr id="16" name="ZoneTexte 15">
              <a:extLst>
                <a:ext uri="{FF2B5EF4-FFF2-40B4-BE49-F238E27FC236}">
                  <a16:creationId xmlns:a16="http://schemas.microsoft.com/office/drawing/2014/main" id="{DEC140E9-AAD8-52C4-B648-DA40301894D5}"/>
                </a:ext>
              </a:extLst>
            </p:cNvPr>
            <p:cNvSpPr txBox="1"/>
            <p:nvPr/>
          </p:nvSpPr>
          <p:spPr>
            <a:xfrm>
              <a:off x="181016" y="3502853"/>
              <a:ext cx="2114764" cy="1754326"/>
            </a:xfrm>
            <a:prstGeom prst="rect">
              <a:avLst/>
            </a:prstGeom>
            <a:noFill/>
          </p:spPr>
          <p:txBody>
            <a:bodyPr wrap="square" rtlCol="0">
              <a:spAutoFit/>
            </a:bodyPr>
            <a:lstStyle/>
            <a:p>
              <a:pPr algn="ctr"/>
              <a:r>
                <a:rPr lang="fr-FR" b="1" dirty="0"/>
                <a:t>L’entreprise : </a:t>
              </a:r>
            </a:p>
            <a:p>
              <a:pPr algn="ctr"/>
              <a:r>
                <a:rPr lang="fr-FR" dirty="0"/>
                <a:t>« La Poule Qui Chante », producteur français de volaille bio.</a:t>
              </a:r>
            </a:p>
          </p:txBody>
        </p:sp>
        <p:sp>
          <p:nvSpPr>
            <p:cNvPr id="21" name="ZoneTexte 20">
              <a:extLst>
                <a:ext uri="{FF2B5EF4-FFF2-40B4-BE49-F238E27FC236}">
                  <a16:creationId xmlns:a16="http://schemas.microsoft.com/office/drawing/2014/main" id="{CA9D0A24-1083-398E-76B7-A7CE4BBAC3DE}"/>
                </a:ext>
              </a:extLst>
            </p:cNvPr>
            <p:cNvSpPr txBox="1"/>
            <p:nvPr/>
          </p:nvSpPr>
          <p:spPr>
            <a:xfrm>
              <a:off x="2647069" y="3502853"/>
              <a:ext cx="2409785" cy="923330"/>
            </a:xfrm>
            <a:prstGeom prst="rect">
              <a:avLst/>
            </a:prstGeom>
            <a:noFill/>
          </p:spPr>
          <p:txBody>
            <a:bodyPr wrap="square" rtlCol="0">
              <a:spAutoFit/>
            </a:bodyPr>
            <a:lstStyle/>
            <a:p>
              <a:pPr algn="ctr"/>
              <a:r>
                <a:rPr lang="fr-FR" b="1" dirty="0"/>
                <a:t>Position actuelle :</a:t>
              </a:r>
            </a:p>
            <a:p>
              <a:pPr algn="ctr"/>
              <a:r>
                <a:rPr lang="fr-FR" dirty="0"/>
                <a:t>Activité concentrée en France.</a:t>
              </a:r>
            </a:p>
          </p:txBody>
        </p:sp>
        <p:sp>
          <p:nvSpPr>
            <p:cNvPr id="24" name="ZoneTexte 23">
              <a:extLst>
                <a:ext uri="{FF2B5EF4-FFF2-40B4-BE49-F238E27FC236}">
                  <a16:creationId xmlns:a16="http://schemas.microsoft.com/office/drawing/2014/main" id="{AFAAF75D-BB40-B3EF-A646-80FF27442D2A}"/>
                </a:ext>
              </a:extLst>
            </p:cNvPr>
            <p:cNvSpPr txBox="1"/>
            <p:nvPr/>
          </p:nvSpPr>
          <p:spPr>
            <a:xfrm>
              <a:off x="5408143" y="3502853"/>
              <a:ext cx="2409785" cy="1754326"/>
            </a:xfrm>
            <a:prstGeom prst="rect">
              <a:avLst/>
            </a:prstGeom>
            <a:noFill/>
          </p:spPr>
          <p:txBody>
            <a:bodyPr wrap="square" rtlCol="0">
              <a:spAutoFit/>
            </a:bodyPr>
            <a:lstStyle/>
            <a:p>
              <a:pPr algn="ctr"/>
              <a:r>
                <a:rPr lang="fr-FR" b="1" dirty="0"/>
                <a:t>Ambition : </a:t>
              </a:r>
            </a:p>
            <a:p>
              <a:pPr algn="ctr"/>
              <a:r>
                <a:rPr lang="fr-FR" dirty="0"/>
                <a:t>Se développer à l’international pour diversifier ses marchés et accroître ses volumes.</a:t>
              </a:r>
            </a:p>
          </p:txBody>
        </p:sp>
        <p:sp>
          <p:nvSpPr>
            <p:cNvPr id="27" name="ZoneTexte 26">
              <a:extLst>
                <a:ext uri="{FF2B5EF4-FFF2-40B4-BE49-F238E27FC236}">
                  <a16:creationId xmlns:a16="http://schemas.microsoft.com/office/drawing/2014/main" id="{693491E3-D079-0ED9-DB0C-518F2C912D59}"/>
                </a:ext>
              </a:extLst>
            </p:cNvPr>
            <p:cNvSpPr txBox="1"/>
            <p:nvPr/>
          </p:nvSpPr>
          <p:spPr>
            <a:xfrm>
              <a:off x="8091315" y="3502853"/>
              <a:ext cx="3069725" cy="2031325"/>
            </a:xfrm>
            <a:prstGeom prst="rect">
              <a:avLst/>
            </a:prstGeom>
            <a:noFill/>
          </p:spPr>
          <p:txBody>
            <a:bodyPr wrap="square" rtlCol="0">
              <a:spAutoFit/>
            </a:bodyPr>
            <a:lstStyle/>
            <a:p>
              <a:pPr algn="ctr"/>
              <a:r>
                <a:rPr lang="fr-FR" b="1" dirty="0"/>
                <a:t>Enjeu stratégique : </a:t>
              </a:r>
            </a:p>
            <a:p>
              <a:pPr algn="ctr"/>
              <a:r>
                <a:rPr lang="fr-FR" dirty="0"/>
                <a:t>Sélectionner les pays à cibler selon des critères démographiques, économiques et logistiques pour maximiser les chances de succès.</a:t>
              </a:r>
            </a:p>
          </p:txBody>
        </p:sp>
      </p:grpSp>
    </p:spTree>
    <p:extLst>
      <p:ext uri="{BB962C8B-B14F-4D97-AF65-F5344CB8AC3E}">
        <p14:creationId xmlns:p14="http://schemas.microsoft.com/office/powerpoint/2010/main" val="19391091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92AF5F-EA1D-0C16-9ECA-CD2776797ED3}"/>
              </a:ext>
            </a:extLst>
          </p:cNvPr>
          <p:cNvSpPr>
            <a:spLocks noGrp="1"/>
          </p:cNvSpPr>
          <p:nvPr>
            <p:ph type="title"/>
          </p:nvPr>
        </p:nvSpPr>
        <p:spPr>
          <a:xfrm>
            <a:off x="614231" y="186267"/>
            <a:ext cx="10963537" cy="996018"/>
          </a:xfrm>
        </p:spPr>
        <p:txBody>
          <a:bodyPr vert="horz" lIns="91440" tIns="45720" rIns="91440" bIns="45720" rtlCol="0" anchor="b">
            <a:noAutofit/>
          </a:bodyPr>
          <a:lstStyle/>
          <a:p>
            <a:pPr algn="ctr"/>
            <a:r>
              <a:rPr lang="en-US" sz="4000" b="0" kern="1200" cap="all" baseline="0" dirty="0">
                <a:latin typeface="+mj-lt"/>
                <a:ea typeface="+mj-ea"/>
                <a:cs typeface="+mj-cs"/>
              </a:rPr>
              <a:t>Méthodologie &amp; Données : sources</a:t>
            </a:r>
          </a:p>
        </p:txBody>
      </p:sp>
      <p:sp>
        <p:nvSpPr>
          <p:cNvPr id="6" name="Espace réservé du numéro de diapositive 5">
            <a:extLst>
              <a:ext uri="{FF2B5EF4-FFF2-40B4-BE49-F238E27FC236}">
                <a16:creationId xmlns:a16="http://schemas.microsoft.com/office/drawing/2014/main" id="{BA5476F6-D5A5-05C0-AF3C-0A9349D8F96A}"/>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5</a:t>
            </a:fld>
            <a:endParaRPr lang="en-US"/>
          </a:p>
        </p:txBody>
      </p:sp>
      <p:cxnSp>
        <p:nvCxnSpPr>
          <p:cNvPr id="11" name="Connecteur droit 10">
            <a:extLst>
              <a:ext uri="{FF2B5EF4-FFF2-40B4-BE49-F238E27FC236}">
                <a16:creationId xmlns:a16="http://schemas.microsoft.com/office/drawing/2014/main" id="{A2412A11-8455-B44D-D038-C1D9CA404534}"/>
              </a:ext>
            </a:extLst>
          </p:cNvPr>
          <p:cNvCxnSpPr/>
          <p:nvPr/>
        </p:nvCxnSpPr>
        <p:spPr>
          <a:xfrm>
            <a:off x="6062131" y="1744133"/>
            <a:ext cx="0" cy="4746391"/>
          </a:xfrm>
          <a:prstGeom prst="line">
            <a:avLst/>
          </a:prstGeom>
          <a:ln>
            <a:solidFill>
              <a:srgbClr val="3E7C3E"/>
            </a:solidFill>
          </a:ln>
        </p:spPr>
        <p:style>
          <a:lnRef idx="3">
            <a:schemeClr val="dk1"/>
          </a:lnRef>
          <a:fillRef idx="0">
            <a:schemeClr val="dk1"/>
          </a:fillRef>
          <a:effectRef idx="2">
            <a:schemeClr val="dk1"/>
          </a:effectRef>
          <a:fontRef idx="minor">
            <a:schemeClr val="tx1"/>
          </a:fontRef>
        </p:style>
      </p:cxnSp>
      <p:sp>
        <p:nvSpPr>
          <p:cNvPr id="12" name="ZoneTexte 11">
            <a:extLst>
              <a:ext uri="{FF2B5EF4-FFF2-40B4-BE49-F238E27FC236}">
                <a16:creationId xmlns:a16="http://schemas.microsoft.com/office/drawing/2014/main" id="{E44B112F-5EC9-0998-2E1D-E5F17524E044}"/>
              </a:ext>
            </a:extLst>
          </p:cNvPr>
          <p:cNvSpPr txBox="1"/>
          <p:nvPr/>
        </p:nvSpPr>
        <p:spPr>
          <a:xfrm>
            <a:off x="1219200" y="1811866"/>
            <a:ext cx="3759200" cy="369332"/>
          </a:xfrm>
          <a:prstGeom prst="rect">
            <a:avLst/>
          </a:prstGeom>
          <a:noFill/>
        </p:spPr>
        <p:txBody>
          <a:bodyPr wrap="square" rtlCol="0">
            <a:spAutoFit/>
          </a:bodyPr>
          <a:lstStyle/>
          <a:p>
            <a:pPr algn="ctr"/>
            <a:r>
              <a:rPr lang="fr-FR" b="1" dirty="0">
                <a:solidFill>
                  <a:srgbClr val="3E7C3E"/>
                </a:solidFill>
              </a:rPr>
              <a:t>DONNÉES FOURNIES</a:t>
            </a:r>
          </a:p>
        </p:txBody>
      </p:sp>
      <p:sp>
        <p:nvSpPr>
          <p:cNvPr id="13" name="ZoneTexte 12">
            <a:extLst>
              <a:ext uri="{FF2B5EF4-FFF2-40B4-BE49-F238E27FC236}">
                <a16:creationId xmlns:a16="http://schemas.microsoft.com/office/drawing/2014/main" id="{524FB7DC-0334-1A3B-58A7-715475019E11}"/>
              </a:ext>
            </a:extLst>
          </p:cNvPr>
          <p:cNvSpPr txBox="1"/>
          <p:nvPr/>
        </p:nvSpPr>
        <p:spPr>
          <a:xfrm>
            <a:off x="7213600" y="1811866"/>
            <a:ext cx="3759200" cy="369332"/>
          </a:xfrm>
          <a:prstGeom prst="rect">
            <a:avLst/>
          </a:prstGeom>
          <a:noFill/>
        </p:spPr>
        <p:txBody>
          <a:bodyPr wrap="square" rtlCol="0">
            <a:spAutoFit/>
          </a:bodyPr>
          <a:lstStyle/>
          <a:p>
            <a:pPr algn="ctr"/>
            <a:r>
              <a:rPr lang="fr-FR" b="1" dirty="0">
                <a:solidFill>
                  <a:srgbClr val="3E7C3E"/>
                </a:solidFill>
              </a:rPr>
              <a:t>DONNÉES COLLECTÉES </a:t>
            </a:r>
          </a:p>
        </p:txBody>
      </p:sp>
      <p:sp>
        <p:nvSpPr>
          <p:cNvPr id="14" name="ZoneTexte 13">
            <a:extLst>
              <a:ext uri="{FF2B5EF4-FFF2-40B4-BE49-F238E27FC236}">
                <a16:creationId xmlns:a16="http://schemas.microsoft.com/office/drawing/2014/main" id="{19AD934A-4C13-6A60-6607-EC10CD0A0322}"/>
              </a:ext>
            </a:extLst>
          </p:cNvPr>
          <p:cNvSpPr txBox="1"/>
          <p:nvPr/>
        </p:nvSpPr>
        <p:spPr>
          <a:xfrm>
            <a:off x="475832" y="2810779"/>
            <a:ext cx="4990701" cy="2585323"/>
          </a:xfrm>
          <a:prstGeom prst="rect">
            <a:avLst/>
          </a:prstGeom>
          <a:noFill/>
        </p:spPr>
        <p:txBody>
          <a:bodyPr wrap="square" rtlCol="0">
            <a:spAutoFit/>
          </a:bodyPr>
          <a:lstStyle/>
          <a:p>
            <a:pPr marL="285750" indent="-285750">
              <a:buFont typeface="Arial" panose="020B0604020202020204" pitchFamily="34" charset="0"/>
              <a:buChar char="•"/>
            </a:pPr>
            <a:r>
              <a:rPr lang="fr-FR" dirty="0"/>
              <a:t> </a:t>
            </a:r>
            <a:r>
              <a:rPr lang="fr-FR" b="1" dirty="0"/>
              <a:t>Disponibilité alimentaire 2017 – FAO</a:t>
            </a:r>
            <a:br>
              <a:rPr lang="fr-FR" dirty="0"/>
            </a:br>
            <a:r>
              <a:rPr lang="fr-FR" i="1" dirty="0"/>
              <a:t>Consommation alimentaire disponible par produit, consommation de volaille, production, importation, exportation (…)</a:t>
            </a:r>
            <a:br>
              <a:rPr lang="fr-FR" i="1" dirty="0"/>
            </a:br>
            <a:br>
              <a:rPr lang="fr-FR" i="1" dirty="0"/>
            </a:br>
            <a:endParaRPr lang="fr-FR" i="1" dirty="0"/>
          </a:p>
          <a:p>
            <a:pPr marL="285750" indent="-285750">
              <a:buFont typeface="Arial" panose="020B0604020202020204" pitchFamily="34" charset="0"/>
              <a:buChar char="•"/>
            </a:pPr>
            <a:r>
              <a:rPr lang="fr-FR" i="1" dirty="0"/>
              <a:t> </a:t>
            </a:r>
            <a:r>
              <a:rPr lang="fr-FR" b="1" dirty="0"/>
              <a:t>Population 2000 / 2018 – FAO</a:t>
            </a:r>
            <a:br>
              <a:rPr lang="fr-FR" dirty="0"/>
            </a:br>
            <a:r>
              <a:rPr lang="fr-FR" i="1" dirty="0"/>
              <a:t>Population totale par pays et par année.</a:t>
            </a:r>
            <a:br>
              <a:rPr lang="fr-FR" dirty="0"/>
            </a:br>
            <a:endParaRPr lang="fr-FR" dirty="0"/>
          </a:p>
        </p:txBody>
      </p:sp>
      <p:sp>
        <p:nvSpPr>
          <p:cNvPr id="15" name="ZoneTexte 14">
            <a:extLst>
              <a:ext uri="{FF2B5EF4-FFF2-40B4-BE49-F238E27FC236}">
                <a16:creationId xmlns:a16="http://schemas.microsoft.com/office/drawing/2014/main" id="{C4EE7E36-FABC-C0C4-8369-38B3EA54B628}"/>
              </a:ext>
            </a:extLst>
          </p:cNvPr>
          <p:cNvSpPr txBox="1"/>
          <p:nvPr/>
        </p:nvSpPr>
        <p:spPr>
          <a:xfrm>
            <a:off x="6553200" y="2607579"/>
            <a:ext cx="4990701" cy="3970318"/>
          </a:xfrm>
          <a:prstGeom prst="rect">
            <a:avLst/>
          </a:prstGeom>
          <a:noFill/>
        </p:spPr>
        <p:txBody>
          <a:bodyPr wrap="square" rtlCol="0">
            <a:spAutoFit/>
          </a:bodyPr>
          <a:lstStyle/>
          <a:p>
            <a:pPr marL="285750" indent="-285750">
              <a:buFont typeface="Arial" panose="020B0604020202020204" pitchFamily="34" charset="0"/>
              <a:buChar char="•"/>
            </a:pPr>
            <a:r>
              <a:rPr lang="fr-FR" dirty="0"/>
              <a:t> </a:t>
            </a:r>
            <a:r>
              <a:rPr lang="fr-FR" b="1" dirty="0"/>
              <a:t>PIB par habitant – Banque mondiale</a:t>
            </a:r>
            <a:br>
              <a:rPr lang="fr-FR" dirty="0"/>
            </a:br>
            <a:r>
              <a:rPr lang="fr-FR" i="1" dirty="0"/>
              <a:t>Richesse moyenne par habitant en USD.</a:t>
            </a:r>
            <a:br>
              <a:rPr lang="fr-FR" i="1" dirty="0"/>
            </a:br>
            <a:endParaRPr lang="fr-FR" i="1" dirty="0"/>
          </a:p>
          <a:p>
            <a:pPr marL="285750" indent="-285750">
              <a:buFont typeface="Arial" panose="020B0604020202020204" pitchFamily="34" charset="0"/>
              <a:buChar char="•"/>
            </a:pPr>
            <a:r>
              <a:rPr lang="fr-FR" i="1" dirty="0"/>
              <a:t> </a:t>
            </a:r>
            <a:r>
              <a:rPr lang="fr-FR" b="1" dirty="0"/>
              <a:t>Croissance du PIB – Banque mondiale</a:t>
            </a:r>
            <a:br>
              <a:rPr lang="fr-FR" dirty="0"/>
            </a:br>
            <a:r>
              <a:rPr lang="fr-FR" i="1" dirty="0"/>
              <a:t>Variation annuelle du PIB en %</a:t>
            </a:r>
            <a:br>
              <a:rPr lang="fr-FR" i="1" dirty="0"/>
            </a:br>
            <a:endParaRPr lang="fr-FR" i="1" dirty="0"/>
          </a:p>
          <a:p>
            <a:pPr marL="285750" indent="-285750">
              <a:buFont typeface="Arial" panose="020B0604020202020204" pitchFamily="34" charset="0"/>
              <a:buChar char="•"/>
            </a:pPr>
            <a:r>
              <a:rPr lang="fr-FR" b="1" dirty="0"/>
              <a:t>Urbanisation – Banque mondiale</a:t>
            </a:r>
            <a:br>
              <a:rPr lang="fr-FR" b="1" dirty="0"/>
            </a:br>
            <a:r>
              <a:rPr lang="fr-FR" i="1" dirty="0"/>
              <a:t>% de la population vivant en zone urbaine</a:t>
            </a:r>
            <a:br>
              <a:rPr lang="fr-FR" i="1" dirty="0"/>
            </a:br>
            <a:endParaRPr lang="fr-FR" i="1" dirty="0"/>
          </a:p>
          <a:p>
            <a:pPr marL="285750" indent="-285750">
              <a:buFont typeface="Arial" panose="020B0604020202020204" pitchFamily="34" charset="0"/>
              <a:buChar char="•"/>
            </a:pPr>
            <a:r>
              <a:rPr lang="fr-FR" b="1" dirty="0"/>
              <a:t>Indice de performance logistique – Banque mondiale</a:t>
            </a:r>
            <a:br>
              <a:rPr lang="fr-FR" b="1" dirty="0"/>
            </a:br>
            <a:r>
              <a:rPr lang="fr-FR" i="1" dirty="0"/>
              <a:t>Score global (1 -&gt; 5) mesurant la qualité logistique d’un pays.</a:t>
            </a:r>
            <a:br>
              <a:rPr lang="fr-FR" dirty="0"/>
            </a:br>
            <a:endParaRPr lang="fr-FR" dirty="0"/>
          </a:p>
        </p:txBody>
      </p:sp>
    </p:spTree>
    <p:extLst>
      <p:ext uri="{BB962C8B-B14F-4D97-AF65-F5344CB8AC3E}">
        <p14:creationId xmlns:p14="http://schemas.microsoft.com/office/powerpoint/2010/main" val="418237952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9EF345-8A09-D5BB-8DFF-1935FBFCBB89}"/>
              </a:ext>
            </a:extLst>
          </p:cNvPr>
          <p:cNvSpPr>
            <a:spLocks noGrp="1"/>
          </p:cNvSpPr>
          <p:nvPr>
            <p:ph type="title"/>
          </p:nvPr>
        </p:nvSpPr>
        <p:spPr>
          <a:xfrm>
            <a:off x="429768" y="379306"/>
            <a:ext cx="11218663" cy="772161"/>
          </a:xfrm>
        </p:spPr>
        <p:txBody>
          <a:bodyPr vert="horz" lIns="91440" tIns="45720" rIns="91440" bIns="45720" rtlCol="0" anchor="t">
            <a:noAutofit/>
          </a:bodyPr>
          <a:lstStyle/>
          <a:p>
            <a:pPr algn="ctr"/>
            <a:r>
              <a:rPr lang="en-US" sz="4000" b="0" kern="1200" cap="all" baseline="0" dirty="0">
                <a:latin typeface="+mj-lt"/>
                <a:ea typeface="+mj-ea"/>
                <a:cs typeface="+mj-cs"/>
              </a:rPr>
              <a:t>Préparation des données</a:t>
            </a:r>
          </a:p>
        </p:txBody>
      </p:sp>
      <p:sp>
        <p:nvSpPr>
          <p:cNvPr id="6" name="Espace réservé du numéro de diapositive 5">
            <a:extLst>
              <a:ext uri="{FF2B5EF4-FFF2-40B4-BE49-F238E27FC236}">
                <a16:creationId xmlns:a16="http://schemas.microsoft.com/office/drawing/2014/main" id="{AC5F8CF2-FF1A-3842-5E67-7C205A172532}"/>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6</a:t>
            </a:fld>
            <a:endParaRPr lang="en-US"/>
          </a:p>
        </p:txBody>
      </p:sp>
      <p:graphicFrame>
        <p:nvGraphicFramePr>
          <p:cNvPr id="10" name="Diagramme 9">
            <a:extLst>
              <a:ext uri="{FF2B5EF4-FFF2-40B4-BE49-F238E27FC236}">
                <a16:creationId xmlns:a16="http://schemas.microsoft.com/office/drawing/2014/main" id="{1B41B52C-B481-9CD4-15AA-91BF70EC4C00}"/>
              </a:ext>
            </a:extLst>
          </p:cNvPr>
          <p:cNvGraphicFramePr/>
          <p:nvPr>
            <p:extLst>
              <p:ext uri="{D42A27DB-BD31-4B8C-83A1-F6EECF244321}">
                <p14:modId xmlns:p14="http://schemas.microsoft.com/office/powerpoint/2010/main" val="2128272537"/>
              </p:ext>
            </p:extLst>
          </p:nvPr>
        </p:nvGraphicFramePr>
        <p:xfrm>
          <a:off x="220134" y="819573"/>
          <a:ext cx="11751733" cy="56709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686999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DD5AC7-A606-C96F-7AF6-B21DC3569E4C}"/>
              </a:ext>
            </a:extLst>
          </p:cNvPr>
          <p:cNvSpPr>
            <a:spLocks noGrp="1"/>
          </p:cNvSpPr>
          <p:nvPr>
            <p:ph type="title"/>
          </p:nvPr>
        </p:nvSpPr>
        <p:spPr>
          <a:xfrm>
            <a:off x="342586" y="413031"/>
            <a:ext cx="11506828" cy="851851"/>
          </a:xfrm>
        </p:spPr>
        <p:txBody>
          <a:bodyPr anchor="t">
            <a:normAutofit/>
          </a:bodyPr>
          <a:lstStyle/>
          <a:p>
            <a:pPr algn="ctr"/>
            <a:r>
              <a:rPr lang="fr-FR" sz="4000" dirty="0"/>
              <a:t>DATASET FINAL &amp; INDICATEURS Clés</a:t>
            </a:r>
          </a:p>
        </p:txBody>
      </p:sp>
      <p:sp>
        <p:nvSpPr>
          <p:cNvPr id="6" name="Espace réservé du numéro de diapositive 5">
            <a:extLst>
              <a:ext uri="{FF2B5EF4-FFF2-40B4-BE49-F238E27FC236}">
                <a16:creationId xmlns:a16="http://schemas.microsoft.com/office/drawing/2014/main" id="{48A295A1-DFCC-60B9-1A96-4C7628BBCDBE}"/>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7</a:t>
            </a:fld>
            <a:endParaRPr lang="en-US"/>
          </a:p>
        </p:txBody>
      </p:sp>
      <p:pic>
        <p:nvPicPr>
          <p:cNvPr id="9" name="Image 8">
            <a:extLst>
              <a:ext uri="{FF2B5EF4-FFF2-40B4-BE49-F238E27FC236}">
                <a16:creationId xmlns:a16="http://schemas.microsoft.com/office/drawing/2014/main" id="{91BC08DD-CF29-9D6D-AA89-AA21038B0E23}"/>
              </a:ext>
            </a:extLst>
          </p:cNvPr>
          <p:cNvPicPr>
            <a:picLocks noChangeAspect="1"/>
          </p:cNvPicPr>
          <p:nvPr/>
        </p:nvPicPr>
        <p:blipFill>
          <a:blip r:embed="rId3"/>
          <a:stretch>
            <a:fillRect/>
          </a:stretch>
        </p:blipFill>
        <p:spPr>
          <a:xfrm>
            <a:off x="0" y="1896503"/>
            <a:ext cx="12011025" cy="1981200"/>
          </a:xfrm>
          <a:prstGeom prst="rect">
            <a:avLst/>
          </a:prstGeom>
        </p:spPr>
      </p:pic>
      <p:sp>
        <p:nvSpPr>
          <p:cNvPr id="10" name="ZoneTexte 9">
            <a:extLst>
              <a:ext uri="{FF2B5EF4-FFF2-40B4-BE49-F238E27FC236}">
                <a16:creationId xmlns:a16="http://schemas.microsoft.com/office/drawing/2014/main" id="{9C84BA75-DE58-52E0-628E-7D464ED6DA3D}"/>
              </a:ext>
            </a:extLst>
          </p:cNvPr>
          <p:cNvSpPr txBox="1"/>
          <p:nvPr/>
        </p:nvSpPr>
        <p:spPr>
          <a:xfrm>
            <a:off x="1117600" y="4413644"/>
            <a:ext cx="10731814" cy="2031325"/>
          </a:xfrm>
          <a:prstGeom prst="rect">
            <a:avLst/>
          </a:prstGeom>
          <a:noFill/>
        </p:spPr>
        <p:txBody>
          <a:bodyPr wrap="square" rtlCol="0">
            <a:spAutoFit/>
          </a:bodyPr>
          <a:lstStyle/>
          <a:p>
            <a:pPr algn="ctr"/>
            <a:r>
              <a:rPr lang="fr-FR" i="1" dirty="0"/>
              <a:t>Données fusionnées et filtrées (2017) regroupant pour chaque pays des informations démographiques, économiques, logistiques et sur le marché de la volaille.</a:t>
            </a:r>
          </a:p>
          <a:p>
            <a:pPr algn="ctr"/>
            <a:endParaRPr lang="fr-FR" i="1" dirty="0"/>
          </a:p>
          <a:p>
            <a:r>
              <a:rPr lang="fr-FR" dirty="0"/>
              <a:t>- </a:t>
            </a:r>
            <a:r>
              <a:rPr lang="fr-FR" dirty="0">
                <a:solidFill>
                  <a:srgbClr val="3E7C3E"/>
                </a:solidFill>
              </a:rPr>
              <a:t>Données démographiques et économiques </a:t>
            </a:r>
            <a:r>
              <a:rPr lang="fr-FR" dirty="0"/>
              <a:t>: population, PIB par habitant, croissance du PIB  </a:t>
            </a:r>
          </a:p>
          <a:p>
            <a:r>
              <a:rPr lang="fr-FR" dirty="0"/>
              <a:t>– </a:t>
            </a:r>
            <a:r>
              <a:rPr lang="fr-FR" dirty="0">
                <a:solidFill>
                  <a:srgbClr val="3E7C3E"/>
                </a:solidFill>
              </a:rPr>
              <a:t>Marché de la volaille </a:t>
            </a:r>
            <a:r>
              <a:rPr lang="fr-FR" dirty="0"/>
              <a:t>: disponibilité par habitant, exportations  </a:t>
            </a:r>
          </a:p>
          <a:p>
            <a:r>
              <a:rPr lang="fr-FR" dirty="0"/>
              <a:t>– </a:t>
            </a:r>
            <a:r>
              <a:rPr lang="fr-FR" dirty="0">
                <a:solidFill>
                  <a:srgbClr val="3E7C3E"/>
                </a:solidFill>
              </a:rPr>
              <a:t>Logistique et contexte social </a:t>
            </a:r>
            <a:r>
              <a:rPr lang="fr-FR" dirty="0"/>
              <a:t>: indice logistique, taux d’urbanisation  </a:t>
            </a:r>
          </a:p>
          <a:p>
            <a:r>
              <a:rPr lang="fr-FR" dirty="0"/>
              <a:t>– </a:t>
            </a:r>
            <a:r>
              <a:rPr lang="fr-FR" dirty="0">
                <a:solidFill>
                  <a:srgbClr val="3E7C3E"/>
                </a:solidFill>
              </a:rPr>
              <a:t>Autosuffisance</a:t>
            </a:r>
            <a:r>
              <a:rPr lang="fr-FR" dirty="0"/>
              <a:t> : part de la consommation couverte par la production locale</a:t>
            </a:r>
          </a:p>
        </p:txBody>
      </p:sp>
    </p:spTree>
    <p:extLst>
      <p:ext uri="{BB962C8B-B14F-4D97-AF65-F5344CB8AC3E}">
        <p14:creationId xmlns:p14="http://schemas.microsoft.com/office/powerpoint/2010/main" val="176833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DE8489-74AE-5D55-593C-F6EBFC584590}"/>
              </a:ext>
            </a:extLst>
          </p:cNvPr>
          <p:cNvSpPr>
            <a:spLocks noGrp="1"/>
          </p:cNvSpPr>
          <p:nvPr>
            <p:ph type="title"/>
          </p:nvPr>
        </p:nvSpPr>
        <p:spPr>
          <a:xfrm>
            <a:off x="680550" y="298704"/>
            <a:ext cx="10830899" cy="1072896"/>
          </a:xfrm>
        </p:spPr>
        <p:txBody>
          <a:bodyPr vert="horz" lIns="91440" tIns="45720" rIns="91440" bIns="45720" rtlCol="0" anchor="ctr">
            <a:noAutofit/>
          </a:bodyPr>
          <a:lstStyle/>
          <a:p>
            <a:pPr algn="ctr"/>
            <a:r>
              <a:rPr lang="en-US" sz="4000" b="0" kern="1200" cap="all" baseline="0" dirty="0">
                <a:latin typeface="+mj-lt"/>
                <a:ea typeface="+mj-ea"/>
                <a:cs typeface="+mj-cs"/>
              </a:rPr>
              <a:t>Analyse multivariée des pays</a:t>
            </a:r>
          </a:p>
        </p:txBody>
      </p:sp>
      <p:sp>
        <p:nvSpPr>
          <p:cNvPr id="6" name="Espace réservé du numéro de diapositive 5">
            <a:extLst>
              <a:ext uri="{FF2B5EF4-FFF2-40B4-BE49-F238E27FC236}">
                <a16:creationId xmlns:a16="http://schemas.microsoft.com/office/drawing/2014/main" id="{95EC1B4C-506F-CFD4-A50F-ECB907C0A8B2}"/>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8</a:t>
            </a:fld>
            <a:endParaRPr lang="en-US"/>
          </a:p>
        </p:txBody>
      </p:sp>
      <p:pic>
        <p:nvPicPr>
          <p:cNvPr id="11" name="Graphique 10" descr="Cible avec un remplissage uni">
            <a:extLst>
              <a:ext uri="{FF2B5EF4-FFF2-40B4-BE49-F238E27FC236}">
                <a16:creationId xmlns:a16="http://schemas.microsoft.com/office/drawing/2014/main" id="{2AEA0DB5-608B-0DDE-CB4C-8148A8FC2E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51567" y="2091267"/>
            <a:ext cx="2032000" cy="2032000"/>
          </a:xfrm>
          <a:prstGeom prst="rect">
            <a:avLst/>
          </a:prstGeom>
        </p:spPr>
      </p:pic>
      <p:sp>
        <p:nvSpPr>
          <p:cNvPr id="12" name="ZoneTexte 11">
            <a:extLst>
              <a:ext uri="{FF2B5EF4-FFF2-40B4-BE49-F238E27FC236}">
                <a16:creationId xmlns:a16="http://schemas.microsoft.com/office/drawing/2014/main" id="{3682DE61-4C1B-6083-87A1-7DA8E71DF079}"/>
              </a:ext>
            </a:extLst>
          </p:cNvPr>
          <p:cNvSpPr txBox="1"/>
          <p:nvPr/>
        </p:nvSpPr>
        <p:spPr>
          <a:xfrm>
            <a:off x="1083734" y="4281400"/>
            <a:ext cx="3767666" cy="2031325"/>
          </a:xfrm>
          <a:prstGeom prst="rect">
            <a:avLst/>
          </a:prstGeom>
          <a:noFill/>
        </p:spPr>
        <p:txBody>
          <a:bodyPr wrap="square" rtlCol="0">
            <a:spAutoFit/>
          </a:bodyPr>
          <a:lstStyle/>
          <a:p>
            <a:pPr algn="ctr"/>
            <a:r>
              <a:rPr lang="fr-FR" b="1" dirty="0"/>
              <a:t>Objectif</a:t>
            </a:r>
          </a:p>
          <a:p>
            <a:pPr algn="ctr"/>
            <a:endParaRPr lang="fr-FR" b="1" dirty="0"/>
          </a:p>
          <a:p>
            <a:pPr algn="ctr"/>
            <a:r>
              <a:rPr lang="fr-FR" dirty="0"/>
              <a:t>Comparer les pays sur plusieurs critères (économiques, logistiques, marché de la volaille) afin d’identifier des profils similaires.</a:t>
            </a:r>
          </a:p>
        </p:txBody>
      </p:sp>
      <p:pic>
        <p:nvPicPr>
          <p:cNvPr id="14" name="Graphique 13" descr="Loupe avec un remplissage uni">
            <a:extLst>
              <a:ext uri="{FF2B5EF4-FFF2-40B4-BE49-F238E27FC236}">
                <a16:creationId xmlns:a16="http://schemas.microsoft.com/office/drawing/2014/main" id="{772CDEB6-B909-27CB-579C-387F3C44BA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08435" y="2266696"/>
            <a:ext cx="1856571" cy="1856571"/>
          </a:xfrm>
          <a:prstGeom prst="rect">
            <a:avLst/>
          </a:prstGeom>
        </p:spPr>
      </p:pic>
      <p:sp>
        <p:nvSpPr>
          <p:cNvPr id="15" name="ZoneTexte 14">
            <a:extLst>
              <a:ext uri="{FF2B5EF4-FFF2-40B4-BE49-F238E27FC236}">
                <a16:creationId xmlns:a16="http://schemas.microsoft.com/office/drawing/2014/main" id="{C803A8A0-5016-3841-FA97-E3EBA1E25DFD}"/>
              </a:ext>
            </a:extLst>
          </p:cNvPr>
          <p:cNvSpPr txBox="1"/>
          <p:nvPr/>
        </p:nvSpPr>
        <p:spPr>
          <a:xfrm>
            <a:off x="7340600" y="4281399"/>
            <a:ext cx="3767666" cy="1754326"/>
          </a:xfrm>
          <a:prstGeom prst="rect">
            <a:avLst/>
          </a:prstGeom>
          <a:noFill/>
        </p:spPr>
        <p:txBody>
          <a:bodyPr wrap="square" rtlCol="0">
            <a:spAutoFit/>
          </a:bodyPr>
          <a:lstStyle/>
          <a:p>
            <a:pPr algn="ctr"/>
            <a:r>
              <a:rPr lang="fr-FR" b="1" dirty="0"/>
              <a:t>Méthode</a:t>
            </a:r>
          </a:p>
          <a:p>
            <a:pPr algn="ctr"/>
            <a:endParaRPr lang="fr-FR" b="1" dirty="0"/>
          </a:p>
          <a:p>
            <a:pPr algn="ctr"/>
            <a:r>
              <a:rPr lang="fr-FR" dirty="0"/>
              <a:t>Utiliser des outils d’analyse pour synthétiser les informations et regrouper les pays en segments homogènes.</a:t>
            </a:r>
          </a:p>
        </p:txBody>
      </p:sp>
    </p:spTree>
    <p:extLst>
      <p:ext uri="{BB962C8B-B14F-4D97-AF65-F5344CB8AC3E}">
        <p14:creationId xmlns:p14="http://schemas.microsoft.com/office/powerpoint/2010/main" val="399104286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80D5AE-C5CE-DDC7-CCE6-71519F030A93}"/>
              </a:ext>
            </a:extLst>
          </p:cNvPr>
          <p:cNvSpPr>
            <a:spLocks noGrp="1"/>
          </p:cNvSpPr>
          <p:nvPr>
            <p:ph type="title"/>
          </p:nvPr>
        </p:nvSpPr>
        <p:spPr>
          <a:xfrm>
            <a:off x="735076" y="229222"/>
            <a:ext cx="10721848" cy="1527048"/>
          </a:xfrm>
        </p:spPr>
        <p:txBody>
          <a:bodyPr vert="horz" lIns="91440" tIns="45720" rIns="91440" bIns="45720" rtlCol="0" anchor="ctr">
            <a:normAutofit fontScale="90000"/>
          </a:bodyPr>
          <a:lstStyle/>
          <a:p>
            <a:pPr algn="ctr"/>
            <a:r>
              <a:rPr lang="en-US" sz="4000" dirty="0"/>
              <a:t>Analyse en composantes principales</a:t>
            </a:r>
            <a:br>
              <a:rPr lang="en-US" sz="4000" dirty="0"/>
            </a:br>
            <a:r>
              <a:rPr lang="en-US" sz="4000" dirty="0"/>
              <a:t>(acp)</a:t>
            </a:r>
            <a:endParaRPr lang="en-US" sz="4000" b="0" kern="1200" cap="all" baseline="0" dirty="0">
              <a:latin typeface="+mj-lt"/>
              <a:ea typeface="+mj-ea"/>
              <a:cs typeface="+mj-cs"/>
            </a:endParaRPr>
          </a:p>
        </p:txBody>
      </p:sp>
      <p:sp>
        <p:nvSpPr>
          <p:cNvPr id="6" name="Espace réservé du numéro de diapositive 5">
            <a:extLst>
              <a:ext uri="{FF2B5EF4-FFF2-40B4-BE49-F238E27FC236}">
                <a16:creationId xmlns:a16="http://schemas.microsoft.com/office/drawing/2014/main" id="{B9F06796-3D42-6EDF-B81F-EDA8AF21CAC9}"/>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9</a:t>
            </a:fld>
            <a:endParaRPr lang="en-US"/>
          </a:p>
        </p:txBody>
      </p:sp>
      <p:sp>
        <p:nvSpPr>
          <p:cNvPr id="10" name="ZoneTexte 9">
            <a:extLst>
              <a:ext uri="{FF2B5EF4-FFF2-40B4-BE49-F238E27FC236}">
                <a16:creationId xmlns:a16="http://schemas.microsoft.com/office/drawing/2014/main" id="{CCD26E71-4B26-C2D2-4BEC-7F4FD27A9A46}"/>
              </a:ext>
            </a:extLst>
          </p:cNvPr>
          <p:cNvSpPr txBox="1"/>
          <p:nvPr/>
        </p:nvSpPr>
        <p:spPr>
          <a:xfrm>
            <a:off x="735076" y="2387599"/>
            <a:ext cx="7680791" cy="523220"/>
          </a:xfrm>
          <a:prstGeom prst="rect">
            <a:avLst/>
          </a:prstGeom>
          <a:noFill/>
        </p:spPr>
        <p:txBody>
          <a:bodyPr wrap="square" rtlCol="0">
            <a:spAutoFit/>
          </a:bodyPr>
          <a:lstStyle/>
          <a:p>
            <a:pPr marL="285750" indent="-285750">
              <a:buFont typeface="Arial" panose="020B0604020202020204" pitchFamily="34" charset="0"/>
              <a:buChar char="•"/>
            </a:pPr>
            <a:r>
              <a:rPr lang="fr-FR" sz="2800" b="1" dirty="0">
                <a:solidFill>
                  <a:srgbClr val="3E7C3E"/>
                </a:solidFill>
              </a:rPr>
              <a:t>Pourquoi l’ACP ?</a:t>
            </a:r>
          </a:p>
        </p:txBody>
      </p:sp>
      <p:pic>
        <p:nvPicPr>
          <p:cNvPr id="12" name="Graphique 11" descr="Lumières allumées avec un remplissage uni">
            <a:extLst>
              <a:ext uri="{FF2B5EF4-FFF2-40B4-BE49-F238E27FC236}">
                <a16:creationId xmlns:a16="http://schemas.microsoft.com/office/drawing/2014/main" id="{D3FB5E76-D9D9-0FC4-A0B3-6F0280E826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59000" y="3303715"/>
            <a:ext cx="1286934" cy="1286934"/>
          </a:xfrm>
          <a:prstGeom prst="rect">
            <a:avLst/>
          </a:prstGeom>
        </p:spPr>
      </p:pic>
      <p:sp>
        <p:nvSpPr>
          <p:cNvPr id="13" name="ZoneTexte 12">
            <a:extLst>
              <a:ext uri="{FF2B5EF4-FFF2-40B4-BE49-F238E27FC236}">
                <a16:creationId xmlns:a16="http://schemas.microsoft.com/office/drawing/2014/main" id="{C20C4FF8-63E6-16FE-1DFD-1BE20F7606A4}"/>
              </a:ext>
            </a:extLst>
          </p:cNvPr>
          <p:cNvSpPr txBox="1"/>
          <p:nvPr/>
        </p:nvSpPr>
        <p:spPr>
          <a:xfrm>
            <a:off x="863600" y="4967581"/>
            <a:ext cx="3877734" cy="1477328"/>
          </a:xfrm>
          <a:prstGeom prst="rect">
            <a:avLst/>
          </a:prstGeom>
          <a:noFill/>
        </p:spPr>
        <p:txBody>
          <a:bodyPr wrap="square" rtlCol="0">
            <a:spAutoFit/>
          </a:bodyPr>
          <a:lstStyle/>
          <a:p>
            <a:pPr algn="ctr"/>
            <a:r>
              <a:rPr lang="fr-FR" b="1" dirty="0"/>
              <a:t>L’idée </a:t>
            </a:r>
          </a:p>
          <a:p>
            <a:pPr algn="ctr"/>
            <a:endParaRPr lang="fr-FR" b="1" dirty="0"/>
          </a:p>
          <a:p>
            <a:pPr algn="ctr"/>
            <a:r>
              <a:rPr lang="fr-FR" dirty="0"/>
              <a:t>Nous avons de nombreux indicateurs par pays (économie, logistique, marché de la volaille).</a:t>
            </a:r>
          </a:p>
        </p:txBody>
      </p:sp>
      <p:sp>
        <p:nvSpPr>
          <p:cNvPr id="24" name="ZoneTexte 23">
            <a:extLst>
              <a:ext uri="{FF2B5EF4-FFF2-40B4-BE49-F238E27FC236}">
                <a16:creationId xmlns:a16="http://schemas.microsoft.com/office/drawing/2014/main" id="{856AE47B-4361-709B-13E2-AE1AD185E778}"/>
              </a:ext>
            </a:extLst>
          </p:cNvPr>
          <p:cNvSpPr txBox="1"/>
          <p:nvPr/>
        </p:nvSpPr>
        <p:spPr>
          <a:xfrm>
            <a:off x="6714918" y="4956762"/>
            <a:ext cx="4993631" cy="1477328"/>
          </a:xfrm>
          <a:prstGeom prst="rect">
            <a:avLst/>
          </a:prstGeom>
          <a:noFill/>
        </p:spPr>
        <p:txBody>
          <a:bodyPr wrap="square" rtlCol="0">
            <a:spAutoFit/>
          </a:bodyPr>
          <a:lstStyle/>
          <a:p>
            <a:pPr algn="ctr"/>
            <a:r>
              <a:rPr lang="fr-FR" b="1" dirty="0"/>
              <a:t>But</a:t>
            </a:r>
          </a:p>
          <a:p>
            <a:pPr algn="ctr"/>
            <a:endParaRPr lang="fr-FR" b="1" dirty="0"/>
          </a:p>
          <a:p>
            <a:pPr algn="ctr"/>
            <a:r>
              <a:rPr lang="fr-FR" dirty="0"/>
              <a:t>Synthétiser ces informations en quelques axes visuels pour comparer les pays plus facilement et repérer des similitudes.</a:t>
            </a:r>
          </a:p>
        </p:txBody>
      </p:sp>
      <p:pic>
        <p:nvPicPr>
          <p:cNvPr id="26" name="Graphique 25" descr="Nuage de points contour">
            <a:extLst>
              <a:ext uri="{FF2B5EF4-FFF2-40B4-BE49-F238E27FC236}">
                <a16:creationId xmlns:a16="http://schemas.microsoft.com/office/drawing/2014/main" id="{5F7EF5EF-1C94-E847-DA32-B2084E17CB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68267" y="3303715"/>
            <a:ext cx="1286934" cy="1286934"/>
          </a:xfrm>
          <a:prstGeom prst="rect">
            <a:avLst/>
          </a:prstGeom>
        </p:spPr>
      </p:pic>
    </p:spTree>
    <p:extLst>
      <p:ext uri="{BB962C8B-B14F-4D97-AF65-F5344CB8AC3E}">
        <p14:creationId xmlns:p14="http://schemas.microsoft.com/office/powerpoint/2010/main" val="5829190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32DC2-106D-8816-20BA-81812E517368}"/>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8790534-D067-B879-AC82-1FC6D681CB12}"/>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10</a:t>
            </a:fld>
            <a:endParaRPr lang="en-US"/>
          </a:p>
        </p:txBody>
      </p:sp>
      <p:sp>
        <p:nvSpPr>
          <p:cNvPr id="10" name="ZoneTexte 9">
            <a:extLst>
              <a:ext uri="{FF2B5EF4-FFF2-40B4-BE49-F238E27FC236}">
                <a16:creationId xmlns:a16="http://schemas.microsoft.com/office/drawing/2014/main" id="{E6F8EBCA-386A-99B2-C9E9-C3F7205C1300}"/>
              </a:ext>
            </a:extLst>
          </p:cNvPr>
          <p:cNvSpPr txBox="1"/>
          <p:nvPr/>
        </p:nvSpPr>
        <p:spPr>
          <a:xfrm>
            <a:off x="863600" y="609599"/>
            <a:ext cx="7680791" cy="523220"/>
          </a:xfrm>
          <a:prstGeom prst="rect">
            <a:avLst/>
          </a:prstGeom>
          <a:noFill/>
        </p:spPr>
        <p:txBody>
          <a:bodyPr wrap="square" rtlCol="0">
            <a:spAutoFit/>
          </a:bodyPr>
          <a:lstStyle/>
          <a:p>
            <a:pPr marL="285750" indent="-285750">
              <a:buFont typeface="Arial" panose="020B0604020202020204" pitchFamily="34" charset="0"/>
              <a:buChar char="•"/>
            </a:pPr>
            <a:r>
              <a:rPr lang="fr-FR" sz="2800" b="1" dirty="0">
                <a:solidFill>
                  <a:srgbClr val="3E7C3E"/>
                </a:solidFill>
              </a:rPr>
              <a:t>Comment ça marche ?</a:t>
            </a:r>
          </a:p>
        </p:txBody>
      </p:sp>
      <p:pic>
        <p:nvPicPr>
          <p:cNvPr id="5" name="Image 4">
            <a:extLst>
              <a:ext uri="{FF2B5EF4-FFF2-40B4-BE49-F238E27FC236}">
                <a16:creationId xmlns:a16="http://schemas.microsoft.com/office/drawing/2014/main" id="{33F216CC-06F3-49C1-4170-A3301CCFC39D}"/>
              </a:ext>
            </a:extLst>
          </p:cNvPr>
          <p:cNvPicPr>
            <a:picLocks noChangeAspect="1"/>
          </p:cNvPicPr>
          <p:nvPr/>
        </p:nvPicPr>
        <p:blipFill>
          <a:blip r:embed="rId3"/>
          <a:stretch>
            <a:fillRect/>
          </a:stretch>
        </p:blipFill>
        <p:spPr>
          <a:xfrm>
            <a:off x="5454461" y="1061510"/>
            <a:ext cx="6422570" cy="5186891"/>
          </a:xfrm>
          <a:prstGeom prst="rect">
            <a:avLst/>
          </a:prstGeom>
        </p:spPr>
      </p:pic>
      <p:sp>
        <p:nvSpPr>
          <p:cNvPr id="7" name="ZoneTexte 6">
            <a:extLst>
              <a:ext uri="{FF2B5EF4-FFF2-40B4-BE49-F238E27FC236}">
                <a16:creationId xmlns:a16="http://schemas.microsoft.com/office/drawing/2014/main" id="{20CA7E4F-2C7B-DC53-5CCB-A36D1064D21E}"/>
              </a:ext>
            </a:extLst>
          </p:cNvPr>
          <p:cNvSpPr txBox="1"/>
          <p:nvPr/>
        </p:nvSpPr>
        <p:spPr>
          <a:xfrm>
            <a:off x="423333" y="1879605"/>
            <a:ext cx="4893734" cy="3693319"/>
          </a:xfrm>
          <a:prstGeom prst="rect">
            <a:avLst/>
          </a:prstGeom>
          <a:noFill/>
        </p:spPr>
        <p:txBody>
          <a:bodyPr wrap="square" rtlCol="0">
            <a:spAutoFit/>
          </a:bodyPr>
          <a:lstStyle/>
          <a:p>
            <a:r>
              <a:rPr lang="fr-FR" b="1" dirty="0"/>
              <a:t>Principe</a:t>
            </a:r>
          </a:p>
          <a:p>
            <a:endParaRPr lang="fr-FR" b="1" dirty="0"/>
          </a:p>
          <a:p>
            <a:r>
              <a:rPr lang="fr-FR" dirty="0"/>
              <a:t>Chaque pays est représenté par un point en fonction de ses indicateurs.</a:t>
            </a:r>
            <a:br>
              <a:rPr lang="fr-FR" dirty="0"/>
            </a:br>
            <a:r>
              <a:rPr lang="fr-FR" dirty="0"/>
              <a:t>L’ACP crée de nouveaux axes qui résument l’essentiel des différences entre pays.</a:t>
            </a:r>
          </a:p>
          <a:p>
            <a:endParaRPr lang="fr-FR" b="1" dirty="0"/>
          </a:p>
          <a:p>
            <a:r>
              <a:rPr lang="fr-FR" b="1" dirty="0"/>
              <a:t>Lecture</a:t>
            </a:r>
          </a:p>
          <a:p>
            <a:endParaRPr lang="fr-FR" b="1" dirty="0"/>
          </a:p>
          <a:p>
            <a:r>
              <a:rPr lang="fr-FR" dirty="0"/>
              <a:t>Plus deux points sont proches, plus leurs caractéristiques sont semblables.</a:t>
            </a:r>
            <a:br>
              <a:rPr lang="fr-FR" dirty="0"/>
            </a:br>
            <a:r>
              <a:rPr lang="fr-FR" dirty="0"/>
              <a:t>Les deux premiers axes suffisent souvent à visualiser la majorité de l’information.</a:t>
            </a:r>
            <a:r>
              <a:rPr lang="fr-FR" b="1" dirty="0"/>
              <a:t> </a:t>
            </a:r>
          </a:p>
        </p:txBody>
      </p:sp>
      <p:sp>
        <p:nvSpPr>
          <p:cNvPr id="8" name="ZoneTexte 7">
            <a:extLst>
              <a:ext uri="{FF2B5EF4-FFF2-40B4-BE49-F238E27FC236}">
                <a16:creationId xmlns:a16="http://schemas.microsoft.com/office/drawing/2014/main" id="{F312F8A1-12B6-52DA-A6E4-F2E59C5D20D1}"/>
              </a:ext>
            </a:extLst>
          </p:cNvPr>
          <p:cNvSpPr txBox="1"/>
          <p:nvPr/>
        </p:nvSpPr>
        <p:spPr>
          <a:xfrm>
            <a:off x="6248400" y="6248401"/>
            <a:ext cx="5266267" cy="461665"/>
          </a:xfrm>
          <a:prstGeom prst="rect">
            <a:avLst/>
          </a:prstGeom>
          <a:noFill/>
        </p:spPr>
        <p:txBody>
          <a:bodyPr wrap="square" rtlCol="0">
            <a:spAutoFit/>
          </a:bodyPr>
          <a:lstStyle/>
          <a:p>
            <a:pPr algn="ctr"/>
            <a:r>
              <a:rPr lang="fr-FR" sz="1200" i="1" dirty="0"/>
              <a:t>Chaque point représente un pays. Les pays proches partagent des caractéristiques similaires.</a:t>
            </a:r>
          </a:p>
        </p:txBody>
      </p:sp>
    </p:spTree>
    <p:extLst>
      <p:ext uri="{BB962C8B-B14F-4D97-AF65-F5344CB8AC3E}">
        <p14:creationId xmlns:p14="http://schemas.microsoft.com/office/powerpoint/2010/main" val="23318064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B4378-CAA0-9879-58B7-047B9CBC7981}"/>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894D6855-4B9C-3081-072F-0939EC0C76AB}"/>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11</a:t>
            </a:fld>
            <a:endParaRPr lang="en-US"/>
          </a:p>
        </p:txBody>
      </p:sp>
      <p:sp>
        <p:nvSpPr>
          <p:cNvPr id="10" name="ZoneTexte 9">
            <a:extLst>
              <a:ext uri="{FF2B5EF4-FFF2-40B4-BE49-F238E27FC236}">
                <a16:creationId xmlns:a16="http://schemas.microsoft.com/office/drawing/2014/main" id="{222D9768-B8B3-351D-8C65-BFF24B22BDD9}"/>
              </a:ext>
            </a:extLst>
          </p:cNvPr>
          <p:cNvSpPr txBox="1"/>
          <p:nvPr/>
        </p:nvSpPr>
        <p:spPr>
          <a:xfrm>
            <a:off x="863600" y="609599"/>
            <a:ext cx="7680791" cy="523220"/>
          </a:xfrm>
          <a:prstGeom prst="rect">
            <a:avLst/>
          </a:prstGeom>
          <a:noFill/>
        </p:spPr>
        <p:txBody>
          <a:bodyPr wrap="square" rtlCol="0">
            <a:spAutoFit/>
          </a:bodyPr>
          <a:lstStyle/>
          <a:p>
            <a:pPr marL="285750" indent="-285750">
              <a:buFont typeface="Arial" panose="020B0604020202020204" pitchFamily="34" charset="0"/>
              <a:buChar char="•"/>
            </a:pPr>
            <a:r>
              <a:rPr lang="fr-FR" sz="2800" b="1" dirty="0">
                <a:solidFill>
                  <a:srgbClr val="3E7C3E"/>
                </a:solidFill>
              </a:rPr>
              <a:t>Résultats de l’ACP</a:t>
            </a:r>
          </a:p>
        </p:txBody>
      </p:sp>
      <p:sp>
        <p:nvSpPr>
          <p:cNvPr id="7" name="ZoneTexte 6">
            <a:extLst>
              <a:ext uri="{FF2B5EF4-FFF2-40B4-BE49-F238E27FC236}">
                <a16:creationId xmlns:a16="http://schemas.microsoft.com/office/drawing/2014/main" id="{E893BB8A-511B-4FFA-0F21-29E0598211E4}"/>
              </a:ext>
            </a:extLst>
          </p:cNvPr>
          <p:cNvSpPr txBox="1"/>
          <p:nvPr/>
        </p:nvSpPr>
        <p:spPr>
          <a:xfrm>
            <a:off x="281127" y="1490428"/>
            <a:ext cx="4893734" cy="4524315"/>
          </a:xfrm>
          <a:prstGeom prst="rect">
            <a:avLst/>
          </a:prstGeom>
          <a:noFill/>
        </p:spPr>
        <p:txBody>
          <a:bodyPr wrap="square" rtlCol="0">
            <a:spAutoFit/>
          </a:bodyPr>
          <a:lstStyle/>
          <a:p>
            <a:r>
              <a:rPr lang="fr-FR" b="1" dirty="0"/>
              <a:t>Principaux enseignements</a:t>
            </a:r>
          </a:p>
          <a:p>
            <a:endParaRPr lang="fr-FR" b="1" dirty="0"/>
          </a:p>
          <a:p>
            <a:endParaRPr lang="fr-FR" b="1" dirty="0"/>
          </a:p>
          <a:p>
            <a:r>
              <a:rPr lang="fr-FR" dirty="0"/>
              <a:t>Les deux premiers axes résument l’essentiel de l’information sur les pays.</a:t>
            </a:r>
          </a:p>
          <a:p>
            <a:r>
              <a:rPr lang="fr-FR" dirty="0"/>
              <a:t>La projection met en évidence des regroupements naturels de pays selon leurs caractéristiques économiques, logistiques et de marché de la volaille.</a:t>
            </a:r>
          </a:p>
          <a:p>
            <a:r>
              <a:rPr lang="fr-FR" dirty="0"/>
              <a:t>Ces regroupements serviront de base pour segmenter les pays en profils homogènes.</a:t>
            </a:r>
          </a:p>
          <a:p>
            <a:endParaRPr lang="fr-FR" dirty="0"/>
          </a:p>
          <a:p>
            <a:r>
              <a:rPr lang="fr-FR" dirty="0"/>
              <a:t>Les couleurs illustrent le résultat du regroupement automatique (clusters) : chaque couleur correspond à un profil type de pays.</a:t>
            </a:r>
          </a:p>
        </p:txBody>
      </p:sp>
      <p:pic>
        <p:nvPicPr>
          <p:cNvPr id="3" name="Image 2">
            <a:extLst>
              <a:ext uri="{FF2B5EF4-FFF2-40B4-BE49-F238E27FC236}">
                <a16:creationId xmlns:a16="http://schemas.microsoft.com/office/drawing/2014/main" id="{8A335DB3-88D2-A1D0-D2DC-B29431BF53B2}"/>
              </a:ext>
            </a:extLst>
          </p:cNvPr>
          <p:cNvPicPr>
            <a:picLocks noChangeAspect="1"/>
          </p:cNvPicPr>
          <p:nvPr/>
        </p:nvPicPr>
        <p:blipFill>
          <a:blip r:embed="rId3"/>
          <a:stretch>
            <a:fillRect/>
          </a:stretch>
        </p:blipFill>
        <p:spPr>
          <a:xfrm>
            <a:off x="5181600" y="1256772"/>
            <a:ext cx="6729273" cy="4991629"/>
          </a:xfrm>
          <a:prstGeom prst="rect">
            <a:avLst/>
          </a:prstGeom>
        </p:spPr>
      </p:pic>
      <p:sp>
        <p:nvSpPr>
          <p:cNvPr id="4" name="ZoneTexte 3">
            <a:extLst>
              <a:ext uri="{FF2B5EF4-FFF2-40B4-BE49-F238E27FC236}">
                <a16:creationId xmlns:a16="http://schemas.microsoft.com/office/drawing/2014/main" id="{BA6924F8-6405-1AB0-EF4B-DD559877655D}"/>
              </a:ext>
            </a:extLst>
          </p:cNvPr>
          <p:cNvSpPr txBox="1"/>
          <p:nvPr/>
        </p:nvSpPr>
        <p:spPr>
          <a:xfrm>
            <a:off x="5723467" y="825464"/>
            <a:ext cx="6187406" cy="369332"/>
          </a:xfrm>
          <a:prstGeom prst="rect">
            <a:avLst/>
          </a:prstGeom>
          <a:noFill/>
        </p:spPr>
        <p:txBody>
          <a:bodyPr wrap="square" rtlCol="0">
            <a:spAutoFit/>
          </a:bodyPr>
          <a:lstStyle/>
          <a:p>
            <a:r>
              <a:rPr lang="fr-FR" dirty="0"/>
              <a:t>Carte des pays sur les 2 axes ACP – couleurs = clusters</a:t>
            </a:r>
          </a:p>
        </p:txBody>
      </p:sp>
    </p:spTree>
    <p:extLst>
      <p:ext uri="{BB962C8B-B14F-4D97-AF65-F5344CB8AC3E}">
        <p14:creationId xmlns:p14="http://schemas.microsoft.com/office/powerpoint/2010/main" val="75950740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A64F1E-5181-91F3-69A3-98EF6C78EF0A}"/>
              </a:ext>
            </a:extLst>
          </p:cNvPr>
          <p:cNvSpPr>
            <a:spLocks noGrp="1"/>
          </p:cNvSpPr>
          <p:nvPr>
            <p:ph type="title"/>
          </p:nvPr>
        </p:nvSpPr>
        <p:spPr>
          <a:xfrm>
            <a:off x="401150" y="267363"/>
            <a:ext cx="11389699" cy="903563"/>
          </a:xfrm>
        </p:spPr>
        <p:txBody>
          <a:bodyPr vert="horz" lIns="91440" tIns="45720" rIns="91440" bIns="45720" rtlCol="0" anchor="ctr">
            <a:noAutofit/>
          </a:bodyPr>
          <a:lstStyle/>
          <a:p>
            <a:pPr algn="ctr"/>
            <a:r>
              <a:rPr lang="en-US" sz="4000" b="0" kern="1200" cap="all" baseline="0" dirty="0">
                <a:latin typeface="+mj-lt"/>
                <a:ea typeface="+mj-ea"/>
                <a:cs typeface="+mj-cs"/>
              </a:rPr>
              <a:t>Segmentation et profil</a:t>
            </a:r>
            <a:r>
              <a:rPr lang="en-US" sz="4000" dirty="0"/>
              <a:t>s types</a:t>
            </a:r>
            <a:endParaRPr lang="en-US" sz="4000" b="0" kern="1200" cap="all" baseline="0" dirty="0">
              <a:latin typeface="+mj-lt"/>
              <a:ea typeface="+mj-ea"/>
              <a:cs typeface="+mj-cs"/>
            </a:endParaRPr>
          </a:p>
        </p:txBody>
      </p:sp>
      <p:sp>
        <p:nvSpPr>
          <p:cNvPr id="6" name="Espace réservé du numéro de diapositive 5">
            <a:extLst>
              <a:ext uri="{FF2B5EF4-FFF2-40B4-BE49-F238E27FC236}">
                <a16:creationId xmlns:a16="http://schemas.microsoft.com/office/drawing/2014/main" id="{3F10C51C-8719-499F-7C23-2CD76A6A71FD}"/>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12</a:t>
            </a:fld>
            <a:endParaRPr lang="en-US"/>
          </a:p>
        </p:txBody>
      </p:sp>
      <p:sp>
        <p:nvSpPr>
          <p:cNvPr id="10" name="ZoneTexte 9">
            <a:extLst>
              <a:ext uri="{FF2B5EF4-FFF2-40B4-BE49-F238E27FC236}">
                <a16:creationId xmlns:a16="http://schemas.microsoft.com/office/drawing/2014/main" id="{09608003-DA6C-5536-074D-32C06984A500}"/>
              </a:ext>
            </a:extLst>
          </p:cNvPr>
          <p:cNvSpPr txBox="1"/>
          <p:nvPr/>
        </p:nvSpPr>
        <p:spPr>
          <a:xfrm>
            <a:off x="401150" y="1439333"/>
            <a:ext cx="5694850" cy="954107"/>
          </a:xfrm>
          <a:prstGeom prst="rect">
            <a:avLst/>
          </a:prstGeom>
          <a:noFill/>
        </p:spPr>
        <p:txBody>
          <a:bodyPr wrap="square" rtlCol="0">
            <a:spAutoFit/>
          </a:bodyPr>
          <a:lstStyle/>
          <a:p>
            <a:pPr marL="285750" indent="-285750">
              <a:buFont typeface="Arial" panose="020B0604020202020204" pitchFamily="34" charset="0"/>
              <a:buChar char="•"/>
            </a:pPr>
            <a:r>
              <a:rPr lang="fr-FR" sz="2800" b="1" dirty="0">
                <a:solidFill>
                  <a:srgbClr val="3E7C3E"/>
                </a:solidFill>
              </a:rPr>
              <a:t>Regroupement hiérarchique des pays</a:t>
            </a:r>
          </a:p>
        </p:txBody>
      </p:sp>
      <p:pic>
        <p:nvPicPr>
          <p:cNvPr id="11" name="Image 10">
            <a:extLst>
              <a:ext uri="{FF2B5EF4-FFF2-40B4-BE49-F238E27FC236}">
                <a16:creationId xmlns:a16="http://schemas.microsoft.com/office/drawing/2014/main" id="{0087681D-6894-CE73-5E07-80F55A30EF47}"/>
              </a:ext>
            </a:extLst>
          </p:cNvPr>
          <p:cNvPicPr>
            <a:picLocks noChangeAspect="1"/>
          </p:cNvPicPr>
          <p:nvPr/>
        </p:nvPicPr>
        <p:blipFill>
          <a:blip r:embed="rId3"/>
          <a:stretch>
            <a:fillRect/>
          </a:stretch>
        </p:blipFill>
        <p:spPr>
          <a:xfrm>
            <a:off x="4526865" y="2184197"/>
            <a:ext cx="7511033" cy="3727089"/>
          </a:xfrm>
          <a:prstGeom prst="rect">
            <a:avLst/>
          </a:prstGeom>
        </p:spPr>
      </p:pic>
      <p:sp>
        <p:nvSpPr>
          <p:cNvPr id="12" name="ZoneTexte 11">
            <a:extLst>
              <a:ext uri="{FF2B5EF4-FFF2-40B4-BE49-F238E27FC236}">
                <a16:creationId xmlns:a16="http://schemas.microsoft.com/office/drawing/2014/main" id="{5F4C94A2-FFE2-5EE9-6EF8-8E5E76B860C2}"/>
              </a:ext>
            </a:extLst>
          </p:cNvPr>
          <p:cNvSpPr txBox="1"/>
          <p:nvPr/>
        </p:nvSpPr>
        <p:spPr>
          <a:xfrm>
            <a:off x="401150" y="2755079"/>
            <a:ext cx="3713650" cy="2585323"/>
          </a:xfrm>
          <a:prstGeom prst="rect">
            <a:avLst/>
          </a:prstGeom>
          <a:noFill/>
        </p:spPr>
        <p:txBody>
          <a:bodyPr wrap="square" rtlCol="0">
            <a:spAutoFit/>
          </a:bodyPr>
          <a:lstStyle/>
          <a:p>
            <a:r>
              <a:rPr lang="fr-FR" dirty="0"/>
              <a:t>La classification hiérarchique montre comment les pays se regroupent progressivement en fonction de leurs caractéristiques.</a:t>
            </a:r>
          </a:p>
          <a:p>
            <a:endParaRPr lang="fr-FR" dirty="0"/>
          </a:p>
          <a:p>
            <a:r>
              <a:rPr lang="fr-FR" dirty="0"/>
              <a:t>En observant le dendrogramme, nous avons identifié </a:t>
            </a:r>
            <a:r>
              <a:rPr lang="fr-FR" b="1" dirty="0"/>
              <a:t>4 groupes distincts</a:t>
            </a:r>
            <a:r>
              <a:rPr lang="fr-FR" dirty="0"/>
              <a:t>.</a:t>
            </a:r>
          </a:p>
        </p:txBody>
      </p:sp>
    </p:spTree>
    <p:extLst>
      <p:ext uri="{BB962C8B-B14F-4D97-AF65-F5344CB8AC3E}">
        <p14:creationId xmlns:p14="http://schemas.microsoft.com/office/powerpoint/2010/main" val="155974787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3A45-12AC-7A54-0FDC-D9D091897E37}"/>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786FD67E-01D3-8BB9-2F99-EB3E6A405C8F}"/>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13</a:t>
            </a:fld>
            <a:endParaRPr lang="en-US"/>
          </a:p>
        </p:txBody>
      </p:sp>
      <p:sp>
        <p:nvSpPr>
          <p:cNvPr id="10" name="ZoneTexte 9">
            <a:extLst>
              <a:ext uri="{FF2B5EF4-FFF2-40B4-BE49-F238E27FC236}">
                <a16:creationId xmlns:a16="http://schemas.microsoft.com/office/drawing/2014/main" id="{391D3494-1498-219B-CFB9-72FFF4C782EB}"/>
              </a:ext>
            </a:extLst>
          </p:cNvPr>
          <p:cNvSpPr txBox="1"/>
          <p:nvPr/>
        </p:nvSpPr>
        <p:spPr>
          <a:xfrm>
            <a:off x="401150" y="423494"/>
            <a:ext cx="5694850" cy="523220"/>
          </a:xfrm>
          <a:prstGeom prst="rect">
            <a:avLst/>
          </a:prstGeom>
          <a:noFill/>
        </p:spPr>
        <p:txBody>
          <a:bodyPr wrap="square" rtlCol="0">
            <a:spAutoFit/>
          </a:bodyPr>
          <a:lstStyle/>
          <a:p>
            <a:pPr marL="285750" indent="-285750">
              <a:buFont typeface="Arial" panose="020B0604020202020204" pitchFamily="34" charset="0"/>
              <a:buChar char="•"/>
            </a:pPr>
            <a:r>
              <a:rPr lang="fr-FR" sz="2800" b="1" dirty="0">
                <a:solidFill>
                  <a:srgbClr val="3E7C3E"/>
                </a:solidFill>
              </a:rPr>
              <a:t>Méthode K-</a:t>
            </a:r>
            <a:r>
              <a:rPr lang="fr-FR" sz="2800" b="1" dirty="0" err="1">
                <a:solidFill>
                  <a:srgbClr val="3E7C3E"/>
                </a:solidFill>
              </a:rPr>
              <a:t>means</a:t>
            </a:r>
            <a:endParaRPr lang="fr-FR" sz="2800" b="1" dirty="0">
              <a:solidFill>
                <a:srgbClr val="3E7C3E"/>
              </a:solidFill>
            </a:endParaRPr>
          </a:p>
        </p:txBody>
      </p:sp>
      <p:pic>
        <p:nvPicPr>
          <p:cNvPr id="5" name="Image 4">
            <a:extLst>
              <a:ext uri="{FF2B5EF4-FFF2-40B4-BE49-F238E27FC236}">
                <a16:creationId xmlns:a16="http://schemas.microsoft.com/office/drawing/2014/main" id="{743F54AA-45DC-01CB-9761-D3608AE6179A}"/>
              </a:ext>
            </a:extLst>
          </p:cNvPr>
          <p:cNvPicPr>
            <a:picLocks noChangeAspect="1"/>
          </p:cNvPicPr>
          <p:nvPr/>
        </p:nvPicPr>
        <p:blipFill>
          <a:blip r:embed="rId3"/>
          <a:stretch>
            <a:fillRect/>
          </a:stretch>
        </p:blipFill>
        <p:spPr>
          <a:xfrm>
            <a:off x="5866300" y="1668720"/>
            <a:ext cx="5924550" cy="3743325"/>
          </a:xfrm>
          <a:prstGeom prst="rect">
            <a:avLst/>
          </a:prstGeom>
        </p:spPr>
      </p:pic>
      <p:sp>
        <p:nvSpPr>
          <p:cNvPr id="7" name="ZoneTexte 6">
            <a:extLst>
              <a:ext uri="{FF2B5EF4-FFF2-40B4-BE49-F238E27FC236}">
                <a16:creationId xmlns:a16="http://schemas.microsoft.com/office/drawing/2014/main" id="{9EDE7088-63CF-35CA-A870-F5E8F79924BC}"/>
              </a:ext>
            </a:extLst>
          </p:cNvPr>
          <p:cNvSpPr txBox="1"/>
          <p:nvPr/>
        </p:nvSpPr>
        <p:spPr>
          <a:xfrm>
            <a:off x="401150" y="1219200"/>
            <a:ext cx="5283200" cy="5355312"/>
          </a:xfrm>
          <a:prstGeom prst="rect">
            <a:avLst/>
          </a:prstGeom>
          <a:noFill/>
        </p:spPr>
        <p:txBody>
          <a:bodyPr wrap="square" rtlCol="0">
            <a:spAutoFit/>
          </a:bodyPr>
          <a:lstStyle/>
          <a:p>
            <a:r>
              <a:rPr lang="fr-FR" b="1" dirty="0"/>
              <a:t>Qu’est-ce que c’est ?</a:t>
            </a:r>
          </a:p>
          <a:p>
            <a:br>
              <a:rPr lang="fr-FR" dirty="0"/>
            </a:br>
            <a:r>
              <a:rPr lang="fr-FR" dirty="0"/>
              <a:t>K-</a:t>
            </a:r>
            <a:r>
              <a:rPr lang="fr-FR" dirty="0" err="1"/>
              <a:t>Means</a:t>
            </a:r>
            <a:r>
              <a:rPr lang="fr-FR" dirty="0"/>
              <a:t> est un algorithme qui regroupe automatiquement les pays en un nombre choisi de groupes (clusters) de manière que les pays d’un même groupe se ressemblent le plus possible.</a:t>
            </a:r>
          </a:p>
          <a:p>
            <a:endParaRPr lang="fr-FR" dirty="0"/>
          </a:p>
          <a:p>
            <a:r>
              <a:rPr lang="fr-FR" b="1" dirty="0"/>
              <a:t>À quoi ça sert ?</a:t>
            </a:r>
          </a:p>
          <a:p>
            <a:br>
              <a:rPr lang="fr-FR" dirty="0"/>
            </a:br>
            <a:r>
              <a:rPr lang="fr-FR" dirty="0"/>
              <a:t>Obtenir une segmentation claire et reproductible des pays en profils homogènes, à partir des axes synthétiques de l’ACP.</a:t>
            </a:r>
          </a:p>
          <a:p>
            <a:endParaRPr lang="fr-FR" dirty="0"/>
          </a:p>
          <a:p>
            <a:r>
              <a:rPr lang="fr-FR" b="1" dirty="0"/>
              <a:t>Notre résultat</a:t>
            </a:r>
          </a:p>
          <a:p>
            <a:br>
              <a:rPr lang="fr-FR" dirty="0"/>
            </a:br>
            <a:r>
              <a:rPr lang="fr-FR" dirty="0"/>
              <a:t>Nous avons testé plusieurs nombres de groupes (k de 2 à 10).</a:t>
            </a:r>
            <a:br>
              <a:rPr lang="fr-FR" dirty="0"/>
            </a:br>
            <a:endParaRPr lang="fr-FR" dirty="0"/>
          </a:p>
        </p:txBody>
      </p:sp>
      <p:sp>
        <p:nvSpPr>
          <p:cNvPr id="8" name="ZoneTexte 7">
            <a:extLst>
              <a:ext uri="{FF2B5EF4-FFF2-40B4-BE49-F238E27FC236}">
                <a16:creationId xmlns:a16="http://schemas.microsoft.com/office/drawing/2014/main" id="{94CD881D-DC2B-23F7-9131-D5D295F06897}"/>
              </a:ext>
            </a:extLst>
          </p:cNvPr>
          <p:cNvSpPr txBox="1"/>
          <p:nvPr/>
        </p:nvSpPr>
        <p:spPr>
          <a:xfrm>
            <a:off x="6585552" y="5428064"/>
            <a:ext cx="5205298" cy="523220"/>
          </a:xfrm>
          <a:prstGeom prst="rect">
            <a:avLst/>
          </a:prstGeom>
          <a:noFill/>
        </p:spPr>
        <p:txBody>
          <a:bodyPr wrap="square" rtlCol="0">
            <a:spAutoFit/>
          </a:bodyPr>
          <a:lstStyle/>
          <a:p>
            <a:pPr algn="ctr"/>
            <a:r>
              <a:rPr lang="fr-FR" sz="1400" dirty="0"/>
              <a:t>Le score de silhouette mesure la qualité du regroupement : plus il est élevé, plus les clusters sont cohérents.</a:t>
            </a:r>
          </a:p>
        </p:txBody>
      </p:sp>
    </p:spTree>
    <p:extLst>
      <p:ext uri="{BB962C8B-B14F-4D97-AF65-F5344CB8AC3E}">
        <p14:creationId xmlns:p14="http://schemas.microsoft.com/office/powerpoint/2010/main" val="130583759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240C79-5C3B-A67A-C18D-0F8C45D3FCDE}"/>
              </a:ext>
            </a:extLst>
          </p:cNvPr>
          <p:cNvSpPr>
            <a:spLocks noGrp="1"/>
          </p:cNvSpPr>
          <p:nvPr>
            <p:ph type="title"/>
          </p:nvPr>
        </p:nvSpPr>
        <p:spPr>
          <a:xfrm>
            <a:off x="334119" y="357353"/>
            <a:ext cx="11523761" cy="970384"/>
          </a:xfrm>
        </p:spPr>
        <p:txBody>
          <a:bodyPr anchor="ctr">
            <a:normAutofit/>
          </a:bodyPr>
          <a:lstStyle/>
          <a:p>
            <a:pPr algn="ctr"/>
            <a:r>
              <a:rPr lang="fr-FR" sz="4000" dirty="0"/>
              <a:t>Interprétation des clusters</a:t>
            </a:r>
          </a:p>
        </p:txBody>
      </p:sp>
      <p:sp>
        <p:nvSpPr>
          <p:cNvPr id="6" name="Espace réservé du numéro de diapositive 5">
            <a:extLst>
              <a:ext uri="{FF2B5EF4-FFF2-40B4-BE49-F238E27FC236}">
                <a16:creationId xmlns:a16="http://schemas.microsoft.com/office/drawing/2014/main" id="{4F774804-D355-C795-DE75-459647A54F3A}"/>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14</a:t>
            </a:fld>
            <a:endParaRPr lang="en-US"/>
          </a:p>
        </p:txBody>
      </p:sp>
      <p:pic>
        <p:nvPicPr>
          <p:cNvPr id="8" name="Image 7">
            <a:extLst>
              <a:ext uri="{FF2B5EF4-FFF2-40B4-BE49-F238E27FC236}">
                <a16:creationId xmlns:a16="http://schemas.microsoft.com/office/drawing/2014/main" id="{EB210301-82CD-1A91-4F75-35D1097BF608}"/>
              </a:ext>
            </a:extLst>
          </p:cNvPr>
          <p:cNvPicPr>
            <a:picLocks noChangeAspect="1"/>
          </p:cNvPicPr>
          <p:nvPr/>
        </p:nvPicPr>
        <p:blipFill>
          <a:blip r:embed="rId3"/>
          <a:stretch>
            <a:fillRect/>
          </a:stretch>
        </p:blipFill>
        <p:spPr>
          <a:xfrm>
            <a:off x="5100552" y="1689482"/>
            <a:ext cx="6776479" cy="4071408"/>
          </a:xfrm>
          <a:prstGeom prst="rect">
            <a:avLst/>
          </a:prstGeom>
        </p:spPr>
      </p:pic>
      <p:sp>
        <p:nvSpPr>
          <p:cNvPr id="9" name="ZoneTexte 8">
            <a:extLst>
              <a:ext uri="{FF2B5EF4-FFF2-40B4-BE49-F238E27FC236}">
                <a16:creationId xmlns:a16="http://schemas.microsoft.com/office/drawing/2014/main" id="{0C9433DE-D404-D97E-DFB0-A96C74CC8965}"/>
              </a:ext>
            </a:extLst>
          </p:cNvPr>
          <p:cNvSpPr txBox="1"/>
          <p:nvPr/>
        </p:nvSpPr>
        <p:spPr>
          <a:xfrm>
            <a:off x="314969" y="1429240"/>
            <a:ext cx="4507885" cy="5078313"/>
          </a:xfrm>
          <a:prstGeom prst="rect">
            <a:avLst/>
          </a:prstGeom>
          <a:noFill/>
        </p:spPr>
        <p:txBody>
          <a:bodyPr wrap="square" rtlCol="0">
            <a:spAutoFit/>
          </a:bodyPr>
          <a:lstStyle/>
          <a:p>
            <a:r>
              <a:rPr lang="fr-FR" b="1" dirty="0"/>
              <a:t>Ce que l’on observe</a:t>
            </a:r>
          </a:p>
          <a:p>
            <a:endParaRPr lang="fr-FR" b="1" dirty="0"/>
          </a:p>
          <a:p>
            <a:r>
              <a:rPr lang="fr-FR" b="1" dirty="0"/>
              <a:t>- </a:t>
            </a:r>
            <a:r>
              <a:rPr lang="fr-FR" b="1" dirty="0">
                <a:solidFill>
                  <a:srgbClr val="0070C0"/>
                </a:solidFill>
              </a:rPr>
              <a:t>Cluster 0</a:t>
            </a:r>
            <a:r>
              <a:rPr lang="fr-FR" dirty="0"/>
              <a:t> : pays à </a:t>
            </a:r>
            <a:r>
              <a:rPr lang="fr-FR" b="1" dirty="0"/>
              <a:t>bonne logistique</a:t>
            </a:r>
            <a:r>
              <a:rPr lang="fr-FR" dirty="0"/>
              <a:t> et </a:t>
            </a:r>
            <a:r>
              <a:rPr lang="fr-FR" b="1" dirty="0"/>
              <a:t>autosuffisance élevée</a:t>
            </a:r>
            <a:r>
              <a:rPr lang="fr-FR" dirty="0"/>
              <a:t>, revenus intermédiaires et consommation correcte de volaille.</a:t>
            </a:r>
          </a:p>
          <a:p>
            <a:r>
              <a:rPr lang="fr-FR" b="1" dirty="0"/>
              <a:t>- </a:t>
            </a:r>
            <a:r>
              <a:rPr lang="fr-FR" b="1" dirty="0">
                <a:solidFill>
                  <a:srgbClr val="FF6600"/>
                </a:solidFill>
              </a:rPr>
              <a:t>Cluster 1</a:t>
            </a:r>
            <a:r>
              <a:rPr lang="fr-FR" dirty="0"/>
              <a:t> : pays à </a:t>
            </a:r>
            <a:r>
              <a:rPr lang="fr-FR" b="1" dirty="0"/>
              <a:t>haut revenu</a:t>
            </a:r>
            <a:r>
              <a:rPr lang="fr-FR" dirty="0"/>
              <a:t>, </a:t>
            </a:r>
            <a:r>
              <a:rPr lang="fr-FR" b="1" dirty="0"/>
              <a:t>bonne disponibilité de volaille</a:t>
            </a:r>
            <a:r>
              <a:rPr lang="fr-FR" dirty="0"/>
              <a:t> mais autosuffisance plus faible.</a:t>
            </a:r>
          </a:p>
          <a:p>
            <a:r>
              <a:rPr lang="fr-FR" b="1" dirty="0"/>
              <a:t>- </a:t>
            </a:r>
            <a:r>
              <a:rPr lang="fr-FR" b="1" dirty="0">
                <a:solidFill>
                  <a:srgbClr val="3E7C3E"/>
                </a:solidFill>
              </a:rPr>
              <a:t>Cluster 2</a:t>
            </a:r>
            <a:r>
              <a:rPr lang="fr-FR" dirty="0"/>
              <a:t> : pays en </a:t>
            </a:r>
            <a:r>
              <a:rPr lang="fr-FR" b="1" dirty="0"/>
              <a:t>développement</a:t>
            </a:r>
            <a:r>
              <a:rPr lang="fr-FR" dirty="0"/>
              <a:t> avec </a:t>
            </a:r>
            <a:r>
              <a:rPr lang="fr-FR" b="1" dirty="0"/>
              <a:t>revenu faible</a:t>
            </a:r>
            <a:r>
              <a:rPr lang="fr-FR" dirty="0"/>
              <a:t> et </a:t>
            </a:r>
            <a:r>
              <a:rPr lang="fr-FR" b="1" dirty="0"/>
              <a:t>logistique limitée</a:t>
            </a:r>
            <a:r>
              <a:rPr lang="fr-FR" dirty="0"/>
              <a:t>, autosuffisance modérée et consommation par habitant plus basse.</a:t>
            </a:r>
          </a:p>
          <a:p>
            <a:r>
              <a:rPr lang="fr-FR" b="1" dirty="0"/>
              <a:t>- </a:t>
            </a:r>
            <a:r>
              <a:rPr lang="fr-FR" b="1" dirty="0">
                <a:solidFill>
                  <a:srgbClr val="FF0000"/>
                </a:solidFill>
              </a:rPr>
              <a:t>Cluster 3</a:t>
            </a:r>
            <a:r>
              <a:rPr lang="fr-FR" dirty="0"/>
              <a:t> : pays à </a:t>
            </a:r>
            <a:r>
              <a:rPr lang="fr-FR" b="1" dirty="0"/>
              <a:t>population très élevée</a:t>
            </a:r>
            <a:r>
              <a:rPr lang="fr-FR" dirty="0"/>
              <a:t> mais </a:t>
            </a:r>
            <a:r>
              <a:rPr lang="fr-FR" b="1" dirty="0"/>
              <a:t>revenu et consommation par habitant très faibles</a:t>
            </a:r>
            <a:r>
              <a:rPr lang="fr-FR" dirty="0"/>
              <a:t>, logistique moyenne.</a:t>
            </a:r>
          </a:p>
          <a:p>
            <a:endParaRPr lang="fr-FR" dirty="0"/>
          </a:p>
        </p:txBody>
      </p:sp>
      <p:sp>
        <p:nvSpPr>
          <p:cNvPr id="10" name="ZoneTexte 9">
            <a:extLst>
              <a:ext uri="{FF2B5EF4-FFF2-40B4-BE49-F238E27FC236}">
                <a16:creationId xmlns:a16="http://schemas.microsoft.com/office/drawing/2014/main" id="{52576B94-5053-2F8D-6BB3-87C6E5941C2F}"/>
              </a:ext>
            </a:extLst>
          </p:cNvPr>
          <p:cNvSpPr txBox="1"/>
          <p:nvPr/>
        </p:nvSpPr>
        <p:spPr>
          <a:xfrm>
            <a:off x="6214533" y="5768889"/>
            <a:ext cx="5096934" cy="738664"/>
          </a:xfrm>
          <a:prstGeom prst="rect">
            <a:avLst/>
          </a:prstGeom>
          <a:noFill/>
        </p:spPr>
        <p:txBody>
          <a:bodyPr wrap="square" rtlCol="0">
            <a:spAutoFit/>
          </a:bodyPr>
          <a:lstStyle/>
          <a:p>
            <a:pPr algn="ctr"/>
            <a:r>
              <a:rPr lang="fr-FR" sz="1400" i="1" dirty="0"/>
              <a:t>Ce graphique résume </a:t>
            </a:r>
            <a:r>
              <a:rPr lang="fr-FR" sz="1400" b="1" i="1" dirty="0"/>
              <a:t>les forces et faiblesses relatives</a:t>
            </a:r>
            <a:r>
              <a:rPr lang="fr-FR" sz="1400" i="1" dirty="0"/>
              <a:t> de chaque profil de pays sur les indicateurs retenus et aide à comprendre quelles stratégies sont les plus adaptées.</a:t>
            </a:r>
          </a:p>
        </p:txBody>
      </p:sp>
    </p:spTree>
    <p:extLst>
      <p:ext uri="{BB962C8B-B14F-4D97-AF65-F5344CB8AC3E}">
        <p14:creationId xmlns:p14="http://schemas.microsoft.com/office/powerpoint/2010/main" val="2274646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E415F6-41D7-B36D-C00E-7BE8B9A407AF}"/>
              </a:ext>
            </a:extLst>
          </p:cNvPr>
          <p:cNvSpPr>
            <a:spLocks noGrp="1"/>
          </p:cNvSpPr>
          <p:nvPr>
            <p:ph type="title"/>
          </p:nvPr>
        </p:nvSpPr>
        <p:spPr>
          <a:xfrm>
            <a:off x="1098296" y="247904"/>
            <a:ext cx="9995408" cy="852763"/>
          </a:xfrm>
        </p:spPr>
        <p:txBody>
          <a:bodyPr vert="horz" lIns="91440" tIns="45720" rIns="91440" bIns="45720" rtlCol="0" anchor="ctr">
            <a:normAutofit/>
          </a:bodyPr>
          <a:lstStyle/>
          <a:p>
            <a:pPr algn="ctr"/>
            <a:r>
              <a:rPr lang="en-US" sz="4000" b="0" kern="1200" cap="all" baseline="0" dirty="0">
                <a:latin typeface="+mj-lt"/>
                <a:ea typeface="+mj-ea"/>
                <a:cs typeface="+mj-cs"/>
              </a:rPr>
              <a:t>RECOMMANDATIONS</a:t>
            </a:r>
          </a:p>
        </p:txBody>
      </p:sp>
      <p:sp>
        <p:nvSpPr>
          <p:cNvPr id="6" name="Espace réservé du numéro de diapositive 5">
            <a:extLst>
              <a:ext uri="{FF2B5EF4-FFF2-40B4-BE49-F238E27FC236}">
                <a16:creationId xmlns:a16="http://schemas.microsoft.com/office/drawing/2014/main" id="{C29611BB-CD62-25AA-4807-421DB6B8A96C}"/>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15</a:t>
            </a:fld>
            <a:endParaRPr lang="en-US"/>
          </a:p>
        </p:txBody>
      </p:sp>
      <p:sp>
        <p:nvSpPr>
          <p:cNvPr id="10" name="ZoneTexte 9">
            <a:extLst>
              <a:ext uri="{FF2B5EF4-FFF2-40B4-BE49-F238E27FC236}">
                <a16:creationId xmlns:a16="http://schemas.microsoft.com/office/drawing/2014/main" id="{711ACE94-67D8-E7CB-EE99-36F65F570669}"/>
              </a:ext>
            </a:extLst>
          </p:cNvPr>
          <p:cNvSpPr txBox="1"/>
          <p:nvPr/>
        </p:nvSpPr>
        <p:spPr>
          <a:xfrm>
            <a:off x="1526023" y="1430266"/>
            <a:ext cx="9995408" cy="4801314"/>
          </a:xfrm>
          <a:prstGeom prst="rect">
            <a:avLst/>
          </a:prstGeom>
          <a:noFill/>
        </p:spPr>
        <p:txBody>
          <a:bodyPr wrap="square" rtlCol="0">
            <a:spAutoFit/>
          </a:bodyPr>
          <a:lstStyle/>
          <a:p>
            <a:r>
              <a:rPr lang="fr-FR" b="1" dirty="0">
                <a:solidFill>
                  <a:srgbClr val="3E7C3E"/>
                </a:solidFill>
              </a:rPr>
              <a:t>Principes retenus</a:t>
            </a:r>
          </a:p>
          <a:p>
            <a:endParaRPr lang="fr-FR" dirty="0"/>
          </a:p>
          <a:p>
            <a:r>
              <a:rPr lang="fr-FR" dirty="0"/>
              <a:t>L’analyse statistique a permis d’identifier </a:t>
            </a:r>
            <a:r>
              <a:rPr lang="fr-FR" b="1" dirty="0"/>
              <a:t>4 clusters de pays</a:t>
            </a:r>
            <a:r>
              <a:rPr lang="fr-FR" dirty="0"/>
              <a:t> :</a:t>
            </a:r>
          </a:p>
          <a:p>
            <a:endParaRPr lang="fr-FR" b="1" dirty="0"/>
          </a:p>
          <a:p>
            <a:r>
              <a:rPr lang="fr-FR" b="1" dirty="0"/>
              <a:t>Cluster 0 – Pays développés exportateurs</a:t>
            </a:r>
            <a:endParaRPr lang="fr-FR" dirty="0"/>
          </a:p>
          <a:p>
            <a:r>
              <a:rPr lang="fr-FR" b="1" dirty="0"/>
              <a:t>Cluster 1 – Pays riches et urbanisés</a:t>
            </a:r>
            <a:endParaRPr lang="fr-FR" dirty="0"/>
          </a:p>
          <a:p>
            <a:r>
              <a:rPr lang="fr-FR" b="1" dirty="0"/>
              <a:t>Cluster 2 – Pays en développement</a:t>
            </a:r>
            <a:endParaRPr lang="fr-FR" dirty="0"/>
          </a:p>
          <a:p>
            <a:r>
              <a:rPr lang="fr-FR" b="1" dirty="0"/>
              <a:t>Cluster 3 – Grands pays à bas revenu</a:t>
            </a:r>
            <a:br>
              <a:rPr lang="fr-FR" dirty="0"/>
            </a:br>
            <a:endParaRPr lang="fr-FR" dirty="0"/>
          </a:p>
          <a:p>
            <a:r>
              <a:rPr lang="fr-FR" b="1" dirty="0">
                <a:solidFill>
                  <a:srgbClr val="3E7C3E"/>
                </a:solidFill>
              </a:rPr>
              <a:t>Proposition</a:t>
            </a:r>
          </a:p>
          <a:p>
            <a:endParaRPr lang="fr-FR" dirty="0"/>
          </a:p>
          <a:p>
            <a:r>
              <a:rPr lang="fr-FR" dirty="0"/>
              <a:t>Nous proposons de concentrer les efforts sur </a:t>
            </a:r>
            <a:r>
              <a:rPr lang="fr-FR" b="1" dirty="0"/>
              <a:t>le Cluster 1 (Riches urbanisés)</a:t>
            </a:r>
            <a:r>
              <a:rPr lang="fr-FR" dirty="0"/>
              <a:t>, plus favorable à l’importation de produits différenciés.</a:t>
            </a:r>
            <a:br>
              <a:rPr lang="fr-FR" dirty="0"/>
            </a:br>
            <a:r>
              <a:rPr lang="fr-FR" dirty="0"/>
              <a:t>Les </a:t>
            </a:r>
            <a:r>
              <a:rPr lang="fr-FR" b="1" dirty="0"/>
              <a:t>Clusters 2 et 3</a:t>
            </a:r>
            <a:r>
              <a:rPr lang="fr-FR" dirty="0"/>
              <a:t> peuvent être ciblés à plus long terme pour accompagner la montée en consommation.</a:t>
            </a:r>
            <a:br>
              <a:rPr lang="fr-FR" dirty="0"/>
            </a:br>
            <a:r>
              <a:rPr lang="fr-FR" dirty="0"/>
              <a:t>Le </a:t>
            </a:r>
            <a:r>
              <a:rPr lang="fr-FR" b="1" dirty="0"/>
              <a:t>Cluster 0 (Développés exportateurs)</a:t>
            </a:r>
            <a:r>
              <a:rPr lang="fr-FR" dirty="0"/>
              <a:t> n’est pas un marché prioritaire pour de la volaille standard mais peut être considéré pour du partenariat industriel ou des niches spécifiques. </a:t>
            </a:r>
          </a:p>
        </p:txBody>
      </p:sp>
      <p:pic>
        <p:nvPicPr>
          <p:cNvPr id="12" name="Graphique 11" descr="Mille contour">
            <a:extLst>
              <a:ext uri="{FF2B5EF4-FFF2-40B4-BE49-F238E27FC236}">
                <a16:creationId xmlns:a16="http://schemas.microsoft.com/office/drawing/2014/main" id="{51B2A7B8-D354-873E-51D5-898E5DB979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569" y="1430266"/>
            <a:ext cx="685800" cy="685800"/>
          </a:xfrm>
          <a:prstGeom prst="rect">
            <a:avLst/>
          </a:prstGeom>
        </p:spPr>
      </p:pic>
      <p:pic>
        <p:nvPicPr>
          <p:cNvPr id="14" name="Graphique 13" descr="Loupe contour">
            <a:extLst>
              <a:ext uri="{FF2B5EF4-FFF2-40B4-BE49-F238E27FC236}">
                <a16:creationId xmlns:a16="http://schemas.microsoft.com/office/drawing/2014/main" id="{CB30A56F-294D-A348-5645-E53748926B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0569" y="3830923"/>
            <a:ext cx="685800" cy="685800"/>
          </a:xfrm>
          <a:prstGeom prst="rect">
            <a:avLst/>
          </a:prstGeom>
        </p:spPr>
      </p:pic>
    </p:spTree>
    <p:extLst>
      <p:ext uri="{BB962C8B-B14F-4D97-AF65-F5344CB8AC3E}">
        <p14:creationId xmlns:p14="http://schemas.microsoft.com/office/powerpoint/2010/main" val="29704869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61432FEB-68D3-3406-CD3D-4FF5CE9D6A6C}"/>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16</a:t>
            </a:fld>
            <a:endParaRPr lang="en-US"/>
          </a:p>
        </p:txBody>
      </p:sp>
      <p:sp>
        <p:nvSpPr>
          <p:cNvPr id="9" name="Titre 8">
            <a:extLst>
              <a:ext uri="{FF2B5EF4-FFF2-40B4-BE49-F238E27FC236}">
                <a16:creationId xmlns:a16="http://schemas.microsoft.com/office/drawing/2014/main" id="{410F1272-0086-3CAC-7D54-5C3294DB7099}"/>
              </a:ext>
            </a:extLst>
          </p:cNvPr>
          <p:cNvSpPr>
            <a:spLocks noGrp="1"/>
          </p:cNvSpPr>
          <p:nvPr>
            <p:ph type="title"/>
          </p:nvPr>
        </p:nvSpPr>
        <p:spPr>
          <a:xfrm>
            <a:off x="1424008" y="218441"/>
            <a:ext cx="9343984" cy="899159"/>
          </a:xfrm>
        </p:spPr>
        <p:txBody>
          <a:bodyPr anchor="ctr">
            <a:normAutofit fontScale="90000"/>
          </a:bodyPr>
          <a:lstStyle/>
          <a:p>
            <a:pPr algn="ctr"/>
            <a:r>
              <a:rPr lang="fr-FR" sz="4000" dirty="0"/>
              <a:t>Priorisation des pays par cluster</a:t>
            </a:r>
          </a:p>
        </p:txBody>
      </p:sp>
      <p:grpSp>
        <p:nvGrpSpPr>
          <p:cNvPr id="21" name="Groupe 20">
            <a:extLst>
              <a:ext uri="{FF2B5EF4-FFF2-40B4-BE49-F238E27FC236}">
                <a16:creationId xmlns:a16="http://schemas.microsoft.com/office/drawing/2014/main" id="{4C4C3A34-05E0-9FF4-3305-854AE9CBB9E9}"/>
              </a:ext>
            </a:extLst>
          </p:cNvPr>
          <p:cNvGrpSpPr/>
          <p:nvPr/>
        </p:nvGrpSpPr>
        <p:grpSpPr>
          <a:xfrm>
            <a:off x="290427" y="1239819"/>
            <a:ext cx="11599333" cy="4378361"/>
            <a:chOff x="592667" y="1612353"/>
            <a:chExt cx="11599333" cy="4378361"/>
          </a:xfrm>
        </p:grpSpPr>
        <p:sp>
          <p:nvSpPr>
            <p:cNvPr id="15" name="Rectangle : coins arrondis 14">
              <a:extLst>
                <a:ext uri="{FF2B5EF4-FFF2-40B4-BE49-F238E27FC236}">
                  <a16:creationId xmlns:a16="http://schemas.microsoft.com/office/drawing/2014/main" id="{3E49E1C4-52CE-6F70-7D03-9DC16072E765}"/>
                </a:ext>
              </a:extLst>
            </p:cNvPr>
            <p:cNvSpPr/>
            <p:nvPr/>
          </p:nvSpPr>
          <p:spPr>
            <a:xfrm>
              <a:off x="592667" y="1625600"/>
              <a:ext cx="3420533" cy="4351867"/>
            </a:xfrm>
            <a:prstGeom prst="roundRect">
              <a:avLst/>
            </a:prstGeom>
            <a:solidFill>
              <a:srgbClr val="3E7C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19" name="Image 18">
              <a:extLst>
                <a:ext uri="{FF2B5EF4-FFF2-40B4-BE49-F238E27FC236}">
                  <a16:creationId xmlns:a16="http://schemas.microsoft.com/office/drawing/2014/main" id="{76B7A8D4-6CDE-E5DB-6E26-F33865F2F31B}"/>
                </a:ext>
              </a:extLst>
            </p:cNvPr>
            <p:cNvPicPr>
              <a:picLocks noChangeAspect="1"/>
            </p:cNvPicPr>
            <p:nvPr/>
          </p:nvPicPr>
          <p:blipFill>
            <a:blip r:embed="rId3"/>
            <a:stretch>
              <a:fillRect/>
            </a:stretch>
          </p:blipFill>
          <p:spPr>
            <a:xfrm>
              <a:off x="4670255" y="1625600"/>
              <a:ext cx="3432345" cy="4365114"/>
            </a:xfrm>
            <a:prstGeom prst="rect">
              <a:avLst/>
            </a:prstGeom>
          </p:spPr>
        </p:pic>
        <p:pic>
          <p:nvPicPr>
            <p:cNvPr id="20" name="Image 19">
              <a:extLst>
                <a:ext uri="{FF2B5EF4-FFF2-40B4-BE49-F238E27FC236}">
                  <a16:creationId xmlns:a16="http://schemas.microsoft.com/office/drawing/2014/main" id="{8A088D01-6106-84E3-E4AC-E9A7692FF311}"/>
                </a:ext>
              </a:extLst>
            </p:cNvPr>
            <p:cNvPicPr>
              <a:picLocks noChangeAspect="1"/>
            </p:cNvPicPr>
            <p:nvPr/>
          </p:nvPicPr>
          <p:blipFill>
            <a:blip r:embed="rId3"/>
            <a:stretch>
              <a:fillRect/>
            </a:stretch>
          </p:blipFill>
          <p:spPr>
            <a:xfrm>
              <a:off x="8759655" y="1612353"/>
              <a:ext cx="3432345" cy="4365114"/>
            </a:xfrm>
            <a:prstGeom prst="rect">
              <a:avLst/>
            </a:prstGeom>
          </p:spPr>
        </p:pic>
      </p:grpSp>
      <p:sp>
        <p:nvSpPr>
          <p:cNvPr id="22" name="ZoneTexte 21">
            <a:extLst>
              <a:ext uri="{FF2B5EF4-FFF2-40B4-BE49-F238E27FC236}">
                <a16:creationId xmlns:a16="http://schemas.microsoft.com/office/drawing/2014/main" id="{AB3F38AC-81FA-6B0F-03AC-82008C241E84}"/>
              </a:ext>
            </a:extLst>
          </p:cNvPr>
          <p:cNvSpPr txBox="1"/>
          <p:nvPr/>
        </p:nvSpPr>
        <p:spPr>
          <a:xfrm>
            <a:off x="434362" y="1404297"/>
            <a:ext cx="3132667" cy="4062651"/>
          </a:xfrm>
          <a:prstGeom prst="rect">
            <a:avLst/>
          </a:prstGeom>
          <a:noFill/>
        </p:spPr>
        <p:txBody>
          <a:bodyPr wrap="square" rtlCol="0">
            <a:spAutoFit/>
          </a:bodyPr>
          <a:lstStyle/>
          <a:p>
            <a:pPr algn="ctr"/>
            <a:r>
              <a:rPr lang="fr-FR" i="1" dirty="0">
                <a:solidFill>
                  <a:schemeClr val="bg1"/>
                </a:solidFill>
              </a:rPr>
              <a:t>Cluster 1</a:t>
            </a:r>
          </a:p>
          <a:p>
            <a:pPr algn="ctr"/>
            <a:r>
              <a:rPr lang="fr-FR" b="1" dirty="0">
                <a:solidFill>
                  <a:schemeClr val="bg1"/>
                </a:solidFill>
              </a:rPr>
              <a:t>Pays riches et urbanisés</a:t>
            </a:r>
          </a:p>
          <a:p>
            <a:pPr algn="ctr"/>
            <a:endParaRPr lang="fr-FR" i="1" dirty="0">
              <a:solidFill>
                <a:schemeClr val="bg1"/>
              </a:solidFill>
            </a:endParaRPr>
          </a:p>
          <a:p>
            <a:pPr marL="285750" indent="-285750">
              <a:buFontTx/>
              <a:buChar char="-"/>
            </a:pPr>
            <a:r>
              <a:rPr lang="fr-FR" dirty="0">
                <a:solidFill>
                  <a:schemeClr val="bg1"/>
                </a:solidFill>
              </a:rPr>
              <a:t>Luxembourg</a:t>
            </a:r>
          </a:p>
          <a:p>
            <a:pPr marL="285750" indent="-285750">
              <a:buFontTx/>
              <a:buChar char="-"/>
            </a:pPr>
            <a:r>
              <a:rPr lang="fr-FR" dirty="0">
                <a:solidFill>
                  <a:schemeClr val="bg1"/>
                </a:solidFill>
              </a:rPr>
              <a:t>Suisse</a:t>
            </a:r>
          </a:p>
          <a:p>
            <a:pPr marL="285750" indent="-285750">
              <a:buFontTx/>
              <a:buChar char="-"/>
            </a:pPr>
            <a:r>
              <a:rPr lang="fr-FR" dirty="0">
                <a:solidFill>
                  <a:schemeClr val="bg1"/>
                </a:solidFill>
              </a:rPr>
              <a:t>Norvège</a:t>
            </a:r>
          </a:p>
          <a:p>
            <a:pPr marL="285750" indent="-285750">
              <a:buFontTx/>
              <a:buChar char="-"/>
            </a:pPr>
            <a:r>
              <a:rPr lang="fr-FR" dirty="0">
                <a:solidFill>
                  <a:schemeClr val="bg1"/>
                </a:solidFill>
              </a:rPr>
              <a:t>Irlande</a:t>
            </a:r>
          </a:p>
          <a:p>
            <a:pPr marL="285750" indent="-285750">
              <a:buFontTx/>
              <a:buChar char="-"/>
            </a:pPr>
            <a:r>
              <a:rPr lang="fr-FR" dirty="0">
                <a:solidFill>
                  <a:schemeClr val="bg1"/>
                </a:solidFill>
              </a:rPr>
              <a:t>Danemark</a:t>
            </a:r>
          </a:p>
          <a:p>
            <a:br>
              <a:rPr lang="fr-FR" dirty="0">
                <a:solidFill>
                  <a:schemeClr val="bg1"/>
                </a:solidFill>
              </a:rPr>
            </a:br>
            <a:r>
              <a:rPr lang="fr-FR" sz="1600" dirty="0">
                <a:solidFill>
                  <a:schemeClr val="bg1"/>
                </a:solidFill>
              </a:rPr>
              <a:t>-&gt; Haut revenu, logistique performante, consommation modérée à élevée.</a:t>
            </a:r>
          </a:p>
          <a:p>
            <a:r>
              <a:rPr lang="fr-FR" sz="1600" dirty="0">
                <a:solidFill>
                  <a:schemeClr val="bg1"/>
                </a:solidFill>
              </a:rPr>
              <a:t>-&gt; Approche : importer des produits différenciés / premium (bio, traçabilité).</a:t>
            </a:r>
          </a:p>
        </p:txBody>
      </p:sp>
      <p:sp>
        <p:nvSpPr>
          <p:cNvPr id="23" name="ZoneTexte 22">
            <a:extLst>
              <a:ext uri="{FF2B5EF4-FFF2-40B4-BE49-F238E27FC236}">
                <a16:creationId xmlns:a16="http://schemas.microsoft.com/office/drawing/2014/main" id="{78AA9C8D-6E30-3E2A-713A-5831FB7D9B21}"/>
              </a:ext>
            </a:extLst>
          </p:cNvPr>
          <p:cNvSpPr txBox="1"/>
          <p:nvPr/>
        </p:nvSpPr>
        <p:spPr>
          <a:xfrm>
            <a:off x="4517853" y="1404297"/>
            <a:ext cx="3132667" cy="4062651"/>
          </a:xfrm>
          <a:prstGeom prst="rect">
            <a:avLst/>
          </a:prstGeom>
          <a:noFill/>
        </p:spPr>
        <p:txBody>
          <a:bodyPr wrap="square" rtlCol="0">
            <a:spAutoFit/>
          </a:bodyPr>
          <a:lstStyle/>
          <a:p>
            <a:pPr algn="ctr"/>
            <a:r>
              <a:rPr lang="fr-FR" i="1" dirty="0">
                <a:solidFill>
                  <a:schemeClr val="bg1"/>
                </a:solidFill>
              </a:rPr>
              <a:t>Cluster 2</a:t>
            </a:r>
          </a:p>
          <a:p>
            <a:pPr algn="ctr"/>
            <a:r>
              <a:rPr lang="fr-FR" b="1" dirty="0">
                <a:solidFill>
                  <a:schemeClr val="bg1"/>
                </a:solidFill>
              </a:rPr>
              <a:t>Pays en développement</a:t>
            </a:r>
          </a:p>
          <a:p>
            <a:pPr algn="ctr"/>
            <a:endParaRPr lang="fr-FR" b="1" i="1" dirty="0">
              <a:solidFill>
                <a:schemeClr val="bg1"/>
              </a:solidFill>
            </a:endParaRPr>
          </a:p>
          <a:p>
            <a:pPr marL="285750" indent="-285750">
              <a:buFontTx/>
              <a:buChar char="-"/>
            </a:pPr>
            <a:r>
              <a:rPr lang="fr-FR" dirty="0">
                <a:solidFill>
                  <a:schemeClr val="bg1"/>
                </a:solidFill>
              </a:rPr>
              <a:t>Croatie</a:t>
            </a:r>
          </a:p>
          <a:p>
            <a:pPr marL="285750" indent="-285750">
              <a:buFontTx/>
              <a:buChar char="-"/>
            </a:pPr>
            <a:r>
              <a:rPr lang="fr-FR" dirty="0">
                <a:solidFill>
                  <a:schemeClr val="bg1"/>
                </a:solidFill>
              </a:rPr>
              <a:t>Roumanie</a:t>
            </a:r>
          </a:p>
          <a:p>
            <a:pPr marL="285750" indent="-285750">
              <a:buFontTx/>
              <a:buChar char="-"/>
            </a:pPr>
            <a:r>
              <a:rPr lang="fr-FR" dirty="0">
                <a:solidFill>
                  <a:schemeClr val="bg1"/>
                </a:solidFill>
              </a:rPr>
              <a:t>Kazakhstan</a:t>
            </a:r>
          </a:p>
          <a:p>
            <a:pPr marL="285750" indent="-285750">
              <a:buFontTx/>
              <a:buChar char="-"/>
            </a:pPr>
            <a:r>
              <a:rPr lang="fr-FR" dirty="0">
                <a:solidFill>
                  <a:schemeClr val="bg1"/>
                </a:solidFill>
              </a:rPr>
              <a:t>Equateur</a:t>
            </a:r>
          </a:p>
          <a:p>
            <a:pPr marL="285750" indent="-285750">
              <a:buFontTx/>
              <a:buChar char="-"/>
            </a:pPr>
            <a:r>
              <a:rPr lang="fr-FR" dirty="0">
                <a:solidFill>
                  <a:schemeClr val="bg1"/>
                </a:solidFill>
              </a:rPr>
              <a:t>Serbie</a:t>
            </a:r>
          </a:p>
          <a:p>
            <a:br>
              <a:rPr lang="fr-FR" dirty="0">
                <a:solidFill>
                  <a:schemeClr val="bg1"/>
                </a:solidFill>
              </a:rPr>
            </a:br>
            <a:r>
              <a:rPr lang="fr-FR" sz="1600" dirty="0">
                <a:solidFill>
                  <a:schemeClr val="bg1"/>
                </a:solidFill>
              </a:rPr>
              <a:t>-&gt; revenus intermédiaires, consommation en croissance, logistique moyenne.</a:t>
            </a:r>
            <a:br>
              <a:rPr lang="fr-FR" sz="1600" dirty="0">
                <a:solidFill>
                  <a:schemeClr val="bg1"/>
                </a:solidFill>
              </a:rPr>
            </a:br>
            <a:r>
              <a:rPr lang="fr-FR" sz="1600" dirty="0">
                <a:solidFill>
                  <a:schemeClr val="bg1"/>
                </a:solidFill>
              </a:rPr>
              <a:t>-&gt; Approche : développer progressivement l’offre (prix compétitifs, format adapté …)</a:t>
            </a:r>
          </a:p>
        </p:txBody>
      </p:sp>
      <p:sp>
        <p:nvSpPr>
          <p:cNvPr id="25" name="ZoneTexte 24">
            <a:extLst>
              <a:ext uri="{FF2B5EF4-FFF2-40B4-BE49-F238E27FC236}">
                <a16:creationId xmlns:a16="http://schemas.microsoft.com/office/drawing/2014/main" id="{68659DA6-4C79-4A59-FB74-DD7029DDEC4F}"/>
              </a:ext>
            </a:extLst>
          </p:cNvPr>
          <p:cNvSpPr txBox="1"/>
          <p:nvPr/>
        </p:nvSpPr>
        <p:spPr>
          <a:xfrm>
            <a:off x="8607253" y="1404297"/>
            <a:ext cx="3132667" cy="3970318"/>
          </a:xfrm>
          <a:prstGeom prst="rect">
            <a:avLst/>
          </a:prstGeom>
          <a:noFill/>
        </p:spPr>
        <p:txBody>
          <a:bodyPr wrap="square" rtlCol="0">
            <a:spAutoFit/>
          </a:bodyPr>
          <a:lstStyle/>
          <a:p>
            <a:pPr algn="ctr"/>
            <a:r>
              <a:rPr lang="fr-FR" i="1" dirty="0">
                <a:solidFill>
                  <a:schemeClr val="bg1"/>
                </a:solidFill>
              </a:rPr>
              <a:t>Cluster 3</a:t>
            </a:r>
          </a:p>
          <a:p>
            <a:pPr algn="ctr"/>
            <a:r>
              <a:rPr lang="fr-FR" b="1" dirty="0">
                <a:solidFill>
                  <a:schemeClr val="bg1"/>
                </a:solidFill>
              </a:rPr>
              <a:t>Grand pays à bas revenus</a:t>
            </a:r>
          </a:p>
          <a:p>
            <a:pPr algn="ctr"/>
            <a:endParaRPr lang="fr-FR" b="1" i="1" dirty="0">
              <a:solidFill>
                <a:schemeClr val="bg1"/>
              </a:solidFill>
            </a:endParaRPr>
          </a:p>
          <a:p>
            <a:pPr marL="285750" indent="-285750">
              <a:buFontTx/>
              <a:buChar char="-"/>
            </a:pPr>
            <a:r>
              <a:rPr lang="fr-FR" dirty="0">
                <a:solidFill>
                  <a:schemeClr val="bg1"/>
                </a:solidFill>
              </a:rPr>
              <a:t>Inde</a:t>
            </a:r>
          </a:p>
          <a:p>
            <a:br>
              <a:rPr lang="fr-FR" dirty="0">
                <a:solidFill>
                  <a:schemeClr val="bg1"/>
                </a:solidFill>
              </a:rPr>
            </a:br>
            <a:endParaRPr lang="fr-FR" dirty="0">
              <a:solidFill>
                <a:schemeClr val="bg1"/>
              </a:solidFill>
            </a:endParaRPr>
          </a:p>
          <a:p>
            <a:endParaRPr lang="fr-FR" sz="1600" dirty="0">
              <a:solidFill>
                <a:schemeClr val="bg1"/>
              </a:solidFill>
            </a:endParaRPr>
          </a:p>
          <a:p>
            <a:endParaRPr lang="fr-FR" sz="1600" dirty="0">
              <a:solidFill>
                <a:schemeClr val="bg1"/>
              </a:solidFill>
            </a:endParaRPr>
          </a:p>
          <a:p>
            <a:endParaRPr lang="fr-FR" sz="1600" dirty="0">
              <a:solidFill>
                <a:schemeClr val="bg1"/>
              </a:solidFill>
            </a:endParaRPr>
          </a:p>
          <a:p>
            <a:endParaRPr lang="fr-FR" sz="1600" dirty="0">
              <a:solidFill>
                <a:schemeClr val="bg1"/>
              </a:solidFill>
            </a:endParaRPr>
          </a:p>
          <a:p>
            <a:r>
              <a:rPr lang="fr-FR" sz="1600" dirty="0">
                <a:solidFill>
                  <a:schemeClr val="bg1"/>
                </a:solidFill>
              </a:rPr>
              <a:t>-&gt; très grande population, bas revenus, consommation par habitant très faible.</a:t>
            </a:r>
            <a:br>
              <a:rPr lang="fr-FR" sz="1600" dirty="0">
                <a:solidFill>
                  <a:schemeClr val="bg1"/>
                </a:solidFill>
              </a:rPr>
            </a:br>
            <a:r>
              <a:rPr lang="fr-FR" sz="1600" dirty="0">
                <a:solidFill>
                  <a:schemeClr val="bg1"/>
                </a:solidFill>
              </a:rPr>
              <a:t>-&gt; Approche : études exploratoires et tests pilotes.</a:t>
            </a:r>
          </a:p>
        </p:txBody>
      </p:sp>
      <p:sp>
        <p:nvSpPr>
          <p:cNvPr id="26" name="ZoneTexte 25">
            <a:extLst>
              <a:ext uri="{FF2B5EF4-FFF2-40B4-BE49-F238E27FC236}">
                <a16:creationId xmlns:a16="http://schemas.microsoft.com/office/drawing/2014/main" id="{7B3D6940-4090-0BA4-9236-225E13662040}"/>
              </a:ext>
            </a:extLst>
          </p:cNvPr>
          <p:cNvSpPr txBox="1"/>
          <p:nvPr/>
        </p:nvSpPr>
        <p:spPr>
          <a:xfrm>
            <a:off x="290427" y="5798541"/>
            <a:ext cx="11449493" cy="923330"/>
          </a:xfrm>
          <a:prstGeom prst="rect">
            <a:avLst/>
          </a:prstGeom>
          <a:noFill/>
        </p:spPr>
        <p:txBody>
          <a:bodyPr wrap="square" rtlCol="0">
            <a:spAutoFit/>
          </a:bodyPr>
          <a:lstStyle/>
          <a:p>
            <a:pPr algn="ctr"/>
            <a:r>
              <a:rPr lang="fr-FR" dirty="0"/>
              <a:t>Le </a:t>
            </a:r>
            <a:r>
              <a:rPr lang="fr-FR" i="1" dirty="0"/>
              <a:t>Cluster 0 (Pays développés exportateurs)</a:t>
            </a:r>
            <a:r>
              <a:rPr lang="fr-FR" dirty="0"/>
              <a:t> n’a pas été retenu dans nos recommandations car ces pays sont déjà autosuffisants et grands exportateurs de volaille. Le potentiel d’importation y est donc limité pour La Poule qui Chante.</a:t>
            </a:r>
          </a:p>
        </p:txBody>
      </p:sp>
    </p:spTree>
    <p:extLst>
      <p:ext uri="{BB962C8B-B14F-4D97-AF65-F5344CB8AC3E}">
        <p14:creationId xmlns:p14="http://schemas.microsoft.com/office/powerpoint/2010/main" val="279572815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09BCC1-6D7B-9738-476F-24536A0BD828}"/>
              </a:ext>
            </a:extLst>
          </p:cNvPr>
          <p:cNvSpPr>
            <a:spLocks noGrp="1"/>
          </p:cNvSpPr>
          <p:nvPr>
            <p:ph type="title"/>
          </p:nvPr>
        </p:nvSpPr>
        <p:spPr>
          <a:xfrm>
            <a:off x="1880616" y="21768"/>
            <a:ext cx="8430768" cy="956304"/>
          </a:xfrm>
        </p:spPr>
        <p:txBody>
          <a:bodyPr anchor="ctr">
            <a:normAutofit/>
          </a:bodyPr>
          <a:lstStyle/>
          <a:p>
            <a:pPr algn="ctr"/>
            <a:r>
              <a:rPr lang="fr-FR" sz="4000" dirty="0"/>
              <a:t>Conclusion</a:t>
            </a:r>
          </a:p>
        </p:txBody>
      </p:sp>
      <p:sp>
        <p:nvSpPr>
          <p:cNvPr id="6" name="Espace réservé du numéro de diapositive 5">
            <a:extLst>
              <a:ext uri="{FF2B5EF4-FFF2-40B4-BE49-F238E27FC236}">
                <a16:creationId xmlns:a16="http://schemas.microsoft.com/office/drawing/2014/main" id="{85518CFB-529C-0065-2D4A-824609A46D4E}"/>
              </a:ext>
            </a:extLst>
          </p:cNvPr>
          <p:cNvSpPr>
            <a:spLocks noGrp="1"/>
          </p:cNvSpPr>
          <p:nvPr>
            <p:ph type="sldNum" sz="quarter" idx="12"/>
          </p:nvPr>
        </p:nvSpPr>
        <p:spPr>
          <a:xfrm>
            <a:off x="11648431" y="6490524"/>
            <a:ext cx="457200" cy="336141"/>
          </a:xfrm>
        </p:spPr>
        <p:txBody>
          <a:bodyPr anchor="ctr">
            <a:normAutofit/>
          </a:bodyPr>
          <a:lstStyle/>
          <a:p>
            <a:pPr>
              <a:spcAft>
                <a:spcPts val="600"/>
              </a:spcAft>
            </a:pPr>
            <a:fld id="{84C450F2-3BB4-4AE4-8A35-A9D7AEA4C850}" type="slidenum">
              <a:rPr lang="en-US" smtClean="0"/>
              <a:pPr>
                <a:spcAft>
                  <a:spcPts val="600"/>
                </a:spcAft>
              </a:pPr>
              <a:t>17</a:t>
            </a:fld>
            <a:endParaRPr lang="en-US"/>
          </a:p>
        </p:txBody>
      </p:sp>
      <p:sp>
        <p:nvSpPr>
          <p:cNvPr id="9" name="ZoneTexte 8">
            <a:extLst>
              <a:ext uri="{FF2B5EF4-FFF2-40B4-BE49-F238E27FC236}">
                <a16:creationId xmlns:a16="http://schemas.microsoft.com/office/drawing/2014/main" id="{6EC8219F-1E08-2CE0-C919-54A859DF1EA9}"/>
              </a:ext>
            </a:extLst>
          </p:cNvPr>
          <p:cNvSpPr txBox="1"/>
          <p:nvPr/>
        </p:nvSpPr>
        <p:spPr>
          <a:xfrm>
            <a:off x="307517" y="1363808"/>
            <a:ext cx="5401734" cy="2031325"/>
          </a:xfrm>
          <a:prstGeom prst="rect">
            <a:avLst/>
          </a:prstGeom>
          <a:noFill/>
        </p:spPr>
        <p:txBody>
          <a:bodyPr wrap="square" rtlCol="0">
            <a:spAutoFit/>
          </a:bodyPr>
          <a:lstStyle/>
          <a:p>
            <a:r>
              <a:rPr lang="fr-FR" b="1" dirty="0">
                <a:solidFill>
                  <a:srgbClr val="3E7C3E"/>
                </a:solidFill>
              </a:rPr>
              <a:t>Analyse menée </a:t>
            </a:r>
          </a:p>
          <a:p>
            <a:endParaRPr lang="fr-FR" dirty="0"/>
          </a:p>
          <a:p>
            <a:pPr marL="285750" indent="-285750">
              <a:buFont typeface="Arial" panose="020B0604020202020204" pitchFamily="34" charset="0"/>
              <a:buChar char="•"/>
            </a:pPr>
            <a:r>
              <a:rPr lang="fr-FR" dirty="0"/>
              <a:t>Croisement de données économiques, logistiques et marché de la volaille pour 2017.</a:t>
            </a:r>
            <a:br>
              <a:rPr lang="fr-FR" dirty="0"/>
            </a:br>
            <a:endParaRPr lang="fr-FR" dirty="0"/>
          </a:p>
          <a:p>
            <a:pPr marL="285750" indent="-285750">
              <a:buFont typeface="Arial" panose="020B0604020202020204" pitchFamily="34" charset="0"/>
              <a:buChar char="•"/>
            </a:pPr>
            <a:r>
              <a:rPr lang="fr-FR" dirty="0"/>
              <a:t>Méthodes statistiques (ACP + clustering) pour identifier des profils types de pays.</a:t>
            </a:r>
          </a:p>
        </p:txBody>
      </p:sp>
      <p:sp>
        <p:nvSpPr>
          <p:cNvPr id="12" name="ZoneTexte 11">
            <a:extLst>
              <a:ext uri="{FF2B5EF4-FFF2-40B4-BE49-F238E27FC236}">
                <a16:creationId xmlns:a16="http://schemas.microsoft.com/office/drawing/2014/main" id="{AE2AD31B-1E40-5DBD-B4C6-377E095FB491}"/>
              </a:ext>
            </a:extLst>
          </p:cNvPr>
          <p:cNvSpPr txBox="1"/>
          <p:nvPr/>
        </p:nvSpPr>
        <p:spPr>
          <a:xfrm>
            <a:off x="290584" y="3796272"/>
            <a:ext cx="5418667" cy="2862322"/>
          </a:xfrm>
          <a:prstGeom prst="rect">
            <a:avLst/>
          </a:prstGeom>
          <a:noFill/>
        </p:spPr>
        <p:txBody>
          <a:bodyPr wrap="square" rtlCol="0">
            <a:spAutoFit/>
          </a:bodyPr>
          <a:lstStyle/>
          <a:p>
            <a:r>
              <a:rPr lang="fr-FR" b="1" dirty="0">
                <a:solidFill>
                  <a:srgbClr val="3E7C3E"/>
                </a:solidFill>
              </a:rPr>
              <a:t>Résultats clés</a:t>
            </a:r>
          </a:p>
          <a:p>
            <a:endParaRPr lang="fr-FR" dirty="0"/>
          </a:p>
          <a:p>
            <a:pPr marL="285750" indent="-285750">
              <a:buFont typeface="Arial" panose="020B0604020202020204" pitchFamily="34" charset="0"/>
              <a:buChar char="•"/>
            </a:pPr>
            <a:r>
              <a:rPr lang="fr-FR" dirty="0"/>
              <a:t>4 profils types de pays identifiés (riches urbanisés, en développement, grands pays à bas revenus, développés exportateurs).</a:t>
            </a:r>
          </a:p>
          <a:p>
            <a:endParaRPr lang="fr-FR" dirty="0"/>
          </a:p>
          <a:p>
            <a:pPr marL="285750" indent="-285750">
              <a:buFont typeface="Arial" panose="020B0604020202020204" pitchFamily="34" charset="0"/>
              <a:buChar char="•"/>
            </a:pPr>
            <a:r>
              <a:rPr lang="fr-FR" dirty="0"/>
              <a:t>Identification des pays les plus prometteurs pour un déploiement international (Cluster 1 puis Cluster 2).</a:t>
            </a:r>
          </a:p>
          <a:p>
            <a:endParaRPr lang="fr-FR" dirty="0"/>
          </a:p>
        </p:txBody>
      </p:sp>
      <p:sp>
        <p:nvSpPr>
          <p:cNvPr id="13" name="ZoneTexte 12">
            <a:extLst>
              <a:ext uri="{FF2B5EF4-FFF2-40B4-BE49-F238E27FC236}">
                <a16:creationId xmlns:a16="http://schemas.microsoft.com/office/drawing/2014/main" id="{7A1EA0B1-7209-4B56-698A-78C5B323C5BB}"/>
              </a:ext>
            </a:extLst>
          </p:cNvPr>
          <p:cNvSpPr txBox="1"/>
          <p:nvPr/>
        </p:nvSpPr>
        <p:spPr>
          <a:xfrm>
            <a:off x="6586052" y="1363808"/>
            <a:ext cx="5605948" cy="3139321"/>
          </a:xfrm>
          <a:prstGeom prst="rect">
            <a:avLst/>
          </a:prstGeom>
          <a:noFill/>
        </p:spPr>
        <p:txBody>
          <a:bodyPr wrap="square" rtlCol="0">
            <a:spAutoFit/>
          </a:bodyPr>
          <a:lstStyle/>
          <a:p>
            <a:r>
              <a:rPr lang="fr-FR" b="1" dirty="0">
                <a:solidFill>
                  <a:srgbClr val="3E7C3E"/>
                </a:solidFill>
              </a:rPr>
              <a:t>Recommandation stratégique</a:t>
            </a:r>
            <a:endParaRPr lang="fr-FR" dirty="0">
              <a:solidFill>
                <a:srgbClr val="3E7C3E"/>
              </a:solidFill>
            </a:endParaRPr>
          </a:p>
          <a:p>
            <a:endParaRPr lang="fr-FR" dirty="0"/>
          </a:p>
          <a:p>
            <a:pPr marL="285750" indent="-285750">
              <a:buFont typeface="Arial" panose="020B0604020202020204" pitchFamily="34" charset="0"/>
              <a:buChar char="•"/>
            </a:pPr>
            <a:r>
              <a:rPr lang="fr-FR" dirty="0"/>
              <a:t>Prioriser le </a:t>
            </a:r>
            <a:r>
              <a:rPr lang="fr-FR" b="1" dirty="0"/>
              <a:t>Cluster 1 (pays riches urbanisés)</a:t>
            </a:r>
            <a:r>
              <a:rPr lang="fr-FR" dirty="0"/>
              <a:t> pour des produits différenciés/premium.</a:t>
            </a:r>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Préparer une entrée progressive sur </a:t>
            </a:r>
            <a:r>
              <a:rPr lang="fr-FR" b="1" dirty="0"/>
              <a:t>Cluster 2</a:t>
            </a:r>
            <a:r>
              <a:rPr lang="fr-FR" dirty="0"/>
              <a:t> et explorer </a:t>
            </a:r>
            <a:r>
              <a:rPr lang="fr-FR" b="1" dirty="0"/>
              <a:t>Cluster 3</a:t>
            </a:r>
            <a:r>
              <a:rPr lang="fr-FR" dirty="0"/>
              <a:t> à plus long terme.</a:t>
            </a:r>
          </a:p>
          <a:p>
            <a:endParaRPr lang="fr-FR" dirty="0"/>
          </a:p>
          <a:p>
            <a:r>
              <a:rPr lang="fr-FR" dirty="0"/>
              <a:t>Le </a:t>
            </a:r>
            <a:r>
              <a:rPr lang="fr-FR" b="1" dirty="0"/>
              <a:t>Cluster 0</a:t>
            </a:r>
            <a:r>
              <a:rPr lang="fr-FR" dirty="0"/>
              <a:t> n’est pas retenu (autosuffisance, grands exportateurs).</a:t>
            </a:r>
          </a:p>
          <a:p>
            <a:endParaRPr lang="fr-FR" dirty="0"/>
          </a:p>
        </p:txBody>
      </p:sp>
      <p:sp>
        <p:nvSpPr>
          <p:cNvPr id="14" name="ZoneTexte 13">
            <a:extLst>
              <a:ext uri="{FF2B5EF4-FFF2-40B4-BE49-F238E27FC236}">
                <a16:creationId xmlns:a16="http://schemas.microsoft.com/office/drawing/2014/main" id="{3F2614ED-ED02-E2FB-60FA-A9A90B66C21D}"/>
              </a:ext>
            </a:extLst>
          </p:cNvPr>
          <p:cNvSpPr txBox="1"/>
          <p:nvPr/>
        </p:nvSpPr>
        <p:spPr>
          <a:xfrm>
            <a:off x="6589784" y="4503129"/>
            <a:ext cx="5602216" cy="2585323"/>
          </a:xfrm>
          <a:prstGeom prst="rect">
            <a:avLst/>
          </a:prstGeom>
          <a:noFill/>
        </p:spPr>
        <p:txBody>
          <a:bodyPr wrap="square" rtlCol="0">
            <a:spAutoFit/>
          </a:bodyPr>
          <a:lstStyle/>
          <a:p>
            <a:r>
              <a:rPr lang="fr-FR" b="1" dirty="0">
                <a:solidFill>
                  <a:srgbClr val="3E7C3E"/>
                </a:solidFill>
              </a:rPr>
              <a:t>Prochaines étapes</a:t>
            </a:r>
          </a:p>
          <a:p>
            <a:endParaRPr lang="fr-FR" dirty="0"/>
          </a:p>
          <a:p>
            <a:pPr marL="285750" indent="-285750">
              <a:buFont typeface="Arial" panose="020B0604020202020204" pitchFamily="34" charset="0"/>
              <a:buChar char="•"/>
            </a:pPr>
            <a:r>
              <a:rPr lang="fr-FR" dirty="0"/>
              <a:t>Affiner l’étude sur les pays ciblés (réglementation, partenaires locaux, barrières à l’entrée).</a:t>
            </a:r>
          </a:p>
          <a:p>
            <a:endParaRPr lang="fr-FR" dirty="0"/>
          </a:p>
          <a:p>
            <a:pPr marL="285750" indent="-285750">
              <a:buFont typeface="Arial" panose="020B0604020202020204" pitchFamily="34" charset="0"/>
              <a:buChar char="•"/>
            </a:pPr>
            <a:r>
              <a:rPr lang="fr-FR" dirty="0"/>
              <a:t>Adapter l’offre et la logistique selon les spécificités de chaque profil.</a:t>
            </a:r>
          </a:p>
          <a:p>
            <a:endParaRPr lang="fr-FR" dirty="0"/>
          </a:p>
        </p:txBody>
      </p:sp>
      <p:cxnSp>
        <p:nvCxnSpPr>
          <p:cNvPr id="16" name="Connecteur droit 15">
            <a:extLst>
              <a:ext uri="{FF2B5EF4-FFF2-40B4-BE49-F238E27FC236}">
                <a16:creationId xmlns:a16="http://schemas.microsoft.com/office/drawing/2014/main" id="{BC19D55C-EBAC-3B01-5453-334CA7A03DFA}"/>
              </a:ext>
            </a:extLst>
          </p:cNvPr>
          <p:cNvCxnSpPr>
            <a:stCxn id="2" idx="2"/>
          </p:cNvCxnSpPr>
          <p:nvPr/>
        </p:nvCxnSpPr>
        <p:spPr>
          <a:xfrm>
            <a:off x="6096000" y="978072"/>
            <a:ext cx="0" cy="5680522"/>
          </a:xfrm>
          <a:prstGeom prst="line">
            <a:avLst/>
          </a:prstGeom>
          <a:ln>
            <a:solidFill>
              <a:srgbClr val="3E7C3E"/>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793347"/>
      </p:ext>
    </p:extLst>
  </p:cSld>
  <p:clrMapOvr>
    <a:masterClrMapping/>
  </p:clrMapOvr>
  <p:transition>
    <p:fade/>
  </p:transition>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438</TotalTime>
  <Words>2218</Words>
  <Application>Microsoft Office PowerPoint</Application>
  <PresentationFormat>Grand écran</PresentationFormat>
  <Paragraphs>224</Paragraphs>
  <Slides>17</Slides>
  <Notes>17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Aptos</vt:lpstr>
      <vt:lpstr>Arial</vt:lpstr>
      <vt:lpstr>Neue Haas Grotesk Text Pro</vt:lpstr>
      <vt:lpstr>OasisVTI</vt:lpstr>
      <vt:lpstr>Étude stratégique des marchés export pour La Poule qui Chante</vt:lpstr>
      <vt:lpstr>Plan de la présentation</vt:lpstr>
      <vt:lpstr>Introduction</vt:lpstr>
      <vt:lpstr>CONTEXTE</vt:lpstr>
      <vt:lpstr>Méthodologie &amp; Données : sources</vt:lpstr>
      <vt:lpstr>Préparation des données</vt:lpstr>
      <vt:lpstr>DATASET FINAL &amp; INDICATEURS Clés</vt:lpstr>
      <vt:lpstr>Analyse multivariée des pays</vt:lpstr>
      <vt:lpstr>Analyse en composantes principales (acp)</vt:lpstr>
      <vt:lpstr>Présentation PowerPoint</vt:lpstr>
      <vt:lpstr>Présentation PowerPoint</vt:lpstr>
      <vt:lpstr>Segmentation et profils types</vt:lpstr>
      <vt:lpstr>Présentation PowerPoint</vt:lpstr>
      <vt:lpstr>Interprétation des clusters</vt:lpstr>
      <vt:lpstr>RECOMMANDATIONS</vt:lpstr>
      <vt:lpstr>Priorisation des pays par cluster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 Yung</dc:creator>
  <cp:lastModifiedBy>C Yung</cp:lastModifiedBy>
  <cp:revision>4</cp:revision>
  <dcterms:created xsi:type="dcterms:W3CDTF">2025-10-02T11:44:38Z</dcterms:created>
  <dcterms:modified xsi:type="dcterms:W3CDTF">2025-10-03T11:42:42Z</dcterms:modified>
</cp:coreProperties>
</file>