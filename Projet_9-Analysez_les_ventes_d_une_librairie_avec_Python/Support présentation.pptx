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0" r:id="rId1"/>
  </p:sldMasterIdLst>
  <p:notesMasterIdLst>
    <p:notesMasterId r:id="rId1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30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99A142-8300-4F51-A572-53CB2067EF8F}" v="646" dt="2025-07-31T12:36:29.70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7" d="100"/>
          <a:sy n="57" d="100"/>
        </p:scale>
        <p:origin x="1260"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4754D0-35E1-491D-AE58-7298FDB1BB47}" type="datetimeFigureOut">
              <a:rPr lang="fr-FR" smtClean="0"/>
              <a:t>04/08/2025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3DA2A6-0B84-45C9-AAA8-68758EC81C79}" type="slidenum">
              <a:rPr lang="fr-FR" smtClean="0"/>
              <a:t>‹N°›</a:t>
            </a:fld>
            <a:endParaRPr lang="fr-FR"/>
          </a:p>
        </p:txBody>
      </p:sp>
    </p:spTree>
    <p:extLst>
      <p:ext uri="{BB962C8B-B14F-4D97-AF65-F5344CB8AC3E}">
        <p14:creationId xmlns:p14="http://schemas.microsoft.com/office/powerpoint/2010/main" val="2920449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1B3DA2A6-0B84-45C9-AAA8-68758EC81C79}" type="slidenum">
              <a:rPr lang="fr-FR" smtClean="0"/>
              <a:t>4</a:t>
            </a:fld>
            <a:endParaRPr lang="fr-FR"/>
          </a:p>
        </p:txBody>
      </p:sp>
    </p:spTree>
    <p:extLst>
      <p:ext uri="{BB962C8B-B14F-4D97-AF65-F5344CB8AC3E}">
        <p14:creationId xmlns:p14="http://schemas.microsoft.com/office/powerpoint/2010/main" val="3707299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93B25-F615-380E-A0CE-A8CC767B66F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C8C3F11-02B9-6701-9FD5-3B0188354CB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3878BFF-92BD-931C-0FBE-A1B6D87FB97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A2F609D-F6BC-79C8-7085-DA4FCE38610B}"/>
              </a:ext>
            </a:extLst>
          </p:cNvPr>
          <p:cNvSpPr>
            <a:spLocks noGrp="1"/>
          </p:cNvSpPr>
          <p:nvPr>
            <p:ph type="sldNum" sz="quarter" idx="5"/>
          </p:nvPr>
        </p:nvSpPr>
        <p:spPr/>
        <p:txBody>
          <a:bodyPr/>
          <a:lstStyle/>
          <a:p>
            <a:fld id="{1B3DA2A6-0B84-45C9-AAA8-68758EC81C79}" type="slidenum">
              <a:rPr lang="fr-FR" smtClean="0"/>
              <a:t>5</a:t>
            </a:fld>
            <a:endParaRPr lang="fr-FR"/>
          </a:p>
        </p:txBody>
      </p:sp>
    </p:spTree>
    <p:extLst>
      <p:ext uri="{BB962C8B-B14F-4D97-AF65-F5344CB8AC3E}">
        <p14:creationId xmlns:p14="http://schemas.microsoft.com/office/powerpoint/2010/main" val="1291932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83B98-38A3-C44F-BC38-E190B2617B8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8AAD279-CA02-5F27-4EA5-F03AC4AE289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5BE163B-17D3-F38F-B5FA-7D01DCCD086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1F9CD9E-A9D5-875D-F753-1B172BE14B83}"/>
              </a:ext>
            </a:extLst>
          </p:cNvPr>
          <p:cNvSpPr>
            <a:spLocks noGrp="1"/>
          </p:cNvSpPr>
          <p:nvPr>
            <p:ph type="sldNum" sz="quarter" idx="5"/>
          </p:nvPr>
        </p:nvSpPr>
        <p:spPr/>
        <p:txBody>
          <a:bodyPr/>
          <a:lstStyle/>
          <a:p>
            <a:fld id="{1B3DA2A6-0B84-45C9-AAA8-68758EC81C79}" type="slidenum">
              <a:rPr lang="fr-FR" smtClean="0"/>
              <a:t>6</a:t>
            </a:fld>
            <a:endParaRPr lang="fr-FR"/>
          </a:p>
        </p:txBody>
      </p:sp>
    </p:spTree>
    <p:extLst>
      <p:ext uri="{BB962C8B-B14F-4D97-AF65-F5344CB8AC3E}">
        <p14:creationId xmlns:p14="http://schemas.microsoft.com/office/powerpoint/2010/main" val="3099942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9ECCA-3FBD-5B6B-BC15-2553E5FCC2E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7A6D99F-08CF-4A41-0055-ED751FD4466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938F110-C076-C6CD-843E-1F800CD2D80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9D36A58-FD76-5E89-6853-3318353BFDFA}"/>
              </a:ext>
            </a:extLst>
          </p:cNvPr>
          <p:cNvSpPr>
            <a:spLocks noGrp="1"/>
          </p:cNvSpPr>
          <p:nvPr>
            <p:ph type="sldNum" sz="quarter" idx="5"/>
          </p:nvPr>
        </p:nvSpPr>
        <p:spPr/>
        <p:txBody>
          <a:bodyPr/>
          <a:lstStyle/>
          <a:p>
            <a:fld id="{1B3DA2A6-0B84-45C9-AAA8-68758EC81C79}" type="slidenum">
              <a:rPr lang="fr-FR" smtClean="0"/>
              <a:t>7</a:t>
            </a:fld>
            <a:endParaRPr lang="fr-FR"/>
          </a:p>
        </p:txBody>
      </p:sp>
    </p:spTree>
    <p:extLst>
      <p:ext uri="{BB962C8B-B14F-4D97-AF65-F5344CB8AC3E}">
        <p14:creationId xmlns:p14="http://schemas.microsoft.com/office/powerpoint/2010/main" val="2443559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97851-C1B1-8369-7E7D-B4C04A01136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D4623F7-D0DF-D42C-78E6-65A3F98A0C5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8B03AE2-3CC7-2B62-5A72-5B053AB2C06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E7CB22E-BF53-9249-C48F-EAD9EEC2A30A}"/>
              </a:ext>
            </a:extLst>
          </p:cNvPr>
          <p:cNvSpPr>
            <a:spLocks noGrp="1"/>
          </p:cNvSpPr>
          <p:nvPr>
            <p:ph type="sldNum" sz="quarter" idx="5"/>
          </p:nvPr>
        </p:nvSpPr>
        <p:spPr/>
        <p:txBody>
          <a:bodyPr/>
          <a:lstStyle/>
          <a:p>
            <a:fld id="{1B3DA2A6-0B84-45C9-AAA8-68758EC81C79}" type="slidenum">
              <a:rPr lang="fr-FR" smtClean="0"/>
              <a:t>8</a:t>
            </a:fld>
            <a:endParaRPr lang="fr-FR"/>
          </a:p>
        </p:txBody>
      </p:sp>
    </p:spTree>
    <p:extLst>
      <p:ext uri="{BB962C8B-B14F-4D97-AF65-F5344CB8AC3E}">
        <p14:creationId xmlns:p14="http://schemas.microsoft.com/office/powerpoint/2010/main" val="1152901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8997E-52F2-8370-303C-741ADB3F49A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2B97045-96CC-037A-50FA-E1CCCAC3C13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C396A80-5505-ED02-A7A8-ECD2410A312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8288F3F-8E44-13AD-93E1-5D7145304E27}"/>
              </a:ext>
            </a:extLst>
          </p:cNvPr>
          <p:cNvSpPr>
            <a:spLocks noGrp="1"/>
          </p:cNvSpPr>
          <p:nvPr>
            <p:ph type="sldNum" sz="quarter" idx="5"/>
          </p:nvPr>
        </p:nvSpPr>
        <p:spPr/>
        <p:txBody>
          <a:bodyPr/>
          <a:lstStyle/>
          <a:p>
            <a:fld id="{1B3DA2A6-0B84-45C9-AAA8-68758EC81C79}" type="slidenum">
              <a:rPr lang="fr-FR" smtClean="0"/>
              <a:t>9</a:t>
            </a:fld>
            <a:endParaRPr lang="fr-FR"/>
          </a:p>
        </p:txBody>
      </p:sp>
    </p:spTree>
    <p:extLst>
      <p:ext uri="{BB962C8B-B14F-4D97-AF65-F5344CB8AC3E}">
        <p14:creationId xmlns:p14="http://schemas.microsoft.com/office/powerpoint/2010/main" val="1305779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B96DC-E2EE-27FD-3611-A5F8EB62532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F5AEDE3-60CE-4578-3CC8-E04B1E70D59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6E44B01-E7B7-DF07-79BD-34B9B00CD86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2E31CB7-5750-73BA-A8CD-198F5F221AE5}"/>
              </a:ext>
            </a:extLst>
          </p:cNvPr>
          <p:cNvSpPr>
            <a:spLocks noGrp="1"/>
          </p:cNvSpPr>
          <p:nvPr>
            <p:ph type="sldNum" sz="quarter" idx="5"/>
          </p:nvPr>
        </p:nvSpPr>
        <p:spPr/>
        <p:txBody>
          <a:bodyPr/>
          <a:lstStyle/>
          <a:p>
            <a:fld id="{1B3DA2A6-0B84-45C9-AAA8-68758EC81C79}" type="slidenum">
              <a:rPr lang="fr-FR" smtClean="0"/>
              <a:t>10</a:t>
            </a:fld>
            <a:endParaRPr lang="fr-FR"/>
          </a:p>
        </p:txBody>
      </p:sp>
    </p:spTree>
    <p:extLst>
      <p:ext uri="{BB962C8B-B14F-4D97-AF65-F5344CB8AC3E}">
        <p14:creationId xmlns:p14="http://schemas.microsoft.com/office/powerpoint/2010/main" val="22244272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788A6-97B2-C02B-02AE-D6E8367A4F0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E431834-5990-7067-F27F-0B4E3EDFAA7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849BF14-0169-E2F0-6B3F-0CDB20A3063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66AB2D4-B58A-4ECF-6F5C-CB937B15E3EC}"/>
              </a:ext>
            </a:extLst>
          </p:cNvPr>
          <p:cNvSpPr>
            <a:spLocks noGrp="1"/>
          </p:cNvSpPr>
          <p:nvPr>
            <p:ph type="sldNum" sz="quarter" idx="5"/>
          </p:nvPr>
        </p:nvSpPr>
        <p:spPr/>
        <p:txBody>
          <a:bodyPr/>
          <a:lstStyle/>
          <a:p>
            <a:fld id="{1B3DA2A6-0B84-45C9-AAA8-68758EC81C79}" type="slidenum">
              <a:rPr lang="fr-FR" smtClean="0"/>
              <a:t>11</a:t>
            </a:fld>
            <a:endParaRPr lang="fr-FR"/>
          </a:p>
        </p:txBody>
      </p:sp>
    </p:spTree>
    <p:extLst>
      <p:ext uri="{BB962C8B-B14F-4D97-AF65-F5344CB8AC3E}">
        <p14:creationId xmlns:p14="http://schemas.microsoft.com/office/powerpoint/2010/main" val="3028621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19C3A-DDE1-586E-6CF7-78AB548AC66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C1A721B-F8A0-25A3-AE6F-67C40501806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C212CDA-A8DC-BB35-01F0-8C5B67194EC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D0445D9-5FB5-31CC-851D-006CDCBD66D3}"/>
              </a:ext>
            </a:extLst>
          </p:cNvPr>
          <p:cNvSpPr>
            <a:spLocks noGrp="1"/>
          </p:cNvSpPr>
          <p:nvPr>
            <p:ph type="sldNum" sz="quarter" idx="5"/>
          </p:nvPr>
        </p:nvSpPr>
        <p:spPr/>
        <p:txBody>
          <a:bodyPr/>
          <a:lstStyle/>
          <a:p>
            <a:fld id="{1B3DA2A6-0B84-45C9-AAA8-68758EC81C79}" type="slidenum">
              <a:rPr lang="fr-FR" smtClean="0"/>
              <a:t>12</a:t>
            </a:fld>
            <a:endParaRPr lang="fr-FR"/>
          </a:p>
        </p:txBody>
      </p:sp>
    </p:spTree>
    <p:extLst>
      <p:ext uri="{BB962C8B-B14F-4D97-AF65-F5344CB8AC3E}">
        <p14:creationId xmlns:p14="http://schemas.microsoft.com/office/powerpoint/2010/main" val="371940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A7F56-AF90-0DBD-FF45-59320FFE968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BE6F6B3-F543-143D-910F-C4016202044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AA61DEB-7478-1F3E-B451-4CAC09A8CE7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217C70A-F1B7-40A2-F5B6-4CDD69283A19}"/>
              </a:ext>
            </a:extLst>
          </p:cNvPr>
          <p:cNvSpPr>
            <a:spLocks noGrp="1"/>
          </p:cNvSpPr>
          <p:nvPr>
            <p:ph type="sldNum" sz="quarter" idx="5"/>
          </p:nvPr>
        </p:nvSpPr>
        <p:spPr/>
        <p:txBody>
          <a:bodyPr/>
          <a:lstStyle/>
          <a:p>
            <a:fld id="{1B3DA2A6-0B84-45C9-AAA8-68758EC81C79}" type="slidenum">
              <a:rPr lang="fr-FR" smtClean="0"/>
              <a:t>13</a:t>
            </a:fld>
            <a:endParaRPr lang="fr-FR"/>
          </a:p>
        </p:txBody>
      </p:sp>
    </p:spTree>
    <p:extLst>
      <p:ext uri="{BB962C8B-B14F-4D97-AF65-F5344CB8AC3E}">
        <p14:creationId xmlns:p14="http://schemas.microsoft.com/office/powerpoint/2010/main" val="15069034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F5D2D-A1B6-A49E-A362-0B9B2D354E7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4F91956-53A9-A1A2-2129-45E7F44CBAE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ECB8B0B-8FC0-BCF6-23FF-77EB67EAED3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3857EB7-341E-9588-DB95-43BBD3D654C8}"/>
              </a:ext>
            </a:extLst>
          </p:cNvPr>
          <p:cNvSpPr>
            <a:spLocks noGrp="1"/>
          </p:cNvSpPr>
          <p:nvPr>
            <p:ph type="sldNum" sz="quarter" idx="5"/>
          </p:nvPr>
        </p:nvSpPr>
        <p:spPr/>
        <p:txBody>
          <a:bodyPr/>
          <a:lstStyle/>
          <a:p>
            <a:fld id="{1B3DA2A6-0B84-45C9-AAA8-68758EC81C79}" type="slidenum">
              <a:rPr lang="fr-FR" smtClean="0"/>
              <a:t>14</a:t>
            </a:fld>
            <a:endParaRPr lang="fr-FR"/>
          </a:p>
        </p:txBody>
      </p:sp>
    </p:spTree>
    <p:extLst>
      <p:ext uri="{BB962C8B-B14F-4D97-AF65-F5344CB8AC3E}">
        <p14:creationId xmlns:p14="http://schemas.microsoft.com/office/powerpoint/2010/main" val="9855624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ED24E-C64A-BA58-95E2-A801A03522D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BC7D055-DC2F-C750-6916-67F7C3BEA17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E6EC0B4-53C6-A201-D7DA-69B1F96A680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A81A8AC-368B-91BE-3663-51CD8DEC0838}"/>
              </a:ext>
            </a:extLst>
          </p:cNvPr>
          <p:cNvSpPr>
            <a:spLocks noGrp="1"/>
          </p:cNvSpPr>
          <p:nvPr>
            <p:ph type="sldNum" sz="quarter" idx="5"/>
          </p:nvPr>
        </p:nvSpPr>
        <p:spPr/>
        <p:txBody>
          <a:bodyPr/>
          <a:lstStyle/>
          <a:p>
            <a:fld id="{1B3DA2A6-0B84-45C9-AAA8-68758EC81C79}" type="slidenum">
              <a:rPr lang="fr-FR" smtClean="0"/>
              <a:t>15</a:t>
            </a:fld>
            <a:endParaRPr lang="fr-FR"/>
          </a:p>
        </p:txBody>
      </p:sp>
    </p:spTree>
    <p:extLst>
      <p:ext uri="{BB962C8B-B14F-4D97-AF65-F5344CB8AC3E}">
        <p14:creationId xmlns:p14="http://schemas.microsoft.com/office/powerpoint/2010/main" val="1650647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2B86B-37FD-EBB2-E0E0-4F48585C598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20E06661-7782-2E4C-A0BD-58561E9F7D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179D1804-B074-7B82-D0FA-717C480E8053}"/>
              </a:ext>
            </a:extLst>
          </p:cNvPr>
          <p:cNvSpPr>
            <a:spLocks noGrp="1"/>
          </p:cNvSpPr>
          <p:nvPr>
            <p:ph type="dt" sz="half" idx="10"/>
          </p:nvPr>
        </p:nvSpPr>
        <p:spPr/>
        <p:txBody>
          <a:bodyPr/>
          <a:lstStyle/>
          <a:p>
            <a:fld id="{7FA31CB7-48AA-4691-B614-160E906C518A}" type="datetime2">
              <a:rPr lang="en-US" smtClean="0"/>
              <a:t>Monday, August 4, 2025</a:t>
            </a:fld>
            <a:endParaRPr lang="en-US"/>
          </a:p>
        </p:txBody>
      </p:sp>
      <p:sp>
        <p:nvSpPr>
          <p:cNvPr id="5" name="Espace réservé du pied de page 4">
            <a:extLst>
              <a:ext uri="{FF2B5EF4-FFF2-40B4-BE49-F238E27FC236}">
                <a16:creationId xmlns:a16="http://schemas.microsoft.com/office/drawing/2014/main" id="{F13AD191-C378-26E8-9A2F-2A8986C57930}"/>
              </a:ext>
            </a:extLst>
          </p:cNvPr>
          <p:cNvSpPr>
            <a:spLocks noGrp="1"/>
          </p:cNvSpPr>
          <p:nvPr>
            <p:ph type="ftr" sz="quarter" idx="11"/>
          </p:nvPr>
        </p:nvSpPr>
        <p:spPr/>
        <p:txBody>
          <a:bodyPr/>
          <a:lstStyle/>
          <a:p>
            <a:r>
              <a:rPr lang="en-US"/>
              <a:t>Sample Footer Text</a:t>
            </a:r>
          </a:p>
        </p:txBody>
      </p:sp>
      <p:sp>
        <p:nvSpPr>
          <p:cNvPr id="6" name="Espace réservé du numéro de diapositive 5">
            <a:extLst>
              <a:ext uri="{FF2B5EF4-FFF2-40B4-BE49-F238E27FC236}">
                <a16:creationId xmlns:a16="http://schemas.microsoft.com/office/drawing/2014/main" id="{8EB04684-A3AA-461F-C46A-ED128FF232FF}"/>
              </a:ext>
            </a:extLst>
          </p:cNvPr>
          <p:cNvSpPr>
            <a:spLocks noGrp="1"/>
          </p:cNvSpPr>
          <p:nvPr>
            <p:ph type="sldNum" sz="quarter" idx="12"/>
          </p:nvPr>
        </p:nvSpPr>
        <p:spPr/>
        <p:txBody>
          <a:bodyPr/>
          <a:lstStyle/>
          <a:p>
            <a:fld id="{CC057153-B650-4DEB-B370-79DDCFDCE934}" type="slidenum">
              <a:rPr lang="en-US" smtClean="0"/>
              <a:pPr/>
              <a:t>‹N°›</a:t>
            </a:fld>
            <a:endParaRPr lang="en-US"/>
          </a:p>
        </p:txBody>
      </p:sp>
    </p:spTree>
    <p:extLst>
      <p:ext uri="{BB962C8B-B14F-4D97-AF65-F5344CB8AC3E}">
        <p14:creationId xmlns:p14="http://schemas.microsoft.com/office/powerpoint/2010/main" val="299158662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1BEFBD-7B94-CA84-BA29-5BD2A392C13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1B903D4-25DE-91C6-A871-63A516AF888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60D35E3-D9DE-332F-A47F-686514C3BFCD}"/>
              </a:ext>
            </a:extLst>
          </p:cNvPr>
          <p:cNvSpPr>
            <a:spLocks noGrp="1"/>
          </p:cNvSpPr>
          <p:nvPr>
            <p:ph type="dt" sz="half" idx="10"/>
          </p:nvPr>
        </p:nvSpPr>
        <p:spPr/>
        <p:txBody>
          <a:bodyPr/>
          <a:lstStyle/>
          <a:p>
            <a:fld id="{7FA31CB7-48AA-4691-B614-160E906C518A}" type="datetime2">
              <a:rPr lang="en-US" smtClean="0"/>
              <a:t>Monday, August 4, 2025</a:t>
            </a:fld>
            <a:endParaRPr lang="en-US"/>
          </a:p>
        </p:txBody>
      </p:sp>
      <p:sp>
        <p:nvSpPr>
          <p:cNvPr id="5" name="Espace réservé du pied de page 4">
            <a:extLst>
              <a:ext uri="{FF2B5EF4-FFF2-40B4-BE49-F238E27FC236}">
                <a16:creationId xmlns:a16="http://schemas.microsoft.com/office/drawing/2014/main" id="{F97489D9-502B-9293-FF1A-B82D2F24B644}"/>
              </a:ext>
            </a:extLst>
          </p:cNvPr>
          <p:cNvSpPr>
            <a:spLocks noGrp="1"/>
          </p:cNvSpPr>
          <p:nvPr>
            <p:ph type="ftr" sz="quarter" idx="11"/>
          </p:nvPr>
        </p:nvSpPr>
        <p:spPr/>
        <p:txBody>
          <a:bodyPr/>
          <a:lstStyle/>
          <a:p>
            <a:r>
              <a:rPr lang="en-US"/>
              <a:t>Sample Footer Text</a:t>
            </a:r>
          </a:p>
        </p:txBody>
      </p:sp>
      <p:sp>
        <p:nvSpPr>
          <p:cNvPr id="6" name="Espace réservé du numéro de diapositive 5">
            <a:extLst>
              <a:ext uri="{FF2B5EF4-FFF2-40B4-BE49-F238E27FC236}">
                <a16:creationId xmlns:a16="http://schemas.microsoft.com/office/drawing/2014/main" id="{32F168EC-60E3-355D-6FD4-C051CD14E4CA}"/>
              </a:ext>
            </a:extLst>
          </p:cNvPr>
          <p:cNvSpPr>
            <a:spLocks noGrp="1"/>
          </p:cNvSpPr>
          <p:nvPr>
            <p:ph type="sldNum" sz="quarter" idx="12"/>
          </p:nvPr>
        </p:nvSpPr>
        <p:spPr/>
        <p:txBody>
          <a:bodyPr/>
          <a:lstStyle/>
          <a:p>
            <a:fld id="{CC057153-B650-4DEB-B370-79DDCFDCE934}" type="slidenum">
              <a:rPr lang="en-US" smtClean="0"/>
              <a:pPr/>
              <a:t>‹N°›</a:t>
            </a:fld>
            <a:endParaRPr lang="en-US"/>
          </a:p>
        </p:txBody>
      </p:sp>
    </p:spTree>
    <p:extLst>
      <p:ext uri="{BB962C8B-B14F-4D97-AF65-F5344CB8AC3E}">
        <p14:creationId xmlns:p14="http://schemas.microsoft.com/office/powerpoint/2010/main" val="174361977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CBB914-0B42-0ACB-CDB0-75D9F802262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E372CDCB-5AA8-25FF-AEFA-0AE5F894173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8754071-278D-6E26-6778-798E7AEFC31D}"/>
              </a:ext>
            </a:extLst>
          </p:cNvPr>
          <p:cNvSpPr>
            <a:spLocks noGrp="1"/>
          </p:cNvSpPr>
          <p:nvPr>
            <p:ph type="dt" sz="half" idx="10"/>
          </p:nvPr>
        </p:nvSpPr>
        <p:spPr/>
        <p:txBody>
          <a:bodyPr/>
          <a:lstStyle/>
          <a:p>
            <a:fld id="{7FA31CB7-48AA-4691-B614-160E906C518A}" type="datetime2">
              <a:rPr lang="en-US" smtClean="0"/>
              <a:t>Monday, August 4, 2025</a:t>
            </a:fld>
            <a:endParaRPr lang="en-US"/>
          </a:p>
        </p:txBody>
      </p:sp>
      <p:sp>
        <p:nvSpPr>
          <p:cNvPr id="5" name="Espace réservé du pied de page 4">
            <a:extLst>
              <a:ext uri="{FF2B5EF4-FFF2-40B4-BE49-F238E27FC236}">
                <a16:creationId xmlns:a16="http://schemas.microsoft.com/office/drawing/2014/main" id="{E1AF9DCA-EECE-4906-8745-4BCAE7175669}"/>
              </a:ext>
            </a:extLst>
          </p:cNvPr>
          <p:cNvSpPr>
            <a:spLocks noGrp="1"/>
          </p:cNvSpPr>
          <p:nvPr>
            <p:ph type="ftr" sz="quarter" idx="11"/>
          </p:nvPr>
        </p:nvSpPr>
        <p:spPr/>
        <p:txBody>
          <a:bodyPr/>
          <a:lstStyle/>
          <a:p>
            <a:r>
              <a:rPr lang="en-US"/>
              <a:t>Sample Footer Text</a:t>
            </a:r>
          </a:p>
        </p:txBody>
      </p:sp>
      <p:sp>
        <p:nvSpPr>
          <p:cNvPr id="6" name="Espace réservé du numéro de diapositive 5">
            <a:extLst>
              <a:ext uri="{FF2B5EF4-FFF2-40B4-BE49-F238E27FC236}">
                <a16:creationId xmlns:a16="http://schemas.microsoft.com/office/drawing/2014/main" id="{25DB2510-11CF-F0E6-ACF6-D64D1B41C8B4}"/>
              </a:ext>
            </a:extLst>
          </p:cNvPr>
          <p:cNvSpPr>
            <a:spLocks noGrp="1"/>
          </p:cNvSpPr>
          <p:nvPr>
            <p:ph type="sldNum" sz="quarter" idx="12"/>
          </p:nvPr>
        </p:nvSpPr>
        <p:spPr/>
        <p:txBody>
          <a:bodyPr/>
          <a:lstStyle/>
          <a:p>
            <a:fld id="{CC057153-B650-4DEB-B370-79DDCFDCE934}" type="slidenum">
              <a:rPr lang="en-US" smtClean="0"/>
              <a:pPr/>
              <a:t>‹N°›</a:t>
            </a:fld>
            <a:endParaRPr lang="en-US"/>
          </a:p>
        </p:txBody>
      </p:sp>
    </p:spTree>
    <p:extLst>
      <p:ext uri="{BB962C8B-B14F-4D97-AF65-F5344CB8AC3E}">
        <p14:creationId xmlns:p14="http://schemas.microsoft.com/office/powerpoint/2010/main" val="10176439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8456B3-7199-983A-32E9-D8EE87C7277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585B462-A394-FF88-8EDE-41EB1E52604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FA9AE91A-63A5-4D3D-1BC7-92EFC9CE9F35}"/>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A7293E65-DA4C-C533-F075-CB1D537656EB}"/>
              </a:ext>
            </a:extLst>
          </p:cNvPr>
          <p:cNvSpPr>
            <a:spLocks noGrp="1"/>
          </p:cNvSpPr>
          <p:nvPr>
            <p:ph type="dt" sz="half" idx="10"/>
          </p:nvPr>
        </p:nvSpPr>
        <p:spPr/>
        <p:txBody>
          <a:bodyPr/>
          <a:lstStyle/>
          <a:p>
            <a:fld id="{7FA31CB7-48AA-4691-B614-160E906C518A}" type="datetime2">
              <a:rPr lang="en-US" smtClean="0"/>
              <a:t>Monday, August 4, 2025</a:t>
            </a:fld>
            <a:endParaRPr lang="en-US"/>
          </a:p>
        </p:txBody>
      </p:sp>
      <p:sp>
        <p:nvSpPr>
          <p:cNvPr id="6" name="Espace réservé du pied de page 5">
            <a:extLst>
              <a:ext uri="{FF2B5EF4-FFF2-40B4-BE49-F238E27FC236}">
                <a16:creationId xmlns:a16="http://schemas.microsoft.com/office/drawing/2014/main" id="{0C238AD3-B80E-4BC4-0676-7B3D2C821E8A}"/>
              </a:ext>
            </a:extLst>
          </p:cNvPr>
          <p:cNvSpPr>
            <a:spLocks noGrp="1"/>
          </p:cNvSpPr>
          <p:nvPr>
            <p:ph type="ftr" sz="quarter" idx="11"/>
          </p:nvPr>
        </p:nvSpPr>
        <p:spPr/>
        <p:txBody>
          <a:bodyPr/>
          <a:lstStyle/>
          <a:p>
            <a:r>
              <a:rPr lang="en-US"/>
              <a:t>Sample Footer Text</a:t>
            </a:r>
          </a:p>
        </p:txBody>
      </p:sp>
      <p:sp>
        <p:nvSpPr>
          <p:cNvPr id="7" name="Espace réservé du numéro de diapositive 6">
            <a:extLst>
              <a:ext uri="{FF2B5EF4-FFF2-40B4-BE49-F238E27FC236}">
                <a16:creationId xmlns:a16="http://schemas.microsoft.com/office/drawing/2014/main" id="{D02683A3-F89F-49CB-AA76-E27B3F7F1AC5}"/>
              </a:ext>
            </a:extLst>
          </p:cNvPr>
          <p:cNvSpPr>
            <a:spLocks noGrp="1"/>
          </p:cNvSpPr>
          <p:nvPr>
            <p:ph type="sldNum" sz="quarter" idx="12"/>
          </p:nvPr>
        </p:nvSpPr>
        <p:spPr/>
        <p:txBody>
          <a:bodyPr/>
          <a:lstStyle/>
          <a:p>
            <a:fld id="{CC057153-B650-4DEB-B370-79DDCFDCE934}" type="slidenum">
              <a:rPr lang="en-US" smtClean="0"/>
              <a:pPr/>
              <a:t>‹N°›</a:t>
            </a:fld>
            <a:endParaRPr lang="en-US"/>
          </a:p>
        </p:txBody>
      </p:sp>
    </p:spTree>
    <p:extLst>
      <p:ext uri="{BB962C8B-B14F-4D97-AF65-F5344CB8AC3E}">
        <p14:creationId xmlns:p14="http://schemas.microsoft.com/office/powerpoint/2010/main" val="235504434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605FD8-B746-348D-9984-692952D0D02E}"/>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D39571A-D2AE-E9CD-452A-3EACB9C27B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B773918-3E74-2C8A-B729-4F317E08C1C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A8381D9-618B-CCEC-479B-AE1A2E662C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218298C6-6588-8478-778F-26C734473A64}"/>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4C2C6EF-EA11-DD77-202C-19C788EB818E}"/>
              </a:ext>
            </a:extLst>
          </p:cNvPr>
          <p:cNvSpPr>
            <a:spLocks noGrp="1"/>
          </p:cNvSpPr>
          <p:nvPr>
            <p:ph type="dt" sz="half" idx="10"/>
          </p:nvPr>
        </p:nvSpPr>
        <p:spPr/>
        <p:txBody>
          <a:bodyPr/>
          <a:lstStyle/>
          <a:p>
            <a:fld id="{7FA31CB7-48AA-4691-B614-160E906C518A}" type="datetime2">
              <a:rPr lang="en-US" smtClean="0"/>
              <a:t>Monday, August 4, 2025</a:t>
            </a:fld>
            <a:endParaRPr lang="en-US"/>
          </a:p>
        </p:txBody>
      </p:sp>
      <p:sp>
        <p:nvSpPr>
          <p:cNvPr id="8" name="Espace réservé du pied de page 7">
            <a:extLst>
              <a:ext uri="{FF2B5EF4-FFF2-40B4-BE49-F238E27FC236}">
                <a16:creationId xmlns:a16="http://schemas.microsoft.com/office/drawing/2014/main" id="{F930E1CD-69F7-BB92-34B0-8F169EB17CBC}"/>
              </a:ext>
            </a:extLst>
          </p:cNvPr>
          <p:cNvSpPr>
            <a:spLocks noGrp="1"/>
          </p:cNvSpPr>
          <p:nvPr>
            <p:ph type="ftr" sz="quarter" idx="11"/>
          </p:nvPr>
        </p:nvSpPr>
        <p:spPr/>
        <p:txBody>
          <a:bodyPr/>
          <a:lstStyle/>
          <a:p>
            <a:r>
              <a:rPr lang="en-US"/>
              <a:t>Sample Footer Text</a:t>
            </a:r>
          </a:p>
        </p:txBody>
      </p:sp>
      <p:sp>
        <p:nvSpPr>
          <p:cNvPr id="9" name="Espace réservé du numéro de diapositive 8">
            <a:extLst>
              <a:ext uri="{FF2B5EF4-FFF2-40B4-BE49-F238E27FC236}">
                <a16:creationId xmlns:a16="http://schemas.microsoft.com/office/drawing/2014/main" id="{A5DF380C-2C35-3247-85C6-22C9D0B2A275}"/>
              </a:ext>
            </a:extLst>
          </p:cNvPr>
          <p:cNvSpPr>
            <a:spLocks noGrp="1"/>
          </p:cNvSpPr>
          <p:nvPr>
            <p:ph type="sldNum" sz="quarter" idx="12"/>
          </p:nvPr>
        </p:nvSpPr>
        <p:spPr/>
        <p:txBody>
          <a:bodyPr/>
          <a:lstStyle/>
          <a:p>
            <a:fld id="{CC057153-B650-4DEB-B370-79DDCFDCE934}" type="slidenum">
              <a:rPr lang="en-US" smtClean="0"/>
              <a:pPr/>
              <a:t>‹N°›</a:t>
            </a:fld>
            <a:endParaRPr lang="en-US"/>
          </a:p>
        </p:txBody>
      </p:sp>
    </p:spTree>
    <p:extLst>
      <p:ext uri="{BB962C8B-B14F-4D97-AF65-F5344CB8AC3E}">
        <p14:creationId xmlns:p14="http://schemas.microsoft.com/office/powerpoint/2010/main" val="329098384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D1AC46-A034-3546-C9B6-CAB2AD4013D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952C79D4-0670-032E-4BE3-336F649320F2}"/>
              </a:ext>
            </a:extLst>
          </p:cNvPr>
          <p:cNvSpPr>
            <a:spLocks noGrp="1"/>
          </p:cNvSpPr>
          <p:nvPr>
            <p:ph type="dt" sz="half" idx="10"/>
          </p:nvPr>
        </p:nvSpPr>
        <p:spPr/>
        <p:txBody>
          <a:bodyPr/>
          <a:lstStyle/>
          <a:p>
            <a:fld id="{7FA31CB7-48AA-4691-B614-160E906C518A}" type="datetime2">
              <a:rPr lang="en-US" smtClean="0"/>
              <a:t>Monday, August 4, 2025</a:t>
            </a:fld>
            <a:endParaRPr lang="en-US"/>
          </a:p>
        </p:txBody>
      </p:sp>
      <p:sp>
        <p:nvSpPr>
          <p:cNvPr id="4" name="Espace réservé du pied de page 3">
            <a:extLst>
              <a:ext uri="{FF2B5EF4-FFF2-40B4-BE49-F238E27FC236}">
                <a16:creationId xmlns:a16="http://schemas.microsoft.com/office/drawing/2014/main" id="{6383E1A2-A6D3-6DCE-8130-E51CB87AC4CB}"/>
              </a:ext>
            </a:extLst>
          </p:cNvPr>
          <p:cNvSpPr>
            <a:spLocks noGrp="1"/>
          </p:cNvSpPr>
          <p:nvPr>
            <p:ph type="ftr" sz="quarter" idx="11"/>
          </p:nvPr>
        </p:nvSpPr>
        <p:spPr/>
        <p:txBody>
          <a:bodyPr/>
          <a:lstStyle/>
          <a:p>
            <a:r>
              <a:rPr lang="en-US"/>
              <a:t>Sample Footer Text</a:t>
            </a:r>
          </a:p>
        </p:txBody>
      </p:sp>
      <p:sp>
        <p:nvSpPr>
          <p:cNvPr id="5" name="Espace réservé du numéro de diapositive 4">
            <a:extLst>
              <a:ext uri="{FF2B5EF4-FFF2-40B4-BE49-F238E27FC236}">
                <a16:creationId xmlns:a16="http://schemas.microsoft.com/office/drawing/2014/main" id="{F85EBE97-CE59-8E62-D48B-8C82B7B88897}"/>
              </a:ext>
            </a:extLst>
          </p:cNvPr>
          <p:cNvSpPr>
            <a:spLocks noGrp="1"/>
          </p:cNvSpPr>
          <p:nvPr>
            <p:ph type="sldNum" sz="quarter" idx="12"/>
          </p:nvPr>
        </p:nvSpPr>
        <p:spPr/>
        <p:txBody>
          <a:bodyPr/>
          <a:lstStyle/>
          <a:p>
            <a:fld id="{CC057153-B650-4DEB-B370-79DDCFDCE934}" type="slidenum">
              <a:rPr lang="en-US" smtClean="0"/>
              <a:pPr/>
              <a:t>‹N°›</a:t>
            </a:fld>
            <a:endParaRPr lang="en-US"/>
          </a:p>
        </p:txBody>
      </p:sp>
    </p:spTree>
    <p:extLst>
      <p:ext uri="{BB962C8B-B14F-4D97-AF65-F5344CB8AC3E}">
        <p14:creationId xmlns:p14="http://schemas.microsoft.com/office/powerpoint/2010/main" val="263309600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2433611-4DB4-A3B3-A351-17C4A1C1B6AE}"/>
              </a:ext>
            </a:extLst>
          </p:cNvPr>
          <p:cNvSpPr>
            <a:spLocks noGrp="1"/>
          </p:cNvSpPr>
          <p:nvPr>
            <p:ph type="dt" sz="half" idx="10"/>
          </p:nvPr>
        </p:nvSpPr>
        <p:spPr/>
        <p:txBody>
          <a:bodyPr/>
          <a:lstStyle/>
          <a:p>
            <a:fld id="{7FA31CB7-48AA-4691-B614-160E906C518A}" type="datetime2">
              <a:rPr lang="en-US" smtClean="0"/>
              <a:t>Monday, August 4, 2025</a:t>
            </a:fld>
            <a:endParaRPr lang="en-US"/>
          </a:p>
        </p:txBody>
      </p:sp>
      <p:sp>
        <p:nvSpPr>
          <p:cNvPr id="3" name="Espace réservé du pied de page 2">
            <a:extLst>
              <a:ext uri="{FF2B5EF4-FFF2-40B4-BE49-F238E27FC236}">
                <a16:creationId xmlns:a16="http://schemas.microsoft.com/office/drawing/2014/main" id="{F7734C87-CE05-506A-2DF4-8FF6F05FC007}"/>
              </a:ext>
            </a:extLst>
          </p:cNvPr>
          <p:cNvSpPr>
            <a:spLocks noGrp="1"/>
          </p:cNvSpPr>
          <p:nvPr>
            <p:ph type="ftr" sz="quarter" idx="11"/>
          </p:nvPr>
        </p:nvSpPr>
        <p:spPr/>
        <p:txBody>
          <a:bodyPr/>
          <a:lstStyle/>
          <a:p>
            <a:r>
              <a:rPr lang="en-US"/>
              <a:t>Sample Footer Text</a:t>
            </a:r>
          </a:p>
        </p:txBody>
      </p:sp>
      <p:sp>
        <p:nvSpPr>
          <p:cNvPr id="4" name="Espace réservé du numéro de diapositive 3">
            <a:extLst>
              <a:ext uri="{FF2B5EF4-FFF2-40B4-BE49-F238E27FC236}">
                <a16:creationId xmlns:a16="http://schemas.microsoft.com/office/drawing/2014/main" id="{B1BFF18F-8A77-6F69-43FF-A09A8D1E2004}"/>
              </a:ext>
            </a:extLst>
          </p:cNvPr>
          <p:cNvSpPr>
            <a:spLocks noGrp="1"/>
          </p:cNvSpPr>
          <p:nvPr>
            <p:ph type="sldNum" sz="quarter" idx="12"/>
          </p:nvPr>
        </p:nvSpPr>
        <p:spPr/>
        <p:txBody>
          <a:bodyPr/>
          <a:lstStyle/>
          <a:p>
            <a:fld id="{CC057153-B650-4DEB-B370-79DDCFDCE934}" type="slidenum">
              <a:rPr lang="en-US" smtClean="0"/>
              <a:pPr/>
              <a:t>‹N°›</a:t>
            </a:fld>
            <a:endParaRPr lang="en-US"/>
          </a:p>
        </p:txBody>
      </p:sp>
    </p:spTree>
    <p:extLst>
      <p:ext uri="{BB962C8B-B14F-4D97-AF65-F5344CB8AC3E}">
        <p14:creationId xmlns:p14="http://schemas.microsoft.com/office/powerpoint/2010/main" val="347034907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11F012-7158-02B4-BB97-90FD723FD24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01075C8A-72F3-0DBC-F0AE-98BD763B86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6C614726-5F05-F274-B03A-4C259CFDDB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CA5BE8B-959D-51C3-D755-10C8F26B7D4A}"/>
              </a:ext>
            </a:extLst>
          </p:cNvPr>
          <p:cNvSpPr>
            <a:spLocks noGrp="1"/>
          </p:cNvSpPr>
          <p:nvPr>
            <p:ph type="dt" sz="half" idx="10"/>
          </p:nvPr>
        </p:nvSpPr>
        <p:spPr/>
        <p:txBody>
          <a:bodyPr/>
          <a:lstStyle/>
          <a:p>
            <a:fld id="{7FA31CB7-48AA-4691-B614-160E906C518A}" type="datetime2">
              <a:rPr lang="en-US" smtClean="0"/>
              <a:t>Monday, August 4, 2025</a:t>
            </a:fld>
            <a:endParaRPr lang="en-US"/>
          </a:p>
        </p:txBody>
      </p:sp>
      <p:sp>
        <p:nvSpPr>
          <p:cNvPr id="6" name="Espace réservé du pied de page 5">
            <a:extLst>
              <a:ext uri="{FF2B5EF4-FFF2-40B4-BE49-F238E27FC236}">
                <a16:creationId xmlns:a16="http://schemas.microsoft.com/office/drawing/2014/main" id="{C9A59D47-99F4-62D4-81D9-1C49055B28ED}"/>
              </a:ext>
            </a:extLst>
          </p:cNvPr>
          <p:cNvSpPr>
            <a:spLocks noGrp="1"/>
          </p:cNvSpPr>
          <p:nvPr>
            <p:ph type="ftr" sz="quarter" idx="11"/>
          </p:nvPr>
        </p:nvSpPr>
        <p:spPr/>
        <p:txBody>
          <a:bodyPr/>
          <a:lstStyle/>
          <a:p>
            <a:r>
              <a:rPr lang="en-US"/>
              <a:t>Sample Footer Text</a:t>
            </a:r>
          </a:p>
        </p:txBody>
      </p:sp>
      <p:sp>
        <p:nvSpPr>
          <p:cNvPr id="7" name="Espace réservé du numéro de diapositive 6">
            <a:extLst>
              <a:ext uri="{FF2B5EF4-FFF2-40B4-BE49-F238E27FC236}">
                <a16:creationId xmlns:a16="http://schemas.microsoft.com/office/drawing/2014/main" id="{318A9768-30A0-0613-A93B-2C8AD7759CC4}"/>
              </a:ext>
            </a:extLst>
          </p:cNvPr>
          <p:cNvSpPr>
            <a:spLocks noGrp="1"/>
          </p:cNvSpPr>
          <p:nvPr>
            <p:ph type="sldNum" sz="quarter" idx="12"/>
          </p:nvPr>
        </p:nvSpPr>
        <p:spPr/>
        <p:txBody>
          <a:bodyPr/>
          <a:lstStyle/>
          <a:p>
            <a:fld id="{CC057153-B650-4DEB-B370-79DDCFDCE934}" type="slidenum">
              <a:rPr lang="en-US" smtClean="0"/>
              <a:pPr/>
              <a:t>‹N°›</a:t>
            </a:fld>
            <a:endParaRPr lang="en-US"/>
          </a:p>
        </p:txBody>
      </p:sp>
    </p:spTree>
    <p:extLst>
      <p:ext uri="{BB962C8B-B14F-4D97-AF65-F5344CB8AC3E}">
        <p14:creationId xmlns:p14="http://schemas.microsoft.com/office/powerpoint/2010/main" val="267240065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F40AF9-B88C-D3D9-7B94-56A2521F562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1B04458A-6385-A751-F576-25D2BF42E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09986D8A-A646-CB5B-ED2E-C00EC58DA8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E139B77-A0F4-4BC8-1004-8E3916CD827B}"/>
              </a:ext>
            </a:extLst>
          </p:cNvPr>
          <p:cNvSpPr>
            <a:spLocks noGrp="1"/>
          </p:cNvSpPr>
          <p:nvPr>
            <p:ph type="dt" sz="half" idx="10"/>
          </p:nvPr>
        </p:nvSpPr>
        <p:spPr/>
        <p:txBody>
          <a:bodyPr/>
          <a:lstStyle/>
          <a:p>
            <a:fld id="{7FA31CB7-48AA-4691-B614-160E906C518A}" type="datetime2">
              <a:rPr lang="en-US" smtClean="0"/>
              <a:t>Monday, August 4, 2025</a:t>
            </a:fld>
            <a:endParaRPr lang="en-US"/>
          </a:p>
        </p:txBody>
      </p:sp>
      <p:sp>
        <p:nvSpPr>
          <p:cNvPr id="6" name="Espace réservé du pied de page 5">
            <a:extLst>
              <a:ext uri="{FF2B5EF4-FFF2-40B4-BE49-F238E27FC236}">
                <a16:creationId xmlns:a16="http://schemas.microsoft.com/office/drawing/2014/main" id="{F2E97228-2726-DB9E-B48C-938C7B0E4096}"/>
              </a:ext>
            </a:extLst>
          </p:cNvPr>
          <p:cNvSpPr>
            <a:spLocks noGrp="1"/>
          </p:cNvSpPr>
          <p:nvPr>
            <p:ph type="ftr" sz="quarter" idx="11"/>
          </p:nvPr>
        </p:nvSpPr>
        <p:spPr/>
        <p:txBody>
          <a:bodyPr/>
          <a:lstStyle/>
          <a:p>
            <a:r>
              <a:rPr lang="en-US"/>
              <a:t>Sample Footer Text</a:t>
            </a:r>
          </a:p>
        </p:txBody>
      </p:sp>
      <p:sp>
        <p:nvSpPr>
          <p:cNvPr id="7" name="Espace réservé du numéro de diapositive 6">
            <a:extLst>
              <a:ext uri="{FF2B5EF4-FFF2-40B4-BE49-F238E27FC236}">
                <a16:creationId xmlns:a16="http://schemas.microsoft.com/office/drawing/2014/main" id="{BBA7B261-3E9C-0933-0D7C-DE12A232CDA7}"/>
              </a:ext>
            </a:extLst>
          </p:cNvPr>
          <p:cNvSpPr>
            <a:spLocks noGrp="1"/>
          </p:cNvSpPr>
          <p:nvPr>
            <p:ph type="sldNum" sz="quarter" idx="12"/>
          </p:nvPr>
        </p:nvSpPr>
        <p:spPr/>
        <p:txBody>
          <a:bodyPr/>
          <a:lstStyle/>
          <a:p>
            <a:fld id="{CC057153-B650-4DEB-B370-79DDCFDCE934}" type="slidenum">
              <a:rPr lang="en-US" smtClean="0"/>
              <a:pPr/>
              <a:t>‹N°›</a:t>
            </a:fld>
            <a:endParaRPr lang="en-US"/>
          </a:p>
        </p:txBody>
      </p:sp>
    </p:spTree>
    <p:extLst>
      <p:ext uri="{BB962C8B-B14F-4D97-AF65-F5344CB8AC3E}">
        <p14:creationId xmlns:p14="http://schemas.microsoft.com/office/powerpoint/2010/main" val="210547827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934488-7D3E-B990-3370-F72D37FC4F8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F59C400-8082-3D8E-E5EE-49EBF5BD6C3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17616EE-E852-A9DC-2EFB-30D4F9CEA686}"/>
              </a:ext>
            </a:extLst>
          </p:cNvPr>
          <p:cNvSpPr>
            <a:spLocks noGrp="1"/>
          </p:cNvSpPr>
          <p:nvPr>
            <p:ph type="dt" sz="half" idx="10"/>
          </p:nvPr>
        </p:nvSpPr>
        <p:spPr/>
        <p:txBody>
          <a:bodyPr/>
          <a:lstStyle/>
          <a:p>
            <a:fld id="{7FA31CB7-48AA-4691-B614-160E906C518A}" type="datetime2">
              <a:rPr lang="en-US" smtClean="0"/>
              <a:t>Monday, August 4, 2025</a:t>
            </a:fld>
            <a:endParaRPr lang="en-US"/>
          </a:p>
        </p:txBody>
      </p:sp>
      <p:sp>
        <p:nvSpPr>
          <p:cNvPr id="5" name="Espace réservé du pied de page 4">
            <a:extLst>
              <a:ext uri="{FF2B5EF4-FFF2-40B4-BE49-F238E27FC236}">
                <a16:creationId xmlns:a16="http://schemas.microsoft.com/office/drawing/2014/main" id="{2032C2BE-8CC7-32F4-2831-D9EF9A864580}"/>
              </a:ext>
            </a:extLst>
          </p:cNvPr>
          <p:cNvSpPr>
            <a:spLocks noGrp="1"/>
          </p:cNvSpPr>
          <p:nvPr>
            <p:ph type="ftr" sz="quarter" idx="11"/>
          </p:nvPr>
        </p:nvSpPr>
        <p:spPr/>
        <p:txBody>
          <a:bodyPr/>
          <a:lstStyle/>
          <a:p>
            <a:r>
              <a:rPr lang="en-US"/>
              <a:t>Sample Footer Text</a:t>
            </a:r>
          </a:p>
        </p:txBody>
      </p:sp>
      <p:sp>
        <p:nvSpPr>
          <p:cNvPr id="6" name="Espace réservé du numéro de diapositive 5">
            <a:extLst>
              <a:ext uri="{FF2B5EF4-FFF2-40B4-BE49-F238E27FC236}">
                <a16:creationId xmlns:a16="http://schemas.microsoft.com/office/drawing/2014/main" id="{39EFB544-F615-FC3B-5D1A-4313A0654892}"/>
              </a:ext>
            </a:extLst>
          </p:cNvPr>
          <p:cNvSpPr>
            <a:spLocks noGrp="1"/>
          </p:cNvSpPr>
          <p:nvPr>
            <p:ph type="sldNum" sz="quarter" idx="12"/>
          </p:nvPr>
        </p:nvSpPr>
        <p:spPr/>
        <p:txBody>
          <a:bodyPr/>
          <a:lstStyle/>
          <a:p>
            <a:fld id="{CC057153-B650-4DEB-B370-79DDCFDCE934}" type="slidenum">
              <a:rPr lang="en-US" smtClean="0"/>
              <a:pPr/>
              <a:t>‹N°›</a:t>
            </a:fld>
            <a:endParaRPr lang="en-US"/>
          </a:p>
        </p:txBody>
      </p:sp>
    </p:spTree>
    <p:extLst>
      <p:ext uri="{BB962C8B-B14F-4D97-AF65-F5344CB8AC3E}">
        <p14:creationId xmlns:p14="http://schemas.microsoft.com/office/powerpoint/2010/main" val="27678716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7186C2C-3FD5-347C-69C3-FCF63B311D5C}"/>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2D35590-0CB3-3355-E03B-740BBF1F522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6B05E6B-5E15-2FF2-5BC4-D2734AC19182}"/>
              </a:ext>
            </a:extLst>
          </p:cNvPr>
          <p:cNvSpPr>
            <a:spLocks noGrp="1"/>
          </p:cNvSpPr>
          <p:nvPr>
            <p:ph type="dt" sz="half" idx="10"/>
          </p:nvPr>
        </p:nvSpPr>
        <p:spPr/>
        <p:txBody>
          <a:bodyPr/>
          <a:lstStyle/>
          <a:p>
            <a:fld id="{7FA31CB7-48AA-4691-B614-160E906C518A}" type="datetime2">
              <a:rPr lang="en-US" smtClean="0"/>
              <a:t>Monday, August 4, 2025</a:t>
            </a:fld>
            <a:endParaRPr lang="en-US"/>
          </a:p>
        </p:txBody>
      </p:sp>
      <p:sp>
        <p:nvSpPr>
          <p:cNvPr id="5" name="Espace réservé du pied de page 4">
            <a:extLst>
              <a:ext uri="{FF2B5EF4-FFF2-40B4-BE49-F238E27FC236}">
                <a16:creationId xmlns:a16="http://schemas.microsoft.com/office/drawing/2014/main" id="{B7EB5462-2B8C-CC8C-2BA3-F27180942A11}"/>
              </a:ext>
            </a:extLst>
          </p:cNvPr>
          <p:cNvSpPr>
            <a:spLocks noGrp="1"/>
          </p:cNvSpPr>
          <p:nvPr>
            <p:ph type="ftr" sz="quarter" idx="11"/>
          </p:nvPr>
        </p:nvSpPr>
        <p:spPr/>
        <p:txBody>
          <a:bodyPr/>
          <a:lstStyle/>
          <a:p>
            <a:r>
              <a:rPr lang="en-US"/>
              <a:t>Sample Footer Text</a:t>
            </a:r>
          </a:p>
        </p:txBody>
      </p:sp>
      <p:sp>
        <p:nvSpPr>
          <p:cNvPr id="6" name="Espace réservé du numéro de diapositive 5">
            <a:extLst>
              <a:ext uri="{FF2B5EF4-FFF2-40B4-BE49-F238E27FC236}">
                <a16:creationId xmlns:a16="http://schemas.microsoft.com/office/drawing/2014/main" id="{48F6AD15-DFFE-2A7C-AE55-1A6D40B99A33}"/>
              </a:ext>
            </a:extLst>
          </p:cNvPr>
          <p:cNvSpPr>
            <a:spLocks noGrp="1"/>
          </p:cNvSpPr>
          <p:nvPr>
            <p:ph type="sldNum" sz="quarter" idx="12"/>
          </p:nvPr>
        </p:nvSpPr>
        <p:spPr/>
        <p:txBody>
          <a:bodyPr/>
          <a:lstStyle/>
          <a:p>
            <a:fld id="{CC057153-B650-4DEB-B370-79DDCFDCE934}" type="slidenum">
              <a:rPr lang="en-US" smtClean="0"/>
              <a:pPr/>
              <a:t>‹N°›</a:t>
            </a:fld>
            <a:endParaRPr lang="en-US"/>
          </a:p>
        </p:txBody>
      </p:sp>
    </p:spTree>
    <p:extLst>
      <p:ext uri="{BB962C8B-B14F-4D97-AF65-F5344CB8AC3E}">
        <p14:creationId xmlns:p14="http://schemas.microsoft.com/office/powerpoint/2010/main" val="269522555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C50BEDD-054E-91E8-1C1C-8761D2C4C4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31418F75-8D37-C485-823F-8B960F7C25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D6D4B92-7D30-83BD-226C-9A1BD203B7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A31CB7-48AA-4691-B614-160E906C518A}" type="datetime2">
              <a:rPr lang="en-US" smtClean="0"/>
              <a:t>Monday, August 4, 2025</a:t>
            </a:fld>
            <a:endParaRPr lang="en-US"/>
          </a:p>
        </p:txBody>
      </p:sp>
      <p:sp>
        <p:nvSpPr>
          <p:cNvPr id="5" name="Espace réservé du pied de page 4">
            <a:extLst>
              <a:ext uri="{FF2B5EF4-FFF2-40B4-BE49-F238E27FC236}">
                <a16:creationId xmlns:a16="http://schemas.microsoft.com/office/drawing/2014/main" id="{492B652F-9FC3-31F6-FA5A-00459EAB2A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Sample Footer Text</a:t>
            </a:r>
          </a:p>
        </p:txBody>
      </p:sp>
      <p:sp>
        <p:nvSpPr>
          <p:cNvPr id="6" name="Espace réservé du numéro de diapositive 5">
            <a:extLst>
              <a:ext uri="{FF2B5EF4-FFF2-40B4-BE49-F238E27FC236}">
                <a16:creationId xmlns:a16="http://schemas.microsoft.com/office/drawing/2014/main" id="{E3013989-C86B-9771-7034-45445463BB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057153-B650-4DEB-B370-79DDCFDCE934}" type="slidenum">
              <a:rPr lang="en-US" smtClean="0"/>
              <a:pPr/>
              <a:t>‹N°›</a:t>
            </a:fld>
            <a:endParaRPr lang="en-US"/>
          </a:p>
        </p:txBody>
      </p:sp>
    </p:spTree>
    <p:extLst>
      <p:ext uri="{BB962C8B-B14F-4D97-AF65-F5344CB8AC3E}">
        <p14:creationId xmlns:p14="http://schemas.microsoft.com/office/powerpoint/2010/main" val="3073431117"/>
      </p:ext>
    </p:extLst>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 Id="rId14" Type="http://schemas.openxmlformats.org/officeDocument/2006/relationships/image" Target="../media/image4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51B96C5B-CA5F-6DF4-B526-8EFC54E97881}"/>
              </a:ext>
            </a:extLst>
          </p:cNvPr>
          <p:cNvSpPr>
            <a:spLocks noGrp="1"/>
          </p:cNvSpPr>
          <p:nvPr>
            <p:ph type="title"/>
          </p:nvPr>
        </p:nvSpPr>
        <p:spPr>
          <a:xfrm>
            <a:off x="1073988" y="349112"/>
            <a:ext cx="10044023" cy="877729"/>
          </a:xfrm>
        </p:spPr>
        <p:txBody>
          <a:bodyPr anchor="ctr">
            <a:normAutofit/>
          </a:bodyPr>
          <a:lstStyle/>
          <a:p>
            <a:r>
              <a:rPr lang="fr-FR" sz="3700" dirty="0">
                <a:solidFill>
                  <a:srgbClr val="FFFFFF"/>
                </a:solidFill>
              </a:rPr>
              <a:t>Analyse des ventes et des comportements clients </a:t>
            </a:r>
          </a:p>
        </p:txBody>
      </p:sp>
      <p:pic>
        <p:nvPicPr>
          <p:cNvPr id="11" name="Graphique 10" descr="Signet avec un remplissage uni">
            <a:extLst>
              <a:ext uri="{FF2B5EF4-FFF2-40B4-BE49-F238E27FC236}">
                <a16:creationId xmlns:a16="http://schemas.microsoft.com/office/drawing/2014/main" id="{5642ED90-3E49-F822-6481-97AF589BD9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20401" y="-61050"/>
            <a:ext cx="1227332" cy="1227332"/>
          </a:xfrm>
          <a:prstGeom prst="rect">
            <a:avLst/>
          </a:prstGeom>
        </p:spPr>
      </p:pic>
      <p:sp>
        <p:nvSpPr>
          <p:cNvPr id="30" name="ZoneTexte 29">
            <a:extLst>
              <a:ext uri="{FF2B5EF4-FFF2-40B4-BE49-F238E27FC236}">
                <a16:creationId xmlns:a16="http://schemas.microsoft.com/office/drawing/2014/main" id="{9A23291F-CB9F-BC79-3EF3-2498D7461A1C}"/>
              </a:ext>
            </a:extLst>
          </p:cNvPr>
          <p:cNvSpPr txBox="1"/>
          <p:nvPr/>
        </p:nvSpPr>
        <p:spPr>
          <a:xfrm>
            <a:off x="4724398" y="4547549"/>
            <a:ext cx="2743200" cy="1569660"/>
          </a:xfrm>
          <a:prstGeom prst="rect">
            <a:avLst/>
          </a:prstGeom>
          <a:noFill/>
        </p:spPr>
        <p:txBody>
          <a:bodyPr wrap="square" rtlCol="0">
            <a:spAutoFit/>
          </a:bodyPr>
          <a:lstStyle/>
          <a:p>
            <a:pPr algn="ctr"/>
            <a:r>
              <a:rPr lang="fr-FR" sz="2400" dirty="0"/>
              <a:t>Mieux connaître les profils et comportements d’achats</a:t>
            </a:r>
          </a:p>
        </p:txBody>
      </p:sp>
      <p:sp>
        <p:nvSpPr>
          <p:cNvPr id="32" name="ZoneTexte 31">
            <a:extLst>
              <a:ext uri="{FF2B5EF4-FFF2-40B4-BE49-F238E27FC236}">
                <a16:creationId xmlns:a16="http://schemas.microsoft.com/office/drawing/2014/main" id="{6FB6A003-4907-4624-A6B1-7FD0DD902D08}"/>
              </a:ext>
            </a:extLst>
          </p:cNvPr>
          <p:cNvSpPr txBox="1"/>
          <p:nvPr/>
        </p:nvSpPr>
        <p:spPr>
          <a:xfrm>
            <a:off x="4360332" y="1811867"/>
            <a:ext cx="3471333" cy="584775"/>
          </a:xfrm>
          <a:prstGeom prst="rect">
            <a:avLst/>
          </a:prstGeom>
          <a:noFill/>
        </p:spPr>
        <p:txBody>
          <a:bodyPr wrap="square" rtlCol="0">
            <a:spAutoFit/>
          </a:bodyPr>
          <a:lstStyle/>
          <a:p>
            <a:pPr algn="ctr"/>
            <a:r>
              <a:rPr lang="fr-FR" sz="3200" u="sng" dirty="0"/>
              <a:t>Objectifs</a:t>
            </a:r>
          </a:p>
        </p:txBody>
      </p:sp>
      <p:sp>
        <p:nvSpPr>
          <p:cNvPr id="33" name="ZoneTexte 32">
            <a:extLst>
              <a:ext uri="{FF2B5EF4-FFF2-40B4-BE49-F238E27FC236}">
                <a16:creationId xmlns:a16="http://schemas.microsoft.com/office/drawing/2014/main" id="{69F9A309-958B-4806-64B2-AE2049F9FA16}"/>
              </a:ext>
            </a:extLst>
          </p:cNvPr>
          <p:cNvSpPr txBox="1"/>
          <p:nvPr/>
        </p:nvSpPr>
        <p:spPr>
          <a:xfrm>
            <a:off x="1003129" y="4547549"/>
            <a:ext cx="2235200" cy="1200329"/>
          </a:xfrm>
          <a:prstGeom prst="rect">
            <a:avLst/>
          </a:prstGeom>
          <a:noFill/>
        </p:spPr>
        <p:txBody>
          <a:bodyPr wrap="square" rtlCol="0">
            <a:spAutoFit/>
          </a:bodyPr>
          <a:lstStyle/>
          <a:p>
            <a:pPr algn="ctr"/>
            <a:r>
              <a:rPr lang="fr-FR" sz="2400" dirty="0"/>
              <a:t>Mesurer la performance commerciale</a:t>
            </a:r>
          </a:p>
        </p:txBody>
      </p:sp>
      <p:sp>
        <p:nvSpPr>
          <p:cNvPr id="34" name="ZoneTexte 33">
            <a:extLst>
              <a:ext uri="{FF2B5EF4-FFF2-40B4-BE49-F238E27FC236}">
                <a16:creationId xmlns:a16="http://schemas.microsoft.com/office/drawing/2014/main" id="{D114278B-2C47-08D7-6F40-69C50BD18096}"/>
              </a:ext>
            </a:extLst>
          </p:cNvPr>
          <p:cNvSpPr txBox="1"/>
          <p:nvPr/>
        </p:nvSpPr>
        <p:spPr>
          <a:xfrm>
            <a:off x="8953667" y="4547549"/>
            <a:ext cx="2480400" cy="1569660"/>
          </a:xfrm>
          <a:prstGeom prst="rect">
            <a:avLst/>
          </a:prstGeom>
          <a:noFill/>
        </p:spPr>
        <p:txBody>
          <a:bodyPr wrap="square" rtlCol="0">
            <a:spAutoFit/>
          </a:bodyPr>
          <a:lstStyle/>
          <a:p>
            <a:pPr algn="ctr"/>
            <a:r>
              <a:rPr lang="fr-FR" sz="2400" dirty="0"/>
              <a:t>Appuyer les décisions avec des données fiables</a:t>
            </a:r>
          </a:p>
        </p:txBody>
      </p:sp>
      <p:pic>
        <p:nvPicPr>
          <p:cNvPr id="38" name="Graphique 37" descr="Public cible avec un remplissage uni">
            <a:extLst>
              <a:ext uri="{FF2B5EF4-FFF2-40B4-BE49-F238E27FC236}">
                <a16:creationId xmlns:a16="http://schemas.microsoft.com/office/drawing/2014/main" id="{957B236B-D377-3F3A-4437-CF8F524038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38798" y="3302332"/>
            <a:ext cx="914400" cy="914400"/>
          </a:xfrm>
          <a:prstGeom prst="rect">
            <a:avLst/>
          </a:prstGeom>
        </p:spPr>
      </p:pic>
      <p:pic>
        <p:nvPicPr>
          <p:cNvPr id="40" name="Graphique 39" descr="Graphique à barres avec un remplissage uni">
            <a:extLst>
              <a:ext uri="{FF2B5EF4-FFF2-40B4-BE49-F238E27FC236}">
                <a16:creationId xmlns:a16="http://schemas.microsoft.com/office/drawing/2014/main" id="{6D9C0026-38A1-4AC0-E090-50DDD461394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63529" y="3302332"/>
            <a:ext cx="914400" cy="914400"/>
          </a:xfrm>
          <a:prstGeom prst="rect">
            <a:avLst/>
          </a:prstGeom>
        </p:spPr>
      </p:pic>
      <p:pic>
        <p:nvPicPr>
          <p:cNvPr id="42" name="Graphique 41" descr="Tableau décisionnel contour">
            <a:extLst>
              <a:ext uri="{FF2B5EF4-FFF2-40B4-BE49-F238E27FC236}">
                <a16:creationId xmlns:a16="http://schemas.microsoft.com/office/drawing/2014/main" id="{13F1E226-B505-DD25-6CCA-89139F03439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36667" y="3302332"/>
            <a:ext cx="914400" cy="914400"/>
          </a:xfrm>
          <a:prstGeom prst="rect">
            <a:avLst/>
          </a:prstGeom>
        </p:spPr>
      </p:pic>
    </p:spTree>
    <p:extLst>
      <p:ext uri="{BB962C8B-B14F-4D97-AF65-F5344CB8AC3E}">
        <p14:creationId xmlns:p14="http://schemas.microsoft.com/office/powerpoint/2010/main" val="588629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ADC8D9-A849-8CFB-E94F-714025D3759F}"/>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7AF6332-3FEE-8AC2-522A-F02154FC50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C5065D6-D68E-B125-4F85-B25B24C05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D989AB8-BD5E-2ACA-E13D-EFC7283F8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E5402BF-2BFF-4313-F4BC-096F54150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CE66210A-7151-9040-0533-B56671096260}"/>
              </a:ext>
            </a:extLst>
          </p:cNvPr>
          <p:cNvSpPr>
            <a:spLocks noGrp="1"/>
          </p:cNvSpPr>
          <p:nvPr>
            <p:ph type="title"/>
          </p:nvPr>
        </p:nvSpPr>
        <p:spPr>
          <a:xfrm>
            <a:off x="1073988" y="349112"/>
            <a:ext cx="10044023" cy="877729"/>
          </a:xfrm>
        </p:spPr>
        <p:txBody>
          <a:bodyPr anchor="ctr">
            <a:normAutofit/>
          </a:bodyPr>
          <a:lstStyle/>
          <a:p>
            <a:pPr algn="ctr"/>
            <a:r>
              <a:rPr lang="fr-FR" sz="3700" dirty="0">
                <a:solidFill>
                  <a:srgbClr val="FFFFFF"/>
                </a:solidFill>
              </a:rPr>
              <a:t>Contexte de la mission</a:t>
            </a:r>
          </a:p>
        </p:txBody>
      </p:sp>
      <p:sp>
        <p:nvSpPr>
          <p:cNvPr id="5" name="ZoneTexte 4">
            <a:extLst>
              <a:ext uri="{FF2B5EF4-FFF2-40B4-BE49-F238E27FC236}">
                <a16:creationId xmlns:a16="http://schemas.microsoft.com/office/drawing/2014/main" id="{DA892BCC-DE6A-DD4F-E732-0493EE11814F}"/>
              </a:ext>
            </a:extLst>
          </p:cNvPr>
          <p:cNvSpPr txBox="1"/>
          <p:nvPr/>
        </p:nvSpPr>
        <p:spPr>
          <a:xfrm>
            <a:off x="762000" y="2301501"/>
            <a:ext cx="4656667" cy="1200329"/>
          </a:xfrm>
          <a:prstGeom prst="rect">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fr-FR" sz="2400" dirty="0"/>
              <a:t>Ouverture du site e-commerce : </a:t>
            </a:r>
          </a:p>
          <a:p>
            <a:pPr algn="ctr"/>
            <a:endParaRPr lang="fr-FR" sz="2400" dirty="0"/>
          </a:p>
          <a:p>
            <a:pPr algn="ctr"/>
            <a:r>
              <a:rPr lang="fr-FR" sz="2400" dirty="0"/>
              <a:t>1</a:t>
            </a:r>
            <a:r>
              <a:rPr lang="fr-FR" sz="2400" baseline="30000" dirty="0"/>
              <a:t>er</a:t>
            </a:r>
            <a:r>
              <a:rPr lang="fr-FR" sz="2400" dirty="0"/>
              <a:t> Mars 2021</a:t>
            </a:r>
          </a:p>
        </p:txBody>
      </p:sp>
      <p:sp>
        <p:nvSpPr>
          <p:cNvPr id="6" name="ZoneTexte 5">
            <a:extLst>
              <a:ext uri="{FF2B5EF4-FFF2-40B4-BE49-F238E27FC236}">
                <a16:creationId xmlns:a16="http://schemas.microsoft.com/office/drawing/2014/main" id="{9ADA73B9-88C0-AF95-D99D-4E1FDB4B870E}"/>
              </a:ext>
            </a:extLst>
          </p:cNvPr>
          <p:cNvSpPr txBox="1"/>
          <p:nvPr/>
        </p:nvSpPr>
        <p:spPr>
          <a:xfrm>
            <a:off x="761999" y="4328973"/>
            <a:ext cx="4656667" cy="1938992"/>
          </a:xfrm>
          <a:prstGeom prst="rect">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fr-FR" sz="2400" dirty="0"/>
              <a:t>Données disponibles : </a:t>
            </a:r>
          </a:p>
          <a:p>
            <a:pPr algn="ctr"/>
            <a:endParaRPr lang="fr-FR" sz="2400" dirty="0"/>
          </a:p>
          <a:p>
            <a:pPr algn="ctr"/>
            <a:r>
              <a:rPr lang="fr-FR" sz="2400" dirty="0">
                <a:latin typeface="Arial" panose="020B0604020202020204" pitchFamily="34" charset="0"/>
                <a:cs typeface="Arial" panose="020B0604020202020204" pitchFamily="34" charset="0"/>
              </a:rPr>
              <a:t>● </a:t>
            </a:r>
            <a:r>
              <a:rPr lang="fr-FR" sz="2400" dirty="0"/>
              <a:t>Transactions </a:t>
            </a:r>
            <a:br>
              <a:rPr lang="fr-FR" sz="2400" dirty="0"/>
            </a:br>
            <a:r>
              <a:rPr lang="fr-FR" sz="2400" dirty="0">
                <a:latin typeface="Arial" panose="020B0604020202020204" pitchFamily="34" charset="0"/>
                <a:cs typeface="Arial" panose="020B0604020202020204" pitchFamily="34" charset="0"/>
              </a:rPr>
              <a:t>●</a:t>
            </a:r>
            <a:r>
              <a:rPr lang="fr-FR" sz="2400" dirty="0"/>
              <a:t> Produits </a:t>
            </a:r>
            <a:br>
              <a:rPr lang="fr-FR" sz="2400" dirty="0"/>
            </a:br>
            <a:r>
              <a:rPr lang="fr-FR" sz="2400" dirty="0">
                <a:latin typeface="Arial" panose="020B0604020202020204" pitchFamily="34" charset="0"/>
                <a:cs typeface="Arial" panose="020B0604020202020204" pitchFamily="34" charset="0"/>
              </a:rPr>
              <a:t>● </a:t>
            </a:r>
            <a:r>
              <a:rPr lang="fr-FR" sz="2400" dirty="0"/>
              <a:t>Clients</a:t>
            </a:r>
          </a:p>
        </p:txBody>
      </p:sp>
      <p:sp>
        <p:nvSpPr>
          <p:cNvPr id="7" name="ZoneTexte 6">
            <a:extLst>
              <a:ext uri="{FF2B5EF4-FFF2-40B4-BE49-F238E27FC236}">
                <a16:creationId xmlns:a16="http://schemas.microsoft.com/office/drawing/2014/main" id="{3EB2A05A-8698-3B2E-FE4A-9B8172F7A127}"/>
              </a:ext>
            </a:extLst>
          </p:cNvPr>
          <p:cNvSpPr txBox="1"/>
          <p:nvPr/>
        </p:nvSpPr>
        <p:spPr>
          <a:xfrm>
            <a:off x="7069669" y="2301501"/>
            <a:ext cx="4478864" cy="1200329"/>
          </a:xfrm>
          <a:prstGeom prst="rect">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fr-FR" sz="2400" dirty="0"/>
              <a:t>Plage des données analysées : </a:t>
            </a:r>
          </a:p>
          <a:p>
            <a:pPr algn="ctr"/>
            <a:endParaRPr lang="fr-FR" sz="2400" dirty="0"/>
          </a:p>
          <a:p>
            <a:pPr algn="ctr"/>
            <a:r>
              <a:rPr lang="fr-FR" sz="2400" dirty="0"/>
              <a:t>01/03/2021 -&gt; 28/02/2023</a:t>
            </a:r>
          </a:p>
        </p:txBody>
      </p:sp>
      <p:sp>
        <p:nvSpPr>
          <p:cNvPr id="8" name="ZoneTexte 7">
            <a:extLst>
              <a:ext uri="{FF2B5EF4-FFF2-40B4-BE49-F238E27FC236}">
                <a16:creationId xmlns:a16="http://schemas.microsoft.com/office/drawing/2014/main" id="{F5EA3F5C-8383-BC97-7B5B-C4AEE02C325C}"/>
              </a:ext>
            </a:extLst>
          </p:cNvPr>
          <p:cNvSpPr txBox="1"/>
          <p:nvPr/>
        </p:nvSpPr>
        <p:spPr>
          <a:xfrm>
            <a:off x="7069669" y="3880169"/>
            <a:ext cx="4478864" cy="2677656"/>
          </a:xfrm>
          <a:prstGeom prst="rect">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wrap="square" lIns="91440" tIns="45720" rIns="91440" bIns="45720" rtlCol="0" anchor="t">
            <a:spAutoFit/>
          </a:bodyPr>
          <a:lstStyle/>
          <a:p>
            <a:pPr algn="ctr"/>
            <a:r>
              <a:rPr lang="fr-FR" sz="2400" dirty="0"/>
              <a:t>Portée de l’analyse :</a:t>
            </a:r>
          </a:p>
          <a:p>
            <a:pPr algn="ctr"/>
            <a:endParaRPr lang="fr-FR" sz="2400" dirty="0"/>
          </a:p>
          <a:p>
            <a:pPr algn="ctr"/>
            <a:r>
              <a:rPr lang="fr-FR" sz="2400" dirty="0">
                <a:ea typeface="+mn-lt"/>
                <a:cs typeface="+mn-lt"/>
              </a:rPr>
              <a:t>Analyse des ventes en ligne, tous types de clients confondus, </a:t>
            </a:r>
            <a:r>
              <a:rPr lang="fr-FR" sz="2400" b="1" dirty="0">
                <a:ea typeface="+mn-lt"/>
                <a:cs typeface="+mn-lt"/>
              </a:rPr>
              <a:t>focalisée sur les produits ayant généré au moins une vente</a:t>
            </a:r>
            <a:endParaRPr lang="fr-FR" dirty="0"/>
          </a:p>
        </p:txBody>
      </p:sp>
    </p:spTree>
    <p:extLst>
      <p:ext uri="{BB962C8B-B14F-4D97-AF65-F5344CB8AC3E}">
        <p14:creationId xmlns:p14="http://schemas.microsoft.com/office/powerpoint/2010/main" val="4057234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F9F3E2-DAE6-4E6F-8090-1EAA4740AE94}"/>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0513839-ADF7-5281-9E51-B3100C5CC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FDDEB36-BF1A-DCE3-9554-5E5DB3532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F1DCC84-9131-B84A-41E4-F4AA82B79F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5098E25-8800-A81D-46E0-BA50AFB233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CB69FA07-F050-9865-9A7A-B7175E533795}"/>
              </a:ext>
            </a:extLst>
          </p:cNvPr>
          <p:cNvSpPr>
            <a:spLocks noGrp="1"/>
          </p:cNvSpPr>
          <p:nvPr>
            <p:ph type="title"/>
          </p:nvPr>
        </p:nvSpPr>
        <p:spPr>
          <a:xfrm>
            <a:off x="1073988" y="349112"/>
            <a:ext cx="10044023" cy="877729"/>
          </a:xfrm>
        </p:spPr>
        <p:txBody>
          <a:bodyPr anchor="ctr">
            <a:normAutofit/>
          </a:bodyPr>
          <a:lstStyle/>
          <a:p>
            <a:pPr algn="ctr"/>
            <a:r>
              <a:rPr lang="fr-FR" sz="3700" dirty="0">
                <a:solidFill>
                  <a:srgbClr val="FFFFFF"/>
                </a:solidFill>
              </a:rPr>
              <a:t>Vue d’ensemble de l’activité commerciale</a:t>
            </a:r>
          </a:p>
        </p:txBody>
      </p:sp>
      <p:sp>
        <p:nvSpPr>
          <p:cNvPr id="12" name="Organigramme : Connecteur 11">
            <a:extLst>
              <a:ext uri="{FF2B5EF4-FFF2-40B4-BE49-F238E27FC236}">
                <a16:creationId xmlns:a16="http://schemas.microsoft.com/office/drawing/2014/main" id="{2E871F60-BE7F-6AC9-4F82-0D1F7E628706}"/>
              </a:ext>
            </a:extLst>
          </p:cNvPr>
          <p:cNvSpPr/>
          <p:nvPr/>
        </p:nvSpPr>
        <p:spPr>
          <a:xfrm>
            <a:off x="655252" y="1925067"/>
            <a:ext cx="2528802" cy="2497502"/>
          </a:xfrm>
          <a:prstGeom prst="flowChartConnector">
            <a:avLst/>
          </a:prstGeom>
          <a:solidFill>
            <a:schemeClr val="tx2">
              <a:lumMod val="75000"/>
              <a:lumOff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fr-FR" sz="2000" dirty="0"/>
              <a:t>Chiffre d’affaires total </a:t>
            </a:r>
          </a:p>
          <a:p>
            <a:pPr algn="ctr"/>
            <a:endParaRPr lang="fr-FR" sz="2000" dirty="0"/>
          </a:p>
          <a:p>
            <a:pPr algn="ctr"/>
            <a:r>
              <a:rPr lang="fr-FR" sz="2000" dirty="0"/>
              <a:t>12 027 663 €</a:t>
            </a:r>
          </a:p>
        </p:txBody>
      </p:sp>
      <p:sp>
        <p:nvSpPr>
          <p:cNvPr id="15" name="Organigramme : Connecteur 14">
            <a:extLst>
              <a:ext uri="{FF2B5EF4-FFF2-40B4-BE49-F238E27FC236}">
                <a16:creationId xmlns:a16="http://schemas.microsoft.com/office/drawing/2014/main" id="{F06DD9B9-14FB-0C17-4D11-D4A32FFE3713}"/>
              </a:ext>
            </a:extLst>
          </p:cNvPr>
          <p:cNvSpPr/>
          <p:nvPr/>
        </p:nvSpPr>
        <p:spPr>
          <a:xfrm>
            <a:off x="9503619" y="1925067"/>
            <a:ext cx="2387600" cy="2302386"/>
          </a:xfrm>
          <a:prstGeom prst="flowChartConnector">
            <a:avLst/>
          </a:prstGeom>
          <a:solidFill>
            <a:schemeClr val="accent1"/>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fr-FR" dirty="0"/>
              <a:t>Panier moyen par transaction</a:t>
            </a:r>
          </a:p>
          <a:p>
            <a:pPr algn="ctr"/>
            <a:endParaRPr lang="fr-FR" dirty="0"/>
          </a:p>
          <a:p>
            <a:pPr algn="ctr"/>
            <a:r>
              <a:rPr lang="fr-FR" dirty="0"/>
              <a:t>34,81 €</a:t>
            </a:r>
          </a:p>
        </p:txBody>
      </p:sp>
      <p:sp>
        <p:nvSpPr>
          <p:cNvPr id="21" name="Organigramme : Connecteur 20">
            <a:extLst>
              <a:ext uri="{FF2B5EF4-FFF2-40B4-BE49-F238E27FC236}">
                <a16:creationId xmlns:a16="http://schemas.microsoft.com/office/drawing/2014/main" id="{3448DBF8-36C9-93F9-D2C5-22E35B346F14}"/>
              </a:ext>
            </a:extLst>
          </p:cNvPr>
          <p:cNvSpPr/>
          <p:nvPr/>
        </p:nvSpPr>
        <p:spPr>
          <a:xfrm>
            <a:off x="7081297" y="4007889"/>
            <a:ext cx="2422322" cy="2302387"/>
          </a:xfrm>
          <a:prstGeom prst="flowChartConnector">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fr-FR" sz="2000" dirty="0"/>
              <a:t>Clients uniques </a:t>
            </a:r>
          </a:p>
          <a:p>
            <a:pPr algn="ctr"/>
            <a:endParaRPr lang="fr-FR" sz="2000" dirty="0"/>
          </a:p>
          <a:p>
            <a:pPr algn="ctr"/>
            <a:r>
              <a:rPr lang="fr-FR" sz="2000" dirty="0"/>
              <a:t>8 600</a:t>
            </a:r>
          </a:p>
        </p:txBody>
      </p:sp>
      <p:sp>
        <p:nvSpPr>
          <p:cNvPr id="22" name="Organigramme : Connecteur 21">
            <a:extLst>
              <a:ext uri="{FF2B5EF4-FFF2-40B4-BE49-F238E27FC236}">
                <a16:creationId xmlns:a16="http://schemas.microsoft.com/office/drawing/2014/main" id="{491289AA-0BC1-DEDD-FE5A-4D4EF89A645B}"/>
              </a:ext>
            </a:extLst>
          </p:cNvPr>
          <p:cNvSpPr/>
          <p:nvPr/>
        </p:nvSpPr>
        <p:spPr>
          <a:xfrm>
            <a:off x="4538134" y="1835641"/>
            <a:ext cx="2422322" cy="2343585"/>
          </a:xfrm>
          <a:prstGeom prst="flowChartConnector">
            <a:avLst/>
          </a:prstGeom>
          <a:solidFill>
            <a:schemeClr val="tx2">
              <a:lumMod val="75000"/>
              <a:lumOff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fr-FR" sz="2000" dirty="0"/>
              <a:t>Transactions réalisées </a:t>
            </a:r>
          </a:p>
          <a:p>
            <a:pPr algn="ctr"/>
            <a:endParaRPr lang="fr-FR" sz="2000" dirty="0"/>
          </a:p>
          <a:p>
            <a:pPr algn="ctr"/>
            <a:r>
              <a:rPr lang="fr-FR" sz="2000" dirty="0"/>
              <a:t>345 505</a:t>
            </a:r>
          </a:p>
        </p:txBody>
      </p:sp>
      <p:sp>
        <p:nvSpPr>
          <p:cNvPr id="23" name="Organigramme : Connecteur 22">
            <a:extLst>
              <a:ext uri="{FF2B5EF4-FFF2-40B4-BE49-F238E27FC236}">
                <a16:creationId xmlns:a16="http://schemas.microsoft.com/office/drawing/2014/main" id="{DE25AD85-A2C3-4106-BB94-E53604EAF122}"/>
              </a:ext>
            </a:extLst>
          </p:cNvPr>
          <p:cNvSpPr/>
          <p:nvPr/>
        </p:nvSpPr>
        <p:spPr>
          <a:xfrm>
            <a:off x="2766458" y="4423060"/>
            <a:ext cx="2422322" cy="2157831"/>
          </a:xfrm>
          <a:prstGeom prst="flowChartConnector">
            <a:avLst/>
          </a:prstGeom>
          <a:solidFill>
            <a:schemeClr val="tx2">
              <a:lumMod val="75000"/>
              <a:lumOff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fr-FR" dirty="0"/>
              <a:t>Evolution mensuelle moyenne du CA </a:t>
            </a:r>
          </a:p>
          <a:p>
            <a:pPr algn="ctr"/>
            <a:endParaRPr lang="fr-FR" dirty="0"/>
          </a:p>
          <a:p>
            <a:pPr algn="ctr"/>
            <a:r>
              <a:rPr lang="fr-FR" dirty="0"/>
              <a:t>- 0,17 %</a:t>
            </a:r>
          </a:p>
        </p:txBody>
      </p:sp>
    </p:spTree>
    <p:extLst>
      <p:ext uri="{BB962C8B-B14F-4D97-AF65-F5344CB8AC3E}">
        <p14:creationId xmlns:p14="http://schemas.microsoft.com/office/powerpoint/2010/main" val="3691268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AB448E-FF6F-1555-1D83-ED45D1704757}"/>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166159B-E105-4E3E-DDA3-22E546596C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A96773E-2991-A4DD-B0DE-CF6BAECAD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E7ADD59-875E-F04E-3127-B634D63034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FF567CD-4D0D-309B-90B7-DBC07D0BF8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28DBAA52-1796-35C4-8FC7-ECAAC4FD3CE0}"/>
              </a:ext>
            </a:extLst>
          </p:cNvPr>
          <p:cNvSpPr>
            <a:spLocks noGrp="1"/>
          </p:cNvSpPr>
          <p:nvPr>
            <p:ph type="title"/>
          </p:nvPr>
        </p:nvSpPr>
        <p:spPr>
          <a:xfrm>
            <a:off x="1073988" y="349112"/>
            <a:ext cx="10044023" cy="877729"/>
          </a:xfrm>
        </p:spPr>
        <p:txBody>
          <a:bodyPr anchor="ctr">
            <a:normAutofit/>
          </a:bodyPr>
          <a:lstStyle/>
          <a:p>
            <a:pPr algn="ctr"/>
            <a:r>
              <a:rPr lang="fr-FR" sz="3700" dirty="0">
                <a:solidFill>
                  <a:srgbClr val="FFFFFF"/>
                </a:solidFill>
              </a:rPr>
              <a:t>Evolution mensuelle et répartition du CA</a:t>
            </a:r>
          </a:p>
        </p:txBody>
      </p:sp>
      <p:pic>
        <p:nvPicPr>
          <p:cNvPr id="6" name="Image 5">
            <a:extLst>
              <a:ext uri="{FF2B5EF4-FFF2-40B4-BE49-F238E27FC236}">
                <a16:creationId xmlns:a16="http://schemas.microsoft.com/office/drawing/2014/main" id="{EEF57D82-3521-58C5-4822-E84FF34D96A8}"/>
              </a:ext>
            </a:extLst>
          </p:cNvPr>
          <p:cNvPicPr>
            <a:picLocks noChangeAspect="1"/>
          </p:cNvPicPr>
          <p:nvPr/>
        </p:nvPicPr>
        <p:blipFill>
          <a:blip r:embed="rId3"/>
          <a:stretch>
            <a:fillRect/>
          </a:stretch>
        </p:blipFill>
        <p:spPr>
          <a:xfrm>
            <a:off x="375519" y="2392675"/>
            <a:ext cx="5344961" cy="2624864"/>
          </a:xfrm>
          <a:prstGeom prst="rect">
            <a:avLst/>
          </a:prstGeom>
        </p:spPr>
      </p:pic>
      <p:sp>
        <p:nvSpPr>
          <p:cNvPr id="11" name="ZoneTexte 10">
            <a:extLst>
              <a:ext uri="{FF2B5EF4-FFF2-40B4-BE49-F238E27FC236}">
                <a16:creationId xmlns:a16="http://schemas.microsoft.com/office/drawing/2014/main" id="{7E43055B-4D68-6082-353C-31BC488F2152}"/>
              </a:ext>
            </a:extLst>
          </p:cNvPr>
          <p:cNvSpPr txBox="1"/>
          <p:nvPr/>
        </p:nvSpPr>
        <p:spPr>
          <a:xfrm>
            <a:off x="375520" y="5050721"/>
            <a:ext cx="5434490" cy="1015663"/>
          </a:xfrm>
          <a:prstGeom prst="rect">
            <a:avLst/>
          </a:prstGeom>
          <a:noFill/>
        </p:spPr>
        <p:txBody>
          <a:bodyPr wrap="square" rtlCol="0">
            <a:spAutoFit/>
          </a:bodyPr>
          <a:lstStyle/>
          <a:p>
            <a:pPr algn="ctr"/>
            <a:r>
              <a:rPr lang="fr-FR" sz="1200" i="1" dirty="0"/>
              <a:t>Après une forte croissance en 2022, un ralentissement est observé début 2023 : la tendance s’est inversée avec une baisse moyenne de -0,17% par mois. </a:t>
            </a:r>
            <a:br>
              <a:rPr lang="fr-FR" sz="1200" i="1" dirty="0"/>
            </a:br>
            <a:br>
              <a:rPr lang="fr-FR" sz="1200" i="1" dirty="0"/>
            </a:br>
            <a:r>
              <a:rPr lang="fr-FR" sz="1200" i="1" dirty="0"/>
              <a:t>La moyenne mobile met en évidence cette dynamique d’essoufflement, en lissant les variations mensuelles.</a:t>
            </a:r>
          </a:p>
        </p:txBody>
      </p:sp>
      <p:cxnSp>
        <p:nvCxnSpPr>
          <p:cNvPr id="17" name="Connecteur droit 16">
            <a:extLst>
              <a:ext uri="{FF2B5EF4-FFF2-40B4-BE49-F238E27FC236}">
                <a16:creationId xmlns:a16="http://schemas.microsoft.com/office/drawing/2014/main" id="{2637B275-8757-6F78-AEF1-C60467D5F9A4}"/>
              </a:ext>
            </a:extLst>
          </p:cNvPr>
          <p:cNvCxnSpPr/>
          <p:nvPr/>
        </p:nvCxnSpPr>
        <p:spPr>
          <a:xfrm>
            <a:off x="6096000" y="2128395"/>
            <a:ext cx="0" cy="4090737"/>
          </a:xfrm>
          <a:prstGeom prst="line">
            <a:avLst/>
          </a:prstGeom>
        </p:spPr>
        <p:style>
          <a:lnRef idx="2">
            <a:schemeClr val="accent1"/>
          </a:lnRef>
          <a:fillRef idx="0">
            <a:schemeClr val="accent1"/>
          </a:fillRef>
          <a:effectRef idx="1">
            <a:schemeClr val="accent1"/>
          </a:effectRef>
          <a:fontRef idx="minor">
            <a:schemeClr val="tx1"/>
          </a:fontRef>
        </p:style>
      </p:cxnSp>
      <p:pic>
        <p:nvPicPr>
          <p:cNvPr id="24" name="Image 23">
            <a:extLst>
              <a:ext uri="{FF2B5EF4-FFF2-40B4-BE49-F238E27FC236}">
                <a16:creationId xmlns:a16="http://schemas.microsoft.com/office/drawing/2014/main" id="{8B4E33B5-7D16-CC37-2080-30B8A58C2696}"/>
              </a:ext>
            </a:extLst>
          </p:cNvPr>
          <p:cNvPicPr>
            <a:picLocks noChangeAspect="1"/>
          </p:cNvPicPr>
          <p:nvPr/>
        </p:nvPicPr>
        <p:blipFill>
          <a:blip r:embed="rId4"/>
          <a:stretch>
            <a:fillRect/>
          </a:stretch>
        </p:blipFill>
        <p:spPr>
          <a:xfrm>
            <a:off x="6275059" y="4064064"/>
            <a:ext cx="2511424" cy="2580595"/>
          </a:xfrm>
          <a:prstGeom prst="rect">
            <a:avLst/>
          </a:prstGeom>
        </p:spPr>
      </p:pic>
      <p:sp>
        <p:nvSpPr>
          <p:cNvPr id="30" name="ZoneTexte 29">
            <a:extLst>
              <a:ext uri="{FF2B5EF4-FFF2-40B4-BE49-F238E27FC236}">
                <a16:creationId xmlns:a16="http://schemas.microsoft.com/office/drawing/2014/main" id="{942760A4-C2BB-5D51-477E-CAC3E4260704}"/>
              </a:ext>
            </a:extLst>
          </p:cNvPr>
          <p:cNvSpPr txBox="1"/>
          <p:nvPr/>
        </p:nvSpPr>
        <p:spPr>
          <a:xfrm>
            <a:off x="8812156" y="5189220"/>
            <a:ext cx="2696544" cy="738664"/>
          </a:xfrm>
          <a:prstGeom prst="rect">
            <a:avLst/>
          </a:prstGeom>
          <a:noFill/>
        </p:spPr>
        <p:txBody>
          <a:bodyPr wrap="square" rtlCol="0">
            <a:spAutoFit/>
          </a:bodyPr>
          <a:lstStyle/>
          <a:p>
            <a:pPr algn="ctr"/>
            <a:r>
              <a:rPr lang="fr-FR" sz="1200" i="1" dirty="0"/>
              <a:t>Le CA est principalement porté par les catégories 0 et 1, représentant à</a:t>
            </a:r>
          </a:p>
          <a:p>
            <a:pPr algn="ctr"/>
            <a:r>
              <a:rPr lang="fr-FR" sz="1200" i="1" dirty="0"/>
              <a:t>elles deux près de 77% du total</a:t>
            </a:r>
            <a:r>
              <a:rPr lang="fr-FR" dirty="0"/>
              <a:t>.</a:t>
            </a:r>
          </a:p>
        </p:txBody>
      </p:sp>
      <p:graphicFrame>
        <p:nvGraphicFramePr>
          <p:cNvPr id="31" name="Tableau 30">
            <a:extLst>
              <a:ext uri="{FF2B5EF4-FFF2-40B4-BE49-F238E27FC236}">
                <a16:creationId xmlns:a16="http://schemas.microsoft.com/office/drawing/2014/main" id="{5A6BF96B-861E-873D-619E-448B27CA80A6}"/>
              </a:ext>
            </a:extLst>
          </p:cNvPr>
          <p:cNvGraphicFramePr>
            <a:graphicFrameLocks noGrp="1"/>
          </p:cNvGraphicFramePr>
          <p:nvPr>
            <p:extLst>
              <p:ext uri="{D42A27DB-BD31-4B8C-83A1-F6EECF244321}">
                <p14:modId xmlns:p14="http://schemas.microsoft.com/office/powerpoint/2010/main" val="251609795"/>
              </p:ext>
            </p:extLst>
          </p:nvPr>
        </p:nvGraphicFramePr>
        <p:xfrm>
          <a:off x="7733589" y="2264956"/>
          <a:ext cx="3031960" cy="1524000"/>
        </p:xfrm>
        <a:graphic>
          <a:graphicData uri="http://schemas.openxmlformats.org/drawingml/2006/table">
            <a:tbl>
              <a:tblPr firstRow="1" bandRow="1">
                <a:tableStyleId>{5C22544A-7EE6-4342-B048-85BDC9FD1C3A}</a:tableStyleId>
              </a:tblPr>
              <a:tblGrid>
                <a:gridCol w="1515980">
                  <a:extLst>
                    <a:ext uri="{9D8B030D-6E8A-4147-A177-3AD203B41FA5}">
                      <a16:colId xmlns:a16="http://schemas.microsoft.com/office/drawing/2014/main" val="4149181013"/>
                    </a:ext>
                  </a:extLst>
                </a:gridCol>
                <a:gridCol w="1515980">
                  <a:extLst>
                    <a:ext uri="{9D8B030D-6E8A-4147-A177-3AD203B41FA5}">
                      <a16:colId xmlns:a16="http://schemas.microsoft.com/office/drawing/2014/main" val="2471901471"/>
                    </a:ext>
                  </a:extLst>
                </a:gridCol>
              </a:tblGrid>
              <a:tr h="178375">
                <a:tc>
                  <a:txBody>
                    <a:bodyPr/>
                    <a:lstStyle/>
                    <a:p>
                      <a:pPr algn="ctr"/>
                      <a:r>
                        <a:rPr lang="fr-FR" sz="1400" dirty="0"/>
                        <a:t>Année </a:t>
                      </a:r>
                    </a:p>
                  </a:txBody>
                  <a:tcPr/>
                </a:tc>
                <a:tc>
                  <a:txBody>
                    <a:bodyPr/>
                    <a:lstStyle/>
                    <a:p>
                      <a:pPr algn="ctr"/>
                      <a:r>
                        <a:rPr lang="fr-FR" sz="1400" dirty="0"/>
                        <a:t>CA</a:t>
                      </a:r>
                    </a:p>
                  </a:txBody>
                  <a:tcPr/>
                </a:tc>
                <a:extLst>
                  <a:ext uri="{0D108BD9-81ED-4DB2-BD59-A6C34878D82A}">
                    <a16:rowId xmlns:a16="http://schemas.microsoft.com/office/drawing/2014/main" val="1160762554"/>
                  </a:ext>
                </a:extLst>
              </a:tr>
              <a:tr h="178375">
                <a:tc>
                  <a:txBody>
                    <a:bodyPr/>
                    <a:lstStyle/>
                    <a:p>
                      <a:pPr algn="ctr"/>
                      <a:r>
                        <a:rPr lang="fr-FR" sz="1400" dirty="0"/>
                        <a:t>2021</a:t>
                      </a:r>
                    </a:p>
                  </a:txBody>
                  <a:tcPr/>
                </a:tc>
                <a:tc>
                  <a:txBody>
                    <a:bodyPr/>
                    <a:lstStyle/>
                    <a:p>
                      <a:pPr algn="ctr"/>
                      <a:r>
                        <a:rPr lang="fr-FR" sz="1400" dirty="0"/>
                        <a:t>4 944 761 €</a:t>
                      </a:r>
                    </a:p>
                  </a:txBody>
                  <a:tcPr/>
                </a:tc>
                <a:extLst>
                  <a:ext uri="{0D108BD9-81ED-4DB2-BD59-A6C34878D82A}">
                    <a16:rowId xmlns:a16="http://schemas.microsoft.com/office/drawing/2014/main" val="1374248645"/>
                  </a:ext>
                </a:extLst>
              </a:tr>
              <a:tr h="178375">
                <a:tc>
                  <a:txBody>
                    <a:bodyPr/>
                    <a:lstStyle/>
                    <a:p>
                      <a:pPr algn="ctr"/>
                      <a:r>
                        <a:rPr lang="fr-FR" sz="1400" dirty="0"/>
                        <a:t>2022</a:t>
                      </a:r>
                    </a:p>
                  </a:txBody>
                  <a:tcPr/>
                </a:tc>
                <a:tc>
                  <a:txBody>
                    <a:bodyPr/>
                    <a:lstStyle/>
                    <a:p>
                      <a:pPr algn="ctr"/>
                      <a:r>
                        <a:rPr lang="fr-FR" sz="1400" dirty="0"/>
                        <a:t>6 108 682 €</a:t>
                      </a:r>
                    </a:p>
                  </a:txBody>
                  <a:tcPr/>
                </a:tc>
                <a:extLst>
                  <a:ext uri="{0D108BD9-81ED-4DB2-BD59-A6C34878D82A}">
                    <a16:rowId xmlns:a16="http://schemas.microsoft.com/office/drawing/2014/main" val="575064593"/>
                  </a:ext>
                </a:extLst>
              </a:tr>
              <a:tr h="178375">
                <a:tc>
                  <a:txBody>
                    <a:bodyPr/>
                    <a:lstStyle/>
                    <a:p>
                      <a:pPr algn="ctr"/>
                      <a:r>
                        <a:rPr lang="fr-FR" sz="1400" dirty="0"/>
                        <a:t>2023</a:t>
                      </a:r>
                    </a:p>
                  </a:txBody>
                  <a:tcPr/>
                </a:tc>
                <a:tc>
                  <a:txBody>
                    <a:bodyPr/>
                    <a:lstStyle/>
                    <a:p>
                      <a:pPr algn="ctr"/>
                      <a:r>
                        <a:rPr lang="fr-FR" sz="1400" dirty="0"/>
                        <a:t>974 220 €</a:t>
                      </a:r>
                    </a:p>
                  </a:txBody>
                  <a:tcPr/>
                </a:tc>
                <a:extLst>
                  <a:ext uri="{0D108BD9-81ED-4DB2-BD59-A6C34878D82A}">
                    <a16:rowId xmlns:a16="http://schemas.microsoft.com/office/drawing/2014/main" val="341924473"/>
                  </a:ext>
                </a:extLst>
              </a:tr>
              <a:tr h="178375">
                <a:tc>
                  <a:txBody>
                    <a:bodyPr/>
                    <a:lstStyle/>
                    <a:p>
                      <a:pPr algn="ctr"/>
                      <a:r>
                        <a:rPr lang="fr-FR" sz="1400" dirty="0"/>
                        <a:t>Total</a:t>
                      </a:r>
                    </a:p>
                  </a:txBody>
                  <a:tcPr/>
                </a:tc>
                <a:tc>
                  <a:txBody>
                    <a:bodyPr/>
                    <a:lstStyle/>
                    <a:p>
                      <a:pPr algn="ctr"/>
                      <a:r>
                        <a:rPr lang="fr-FR" sz="1400" b="1" dirty="0"/>
                        <a:t>12 027 663 €</a:t>
                      </a:r>
                    </a:p>
                  </a:txBody>
                  <a:tcPr/>
                </a:tc>
                <a:extLst>
                  <a:ext uri="{0D108BD9-81ED-4DB2-BD59-A6C34878D82A}">
                    <a16:rowId xmlns:a16="http://schemas.microsoft.com/office/drawing/2014/main" val="490026868"/>
                  </a:ext>
                </a:extLst>
              </a:tr>
            </a:tbl>
          </a:graphicData>
        </a:graphic>
      </p:graphicFrame>
      <p:sp>
        <p:nvSpPr>
          <p:cNvPr id="32" name="ZoneTexte 31">
            <a:extLst>
              <a:ext uri="{FF2B5EF4-FFF2-40B4-BE49-F238E27FC236}">
                <a16:creationId xmlns:a16="http://schemas.microsoft.com/office/drawing/2014/main" id="{AE661DE9-E278-7DFB-8558-A4E46221A91B}"/>
              </a:ext>
            </a:extLst>
          </p:cNvPr>
          <p:cNvSpPr txBox="1"/>
          <p:nvPr/>
        </p:nvSpPr>
        <p:spPr>
          <a:xfrm>
            <a:off x="7856621" y="1836328"/>
            <a:ext cx="3345611" cy="338554"/>
          </a:xfrm>
          <a:prstGeom prst="rect">
            <a:avLst/>
          </a:prstGeom>
          <a:noFill/>
        </p:spPr>
        <p:txBody>
          <a:bodyPr wrap="square" rtlCol="0">
            <a:spAutoFit/>
          </a:bodyPr>
          <a:lstStyle/>
          <a:p>
            <a:r>
              <a:rPr lang="fr-FR" sz="1600" b="1" dirty="0"/>
              <a:t>Chiffre d’affaires annuel (€)</a:t>
            </a:r>
          </a:p>
        </p:txBody>
      </p:sp>
    </p:spTree>
    <p:extLst>
      <p:ext uri="{BB962C8B-B14F-4D97-AF65-F5344CB8AC3E}">
        <p14:creationId xmlns:p14="http://schemas.microsoft.com/office/powerpoint/2010/main" val="2158813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CAC579-2658-F0EC-175C-526C61D34A6B}"/>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15C9F1E-DCFF-BCB8-3FAB-BDC08C7B92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A878176-4E77-6AA6-AAE9-78DCD92E5B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7A0D2F8-B164-4925-07D3-81BF0755F8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C4F6AB2-3705-BBFD-E4F1-B970C7971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6551C89E-243B-9C80-645B-9E694D76D449}"/>
              </a:ext>
            </a:extLst>
          </p:cNvPr>
          <p:cNvSpPr>
            <a:spLocks noGrp="1"/>
          </p:cNvSpPr>
          <p:nvPr>
            <p:ph type="title"/>
          </p:nvPr>
        </p:nvSpPr>
        <p:spPr>
          <a:xfrm>
            <a:off x="1073988" y="349112"/>
            <a:ext cx="10044023" cy="877729"/>
          </a:xfrm>
        </p:spPr>
        <p:txBody>
          <a:bodyPr anchor="ctr">
            <a:normAutofit/>
          </a:bodyPr>
          <a:lstStyle/>
          <a:p>
            <a:pPr algn="ctr"/>
            <a:r>
              <a:rPr lang="fr-FR" sz="3700" dirty="0">
                <a:solidFill>
                  <a:srgbClr val="FFFFFF"/>
                </a:solidFill>
              </a:rPr>
              <a:t>Profil et évolution de la clientèle</a:t>
            </a:r>
          </a:p>
        </p:txBody>
      </p:sp>
      <p:cxnSp>
        <p:nvCxnSpPr>
          <p:cNvPr id="17" name="Connecteur droit 16">
            <a:extLst>
              <a:ext uri="{FF2B5EF4-FFF2-40B4-BE49-F238E27FC236}">
                <a16:creationId xmlns:a16="http://schemas.microsoft.com/office/drawing/2014/main" id="{E84277F4-9702-CB03-8AF8-F2AE6D32AE26}"/>
              </a:ext>
            </a:extLst>
          </p:cNvPr>
          <p:cNvCxnSpPr/>
          <p:nvPr/>
        </p:nvCxnSpPr>
        <p:spPr>
          <a:xfrm>
            <a:off x="6096000" y="2128395"/>
            <a:ext cx="0" cy="4090737"/>
          </a:xfrm>
          <a:prstGeom prst="line">
            <a:avLst/>
          </a:prstGeom>
        </p:spPr>
        <p:style>
          <a:lnRef idx="2">
            <a:schemeClr val="accent1"/>
          </a:lnRef>
          <a:fillRef idx="0">
            <a:schemeClr val="accent1"/>
          </a:fillRef>
          <a:effectRef idx="1">
            <a:schemeClr val="accent1"/>
          </a:effectRef>
          <a:fontRef idx="minor">
            <a:schemeClr val="tx1"/>
          </a:fontRef>
        </p:style>
      </p:cxnSp>
      <p:pic>
        <p:nvPicPr>
          <p:cNvPr id="7" name="Image 6">
            <a:extLst>
              <a:ext uri="{FF2B5EF4-FFF2-40B4-BE49-F238E27FC236}">
                <a16:creationId xmlns:a16="http://schemas.microsoft.com/office/drawing/2014/main" id="{85A21BA3-9ED3-150D-CFC1-991F0AF694C2}"/>
              </a:ext>
            </a:extLst>
          </p:cNvPr>
          <p:cNvPicPr>
            <a:picLocks noChangeAspect="1"/>
          </p:cNvPicPr>
          <p:nvPr/>
        </p:nvPicPr>
        <p:blipFill>
          <a:blip r:embed="rId3"/>
          <a:stretch>
            <a:fillRect/>
          </a:stretch>
        </p:blipFill>
        <p:spPr>
          <a:xfrm>
            <a:off x="224305" y="1925067"/>
            <a:ext cx="3361432" cy="2183788"/>
          </a:xfrm>
          <a:prstGeom prst="rect">
            <a:avLst/>
          </a:prstGeom>
        </p:spPr>
      </p:pic>
      <p:sp>
        <p:nvSpPr>
          <p:cNvPr id="8" name="ZoneTexte 7">
            <a:extLst>
              <a:ext uri="{FF2B5EF4-FFF2-40B4-BE49-F238E27FC236}">
                <a16:creationId xmlns:a16="http://schemas.microsoft.com/office/drawing/2014/main" id="{7318B90C-A2D0-9F03-9FFA-D4C0A7404A29}"/>
              </a:ext>
            </a:extLst>
          </p:cNvPr>
          <p:cNvSpPr txBox="1"/>
          <p:nvPr/>
        </p:nvSpPr>
        <p:spPr>
          <a:xfrm>
            <a:off x="3742111" y="2529933"/>
            <a:ext cx="2129584" cy="830997"/>
          </a:xfrm>
          <a:prstGeom prst="rect">
            <a:avLst/>
          </a:prstGeom>
          <a:noFill/>
        </p:spPr>
        <p:txBody>
          <a:bodyPr wrap="square" rtlCol="0">
            <a:spAutoFit/>
          </a:bodyPr>
          <a:lstStyle/>
          <a:p>
            <a:pPr algn="ctr"/>
            <a:r>
              <a:rPr lang="fr-FR" sz="1200" i="1" dirty="0"/>
              <a:t>La répartition hommes-femmes est équilibrée, avec une légère majorité de femmes (</a:t>
            </a:r>
            <a:r>
              <a:rPr lang="fr-FR" sz="1200" b="1" i="1" dirty="0"/>
              <a:t>52,1%</a:t>
            </a:r>
            <a:r>
              <a:rPr lang="fr-FR" sz="1200" i="1" dirty="0"/>
              <a:t>).</a:t>
            </a:r>
          </a:p>
        </p:txBody>
      </p:sp>
      <p:sp>
        <p:nvSpPr>
          <p:cNvPr id="12" name="ZoneTexte 11">
            <a:extLst>
              <a:ext uri="{FF2B5EF4-FFF2-40B4-BE49-F238E27FC236}">
                <a16:creationId xmlns:a16="http://schemas.microsoft.com/office/drawing/2014/main" id="{7D010996-E7FD-F9BC-9BC8-A35FA2A592F3}"/>
              </a:ext>
            </a:extLst>
          </p:cNvPr>
          <p:cNvSpPr txBox="1"/>
          <p:nvPr/>
        </p:nvSpPr>
        <p:spPr>
          <a:xfrm>
            <a:off x="119348" y="4672451"/>
            <a:ext cx="1911017" cy="1384995"/>
          </a:xfrm>
          <a:prstGeom prst="rect">
            <a:avLst/>
          </a:prstGeom>
          <a:noFill/>
        </p:spPr>
        <p:txBody>
          <a:bodyPr wrap="square" lIns="91440" tIns="45720" rIns="91440" bIns="45720" rtlCol="0" anchor="t">
            <a:spAutoFit/>
          </a:bodyPr>
          <a:lstStyle/>
          <a:p>
            <a:pPr algn="ctr"/>
            <a:r>
              <a:rPr lang="fr-FR" sz="1200" b="1" i="1" dirty="0">
                <a:ea typeface="+mn-lt"/>
                <a:cs typeface="+mn-lt"/>
              </a:rPr>
              <a:t>La majorité des clients ont entre 25 et 54 ans</a:t>
            </a:r>
            <a:r>
              <a:rPr lang="fr-FR" sz="1200" i="1" dirty="0">
                <a:ea typeface="+mn-lt"/>
                <a:cs typeface="+mn-lt"/>
              </a:rPr>
              <a:t>, représentant plus de 57 % de la base. Les 18–24 ans sont nettement sous-représentés (moins de 10 %)</a:t>
            </a:r>
            <a:endParaRPr lang="fr-FR" i="1" dirty="0"/>
          </a:p>
        </p:txBody>
      </p:sp>
      <p:pic>
        <p:nvPicPr>
          <p:cNvPr id="19" name="Image 18">
            <a:extLst>
              <a:ext uri="{FF2B5EF4-FFF2-40B4-BE49-F238E27FC236}">
                <a16:creationId xmlns:a16="http://schemas.microsoft.com/office/drawing/2014/main" id="{61CCA30E-7C7E-D4FE-A947-3CF70A8034F1}"/>
              </a:ext>
            </a:extLst>
          </p:cNvPr>
          <p:cNvPicPr>
            <a:picLocks noChangeAspect="1"/>
          </p:cNvPicPr>
          <p:nvPr/>
        </p:nvPicPr>
        <p:blipFill>
          <a:blip r:embed="rId4"/>
          <a:stretch>
            <a:fillRect/>
          </a:stretch>
        </p:blipFill>
        <p:spPr>
          <a:xfrm>
            <a:off x="6266425" y="2073455"/>
            <a:ext cx="5755151" cy="2422330"/>
          </a:xfrm>
          <a:prstGeom prst="rect">
            <a:avLst/>
          </a:prstGeom>
        </p:spPr>
      </p:pic>
      <p:sp>
        <p:nvSpPr>
          <p:cNvPr id="21" name="ZoneTexte 20">
            <a:extLst>
              <a:ext uri="{FF2B5EF4-FFF2-40B4-BE49-F238E27FC236}">
                <a16:creationId xmlns:a16="http://schemas.microsoft.com/office/drawing/2014/main" id="{06F6A09F-41D6-056A-5473-4F3C12182CBF}"/>
              </a:ext>
            </a:extLst>
          </p:cNvPr>
          <p:cNvSpPr txBox="1"/>
          <p:nvPr/>
        </p:nvSpPr>
        <p:spPr>
          <a:xfrm>
            <a:off x="7591930" y="4954818"/>
            <a:ext cx="3681659" cy="830997"/>
          </a:xfrm>
          <a:prstGeom prst="rect">
            <a:avLst/>
          </a:prstGeom>
          <a:noFill/>
        </p:spPr>
        <p:txBody>
          <a:bodyPr wrap="square" rtlCol="0">
            <a:spAutoFit/>
          </a:bodyPr>
          <a:lstStyle/>
          <a:p>
            <a:pPr algn="ctr" fontAlgn="base"/>
            <a:r>
              <a:rPr lang="fr-FR" sz="1200" i="1" dirty="0"/>
              <a:t>Forte croissance du portefeuille clients début 2021, stabilisation nette à partir de début 2022. </a:t>
            </a:r>
            <a:br>
              <a:rPr lang="fr-FR" sz="1200" i="1" dirty="0"/>
            </a:br>
            <a:endParaRPr lang="fr-FR" sz="1200" i="1" dirty="0"/>
          </a:p>
          <a:p>
            <a:pPr algn="ctr" fontAlgn="base"/>
            <a:r>
              <a:rPr lang="fr-FR" sz="1200" i="1" dirty="0"/>
              <a:t>Aucun nouveau client enregistré depuis février 2022.</a:t>
            </a:r>
            <a:endParaRPr lang="fr-FR" dirty="0"/>
          </a:p>
        </p:txBody>
      </p:sp>
      <p:pic>
        <p:nvPicPr>
          <p:cNvPr id="4" name="Image 3">
            <a:extLst>
              <a:ext uri="{FF2B5EF4-FFF2-40B4-BE49-F238E27FC236}">
                <a16:creationId xmlns:a16="http://schemas.microsoft.com/office/drawing/2014/main" id="{A7DDC570-87C7-F809-6EAA-75993A0168BB}"/>
              </a:ext>
            </a:extLst>
          </p:cNvPr>
          <p:cNvPicPr>
            <a:picLocks noChangeAspect="1"/>
          </p:cNvPicPr>
          <p:nvPr/>
        </p:nvPicPr>
        <p:blipFill>
          <a:blip r:embed="rId5"/>
          <a:stretch>
            <a:fillRect/>
          </a:stretch>
        </p:blipFill>
        <p:spPr>
          <a:xfrm>
            <a:off x="2261814" y="4159103"/>
            <a:ext cx="3609881" cy="2219340"/>
          </a:xfrm>
          <a:prstGeom prst="rect">
            <a:avLst/>
          </a:prstGeom>
        </p:spPr>
      </p:pic>
    </p:spTree>
    <p:extLst>
      <p:ext uri="{BB962C8B-B14F-4D97-AF65-F5344CB8AC3E}">
        <p14:creationId xmlns:p14="http://schemas.microsoft.com/office/powerpoint/2010/main" val="423811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6B1CBD-581C-B4E6-E069-097A70594407}"/>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8E65DF4-0727-15A5-71FF-A11DDD593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DB25ED-F69D-8B17-780D-78C75892E5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E72808F-21E9-9D66-CC94-72FA5B4FC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610EC78-D58A-A13E-8BB9-FDF1E91A6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8845BB3A-D323-B5BF-51AD-88DEB0758645}"/>
              </a:ext>
            </a:extLst>
          </p:cNvPr>
          <p:cNvSpPr>
            <a:spLocks noGrp="1"/>
          </p:cNvSpPr>
          <p:nvPr>
            <p:ph type="title"/>
          </p:nvPr>
        </p:nvSpPr>
        <p:spPr>
          <a:xfrm>
            <a:off x="1073988" y="349112"/>
            <a:ext cx="10044023" cy="877729"/>
          </a:xfrm>
        </p:spPr>
        <p:txBody>
          <a:bodyPr anchor="ctr">
            <a:normAutofit/>
          </a:bodyPr>
          <a:lstStyle/>
          <a:p>
            <a:pPr algn="ctr"/>
            <a:r>
              <a:rPr lang="fr-FR" sz="3700" dirty="0">
                <a:solidFill>
                  <a:srgbClr val="FFFFFF"/>
                </a:solidFill>
              </a:rPr>
              <a:t>Analyse de l’activité transactionnelle</a:t>
            </a:r>
          </a:p>
        </p:txBody>
      </p:sp>
      <p:cxnSp>
        <p:nvCxnSpPr>
          <p:cNvPr id="17" name="Connecteur droit 16">
            <a:extLst>
              <a:ext uri="{FF2B5EF4-FFF2-40B4-BE49-F238E27FC236}">
                <a16:creationId xmlns:a16="http://schemas.microsoft.com/office/drawing/2014/main" id="{9D84E9FA-049C-745A-968D-629DF1DB5C32}"/>
              </a:ext>
            </a:extLst>
          </p:cNvPr>
          <p:cNvCxnSpPr/>
          <p:nvPr/>
        </p:nvCxnSpPr>
        <p:spPr>
          <a:xfrm>
            <a:off x="6096000" y="2128395"/>
            <a:ext cx="0" cy="4090737"/>
          </a:xfrm>
          <a:prstGeom prst="line">
            <a:avLst/>
          </a:prstGeom>
        </p:spPr>
        <p:style>
          <a:lnRef idx="2">
            <a:schemeClr val="accent1"/>
          </a:lnRef>
          <a:fillRef idx="0">
            <a:schemeClr val="accent1"/>
          </a:fillRef>
          <a:effectRef idx="1">
            <a:schemeClr val="accent1"/>
          </a:effectRef>
          <a:fontRef idx="minor">
            <a:schemeClr val="tx1"/>
          </a:fontRef>
        </p:style>
      </p:cxnSp>
      <p:sp>
        <p:nvSpPr>
          <p:cNvPr id="3" name="ZoneTexte 2">
            <a:extLst>
              <a:ext uri="{FF2B5EF4-FFF2-40B4-BE49-F238E27FC236}">
                <a16:creationId xmlns:a16="http://schemas.microsoft.com/office/drawing/2014/main" id="{7354C3C5-8144-5322-D185-CBCDFE6FCF9C}"/>
              </a:ext>
            </a:extLst>
          </p:cNvPr>
          <p:cNvSpPr txBox="1"/>
          <p:nvPr/>
        </p:nvSpPr>
        <p:spPr>
          <a:xfrm>
            <a:off x="954506" y="4750453"/>
            <a:ext cx="4186989" cy="307777"/>
          </a:xfrm>
          <a:prstGeom prst="rect">
            <a:avLst/>
          </a:prstGeom>
          <a:noFill/>
        </p:spPr>
        <p:txBody>
          <a:bodyPr wrap="square" rtlCol="0">
            <a:spAutoFit/>
          </a:bodyPr>
          <a:lstStyle/>
          <a:p>
            <a:pPr algn="ctr"/>
            <a:r>
              <a:rPr lang="fr-FR" sz="1400" dirty="0"/>
              <a:t>Nombre total de transactions : 345 505</a:t>
            </a:r>
          </a:p>
        </p:txBody>
      </p:sp>
      <p:pic>
        <p:nvPicPr>
          <p:cNvPr id="6" name="Image 5">
            <a:extLst>
              <a:ext uri="{FF2B5EF4-FFF2-40B4-BE49-F238E27FC236}">
                <a16:creationId xmlns:a16="http://schemas.microsoft.com/office/drawing/2014/main" id="{A31A7814-C32B-CB66-7EF6-C760076F5144}"/>
              </a:ext>
            </a:extLst>
          </p:cNvPr>
          <p:cNvPicPr>
            <a:picLocks noChangeAspect="1"/>
          </p:cNvPicPr>
          <p:nvPr/>
        </p:nvPicPr>
        <p:blipFill>
          <a:blip r:embed="rId3"/>
          <a:stretch>
            <a:fillRect/>
          </a:stretch>
        </p:blipFill>
        <p:spPr>
          <a:xfrm>
            <a:off x="341584" y="1839907"/>
            <a:ext cx="5412832" cy="2647085"/>
          </a:xfrm>
          <a:prstGeom prst="rect">
            <a:avLst/>
          </a:prstGeom>
        </p:spPr>
      </p:pic>
      <p:sp>
        <p:nvSpPr>
          <p:cNvPr id="9" name="ZoneTexte 8">
            <a:extLst>
              <a:ext uri="{FF2B5EF4-FFF2-40B4-BE49-F238E27FC236}">
                <a16:creationId xmlns:a16="http://schemas.microsoft.com/office/drawing/2014/main" id="{735C38BA-3E75-5E7A-6B5F-1105F8F1A306}"/>
              </a:ext>
            </a:extLst>
          </p:cNvPr>
          <p:cNvSpPr txBox="1"/>
          <p:nvPr/>
        </p:nvSpPr>
        <p:spPr>
          <a:xfrm>
            <a:off x="599574" y="5473105"/>
            <a:ext cx="4896852" cy="1292662"/>
          </a:xfrm>
          <a:prstGeom prst="rect">
            <a:avLst/>
          </a:prstGeom>
          <a:noFill/>
        </p:spPr>
        <p:txBody>
          <a:bodyPr wrap="square" rtlCol="0">
            <a:spAutoFit/>
          </a:bodyPr>
          <a:lstStyle/>
          <a:p>
            <a:pPr algn="ctr" fontAlgn="base"/>
            <a:r>
              <a:rPr lang="fr-FR" sz="1400" dirty="0"/>
              <a:t>Volume mensuel globalement stable ( </a:t>
            </a:r>
            <a:r>
              <a:rPr lang="fr-FR" sz="1400" dirty="0">
                <a:latin typeface="Arial" panose="020B0604020202020204" pitchFamily="34" charset="0"/>
                <a:cs typeface="Arial" panose="020B0604020202020204" pitchFamily="34" charset="0"/>
              </a:rPr>
              <a:t>~ </a:t>
            </a:r>
            <a:r>
              <a:rPr lang="fr-FR" sz="1400" dirty="0">
                <a:cs typeface="Arial" panose="020B0604020202020204" pitchFamily="34" charset="0"/>
              </a:rPr>
              <a:t>14 000 – 15 000), avec un pic en décembre 2021. Baisse nette en février 2023 liée à la fin de la période analysée.</a:t>
            </a:r>
            <a:endParaRPr lang="fr-FR" sz="1400" dirty="0"/>
          </a:p>
          <a:p>
            <a:br>
              <a:rPr lang="fr-FR" dirty="0"/>
            </a:br>
            <a:endParaRPr lang="fr-FR" dirty="0"/>
          </a:p>
        </p:txBody>
      </p:sp>
      <p:sp>
        <p:nvSpPr>
          <p:cNvPr id="11" name="ZoneTexte 10">
            <a:extLst>
              <a:ext uri="{FF2B5EF4-FFF2-40B4-BE49-F238E27FC236}">
                <a16:creationId xmlns:a16="http://schemas.microsoft.com/office/drawing/2014/main" id="{8DD0F6BA-A1D9-BBF7-19EA-0F3545EF62E2}"/>
              </a:ext>
            </a:extLst>
          </p:cNvPr>
          <p:cNvSpPr txBox="1"/>
          <p:nvPr/>
        </p:nvSpPr>
        <p:spPr>
          <a:xfrm>
            <a:off x="7485792" y="1995231"/>
            <a:ext cx="3632219" cy="2308324"/>
          </a:xfrm>
          <a:prstGeom prst="rect">
            <a:avLst/>
          </a:prstGeom>
        </p:spPr>
        <p:style>
          <a:lnRef idx="2">
            <a:schemeClr val="accent1"/>
          </a:lnRef>
          <a:fillRef idx="1">
            <a:schemeClr val="lt1"/>
          </a:fillRef>
          <a:effectRef idx="0">
            <a:schemeClr val="accent1"/>
          </a:effectRef>
          <a:fontRef idx="minor">
            <a:schemeClr val="dk1"/>
          </a:fontRef>
        </p:style>
        <p:txBody>
          <a:bodyPr wrap="square" lIns="91440" tIns="45720" rIns="91440" bIns="45720" rtlCol="0" anchor="t">
            <a:spAutoFit/>
          </a:bodyPr>
          <a:lstStyle/>
          <a:p>
            <a:pPr algn="ctr" fontAlgn="base"/>
            <a:r>
              <a:rPr lang="fr-FR" sz="1400" b="1" dirty="0"/>
              <a:t>Nombre de transactions par client</a:t>
            </a:r>
            <a:endParaRPr lang="fr-FR" sz="1400" dirty="0"/>
          </a:p>
          <a:p>
            <a:pPr fontAlgn="base"/>
            <a:br>
              <a:rPr lang="fr-FR" sz="1400" dirty="0"/>
            </a:br>
            <a:r>
              <a:rPr lang="fr-FR" sz="1400" dirty="0"/>
              <a:t>Min : 1 transaction</a:t>
            </a:r>
          </a:p>
          <a:p>
            <a:pPr fontAlgn="base"/>
            <a:r>
              <a:rPr lang="fr-FR" sz="1400" dirty="0"/>
              <a:t>Q1 : 15 transactions</a:t>
            </a:r>
          </a:p>
          <a:p>
            <a:pPr fontAlgn="base"/>
            <a:r>
              <a:rPr lang="fr-FR" sz="1400" dirty="0"/>
              <a:t>Médiane : 27 transactions</a:t>
            </a:r>
          </a:p>
          <a:p>
            <a:pPr fontAlgn="base"/>
            <a:r>
              <a:rPr lang="fr-FR" sz="1400" dirty="0"/>
              <a:t>Q3 : 50 transactions</a:t>
            </a:r>
          </a:p>
          <a:p>
            <a:pPr fontAlgn="base"/>
            <a:r>
              <a:rPr lang="fr-FR" sz="1400" dirty="0"/>
              <a:t>Max : 10 997 transactions</a:t>
            </a:r>
          </a:p>
          <a:p>
            <a:pPr fontAlgn="base"/>
            <a:endParaRPr lang="fr-FR" sz="1400" b="1" dirty="0"/>
          </a:p>
          <a:p>
            <a:pPr fontAlgn="base"/>
            <a:r>
              <a:rPr lang="fr-FR" sz="1400" dirty="0"/>
              <a:t>Outliers (&gt; 125 transactions) : 457 clients</a:t>
            </a:r>
          </a:p>
          <a:p>
            <a:endParaRPr lang="fr-FR" dirty="0"/>
          </a:p>
        </p:txBody>
      </p:sp>
      <p:sp>
        <p:nvSpPr>
          <p:cNvPr id="23" name="ZoneTexte 22">
            <a:extLst>
              <a:ext uri="{FF2B5EF4-FFF2-40B4-BE49-F238E27FC236}">
                <a16:creationId xmlns:a16="http://schemas.microsoft.com/office/drawing/2014/main" id="{33F57829-D3C4-A2A9-84AF-BBEB4CF198AD}"/>
              </a:ext>
            </a:extLst>
          </p:cNvPr>
          <p:cNvSpPr txBox="1"/>
          <p:nvPr/>
        </p:nvSpPr>
        <p:spPr>
          <a:xfrm>
            <a:off x="7086600" y="4620126"/>
            <a:ext cx="4307305" cy="2022530"/>
          </a:xfrm>
          <a:prstGeom prst="rect">
            <a:avLst/>
          </a:prstGeom>
          <a:noFill/>
        </p:spPr>
        <p:txBody>
          <a:bodyPr wrap="square" rtlCol="0">
            <a:spAutoFit/>
          </a:bodyPr>
          <a:lstStyle/>
          <a:p>
            <a:endParaRPr lang="fr-FR" dirty="0"/>
          </a:p>
        </p:txBody>
      </p:sp>
      <p:sp>
        <p:nvSpPr>
          <p:cNvPr id="25" name="ZoneTexte 24">
            <a:extLst>
              <a:ext uri="{FF2B5EF4-FFF2-40B4-BE49-F238E27FC236}">
                <a16:creationId xmlns:a16="http://schemas.microsoft.com/office/drawing/2014/main" id="{8D2D3AC2-5D10-6A7C-51CC-0CB0A9F56203}"/>
              </a:ext>
            </a:extLst>
          </p:cNvPr>
          <p:cNvSpPr txBox="1"/>
          <p:nvPr/>
        </p:nvSpPr>
        <p:spPr>
          <a:xfrm>
            <a:off x="7086599" y="4888330"/>
            <a:ext cx="4391523" cy="1384995"/>
          </a:xfrm>
          <a:prstGeom prst="rect">
            <a:avLst/>
          </a:prstGeom>
          <a:noFill/>
        </p:spPr>
        <p:txBody>
          <a:bodyPr wrap="square" lIns="91440" tIns="45720" rIns="91440" bIns="45720" rtlCol="0" anchor="t">
            <a:spAutoFit/>
          </a:bodyPr>
          <a:lstStyle/>
          <a:p>
            <a:pPr algn="ctr"/>
            <a:r>
              <a:rPr lang="fr-FR" sz="1400" dirty="0">
                <a:ea typeface="+mn-lt"/>
                <a:cs typeface="+mn-lt"/>
              </a:rPr>
              <a:t>La majorité des clients effectuent entre 15 et 50 transactions. </a:t>
            </a:r>
            <a:endParaRPr lang="fr-FR" dirty="0">
              <a:ea typeface="+mn-lt"/>
              <a:cs typeface="+mn-lt"/>
            </a:endParaRPr>
          </a:p>
          <a:p>
            <a:pPr algn="ctr"/>
            <a:endParaRPr lang="fr-FR" sz="1400" dirty="0">
              <a:ea typeface="+mn-lt"/>
              <a:cs typeface="+mn-lt"/>
            </a:endParaRPr>
          </a:p>
          <a:p>
            <a:pPr algn="ctr"/>
            <a:r>
              <a:rPr lang="fr-FR" sz="1400" dirty="0">
                <a:ea typeface="+mn-lt"/>
                <a:cs typeface="+mn-lt"/>
              </a:rPr>
              <a:t>Néanmoins, </a:t>
            </a:r>
            <a:r>
              <a:rPr lang="fr-FR" sz="1400" b="1" dirty="0">
                <a:ea typeface="+mn-lt"/>
                <a:cs typeface="+mn-lt"/>
              </a:rPr>
              <a:t>457 clients se distinguent par une activité bien supérieure</a:t>
            </a:r>
            <a:r>
              <a:rPr lang="fr-FR" sz="1400" dirty="0">
                <a:ea typeface="+mn-lt"/>
                <a:cs typeface="+mn-lt"/>
              </a:rPr>
              <a:t>, illustrant une forte concentration des achats sur une minorité d’individus.</a:t>
            </a:r>
            <a:endParaRPr lang="fr-FR"/>
          </a:p>
        </p:txBody>
      </p:sp>
    </p:spTree>
    <p:extLst>
      <p:ext uri="{BB962C8B-B14F-4D97-AF65-F5344CB8AC3E}">
        <p14:creationId xmlns:p14="http://schemas.microsoft.com/office/powerpoint/2010/main" val="3588045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73D02F-99F4-C998-92D5-C313D5B2D688}"/>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37AC0E0-AA10-3FFE-E568-D622D952C3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F063C9-7909-53D2-FDD9-3BE4D8912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6BFA65E-D39A-C650-2C79-629CA5C953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6055687-FF1F-773E-EBED-E44318753D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F249885F-8F3F-0A54-645A-25BD15377BB1}"/>
              </a:ext>
            </a:extLst>
          </p:cNvPr>
          <p:cNvSpPr>
            <a:spLocks noGrp="1"/>
          </p:cNvSpPr>
          <p:nvPr>
            <p:ph type="title"/>
          </p:nvPr>
        </p:nvSpPr>
        <p:spPr>
          <a:xfrm>
            <a:off x="1073988" y="349112"/>
            <a:ext cx="10044023" cy="877729"/>
          </a:xfrm>
        </p:spPr>
        <p:txBody>
          <a:bodyPr anchor="ctr">
            <a:normAutofit/>
          </a:bodyPr>
          <a:lstStyle/>
          <a:p>
            <a:pPr algn="ctr"/>
            <a:r>
              <a:rPr lang="fr-FR" sz="3700" dirty="0">
                <a:solidFill>
                  <a:srgbClr val="FFFFFF"/>
                </a:solidFill>
              </a:rPr>
              <a:t>Evolution et structure des produits vendus</a:t>
            </a:r>
          </a:p>
        </p:txBody>
      </p:sp>
      <p:cxnSp>
        <p:nvCxnSpPr>
          <p:cNvPr id="17" name="Connecteur droit 16">
            <a:extLst>
              <a:ext uri="{FF2B5EF4-FFF2-40B4-BE49-F238E27FC236}">
                <a16:creationId xmlns:a16="http://schemas.microsoft.com/office/drawing/2014/main" id="{62083823-39B7-5E8E-1235-61943EB88B4F}"/>
              </a:ext>
            </a:extLst>
          </p:cNvPr>
          <p:cNvCxnSpPr/>
          <p:nvPr/>
        </p:nvCxnSpPr>
        <p:spPr>
          <a:xfrm>
            <a:off x="6096000" y="2128395"/>
            <a:ext cx="0" cy="4090737"/>
          </a:xfrm>
          <a:prstGeom prst="line">
            <a:avLst/>
          </a:prstGeom>
        </p:spPr>
        <p:style>
          <a:lnRef idx="2">
            <a:schemeClr val="accent1"/>
          </a:lnRef>
          <a:fillRef idx="0">
            <a:schemeClr val="accent1"/>
          </a:fillRef>
          <a:effectRef idx="1">
            <a:schemeClr val="accent1"/>
          </a:effectRef>
          <a:fontRef idx="minor">
            <a:schemeClr val="tx1"/>
          </a:fontRef>
        </p:style>
      </p:cxnSp>
      <p:sp>
        <p:nvSpPr>
          <p:cNvPr id="23" name="ZoneTexte 22">
            <a:extLst>
              <a:ext uri="{FF2B5EF4-FFF2-40B4-BE49-F238E27FC236}">
                <a16:creationId xmlns:a16="http://schemas.microsoft.com/office/drawing/2014/main" id="{F216D050-8036-D633-1AF6-EF1EAF5CCB1D}"/>
              </a:ext>
            </a:extLst>
          </p:cNvPr>
          <p:cNvSpPr txBox="1"/>
          <p:nvPr/>
        </p:nvSpPr>
        <p:spPr>
          <a:xfrm>
            <a:off x="6254416" y="2128395"/>
            <a:ext cx="1597053" cy="1600438"/>
          </a:xfrm>
          <a:prstGeom prst="rect">
            <a:avLst/>
          </a:prstGeom>
          <a:noFill/>
        </p:spPr>
        <p:txBody>
          <a:bodyPr wrap="square" rtlCol="0">
            <a:spAutoFit/>
          </a:bodyPr>
          <a:lstStyle/>
          <a:p>
            <a:pPr algn="ctr"/>
            <a:r>
              <a:rPr lang="fr-FR" sz="1400" dirty="0"/>
              <a:t>La majorité des achats portent sur 1 à 2 produits, ce qui suggère des paniers simples et un parcours client rapide.</a:t>
            </a:r>
          </a:p>
        </p:txBody>
      </p:sp>
      <p:pic>
        <p:nvPicPr>
          <p:cNvPr id="5" name="Image 4">
            <a:extLst>
              <a:ext uri="{FF2B5EF4-FFF2-40B4-BE49-F238E27FC236}">
                <a16:creationId xmlns:a16="http://schemas.microsoft.com/office/drawing/2014/main" id="{1A5A605E-119B-C819-0BE4-FB5A302C4457}"/>
              </a:ext>
            </a:extLst>
          </p:cNvPr>
          <p:cNvPicPr>
            <a:picLocks noChangeAspect="1"/>
          </p:cNvPicPr>
          <p:nvPr/>
        </p:nvPicPr>
        <p:blipFill>
          <a:blip r:embed="rId3"/>
          <a:stretch>
            <a:fillRect/>
          </a:stretch>
        </p:blipFill>
        <p:spPr>
          <a:xfrm>
            <a:off x="336079" y="1761287"/>
            <a:ext cx="5423842" cy="2673016"/>
          </a:xfrm>
          <a:prstGeom prst="rect">
            <a:avLst/>
          </a:prstGeom>
        </p:spPr>
      </p:pic>
      <p:sp>
        <p:nvSpPr>
          <p:cNvPr id="13" name="ZoneTexte 12">
            <a:extLst>
              <a:ext uri="{FF2B5EF4-FFF2-40B4-BE49-F238E27FC236}">
                <a16:creationId xmlns:a16="http://schemas.microsoft.com/office/drawing/2014/main" id="{F3633E97-0B4D-FA0A-06B3-9B0DFAE6D3AB}"/>
              </a:ext>
            </a:extLst>
          </p:cNvPr>
          <p:cNvSpPr txBox="1"/>
          <p:nvPr/>
        </p:nvSpPr>
        <p:spPr>
          <a:xfrm>
            <a:off x="629654" y="5006861"/>
            <a:ext cx="4836692" cy="523220"/>
          </a:xfrm>
          <a:prstGeom prst="rect">
            <a:avLst/>
          </a:prstGeom>
          <a:noFill/>
        </p:spPr>
        <p:txBody>
          <a:bodyPr wrap="square" rtlCol="0">
            <a:spAutoFit/>
          </a:bodyPr>
          <a:lstStyle/>
          <a:p>
            <a:pPr algn="ctr"/>
            <a:r>
              <a:rPr lang="fr-FR" sz="1400" dirty="0"/>
              <a:t>Tendance stable avec pics en septembre et décembre 2021, probablement liés à des actions commerciales ciblées. </a:t>
            </a:r>
          </a:p>
        </p:txBody>
      </p:sp>
      <p:pic>
        <p:nvPicPr>
          <p:cNvPr id="19" name="Image 18">
            <a:extLst>
              <a:ext uri="{FF2B5EF4-FFF2-40B4-BE49-F238E27FC236}">
                <a16:creationId xmlns:a16="http://schemas.microsoft.com/office/drawing/2014/main" id="{180180D3-60BB-8045-2C74-478AB85D925A}"/>
              </a:ext>
            </a:extLst>
          </p:cNvPr>
          <p:cNvPicPr>
            <a:picLocks noChangeAspect="1"/>
          </p:cNvPicPr>
          <p:nvPr/>
        </p:nvPicPr>
        <p:blipFill>
          <a:blip r:embed="rId4"/>
          <a:stretch>
            <a:fillRect/>
          </a:stretch>
        </p:blipFill>
        <p:spPr>
          <a:xfrm>
            <a:off x="8009884" y="1760796"/>
            <a:ext cx="3977598" cy="2353513"/>
          </a:xfrm>
          <a:prstGeom prst="rect">
            <a:avLst/>
          </a:prstGeom>
        </p:spPr>
      </p:pic>
      <p:pic>
        <p:nvPicPr>
          <p:cNvPr id="22" name="Image 21">
            <a:extLst>
              <a:ext uri="{FF2B5EF4-FFF2-40B4-BE49-F238E27FC236}">
                <a16:creationId xmlns:a16="http://schemas.microsoft.com/office/drawing/2014/main" id="{4E046885-6704-7372-AFF5-4CE410632C6A}"/>
              </a:ext>
            </a:extLst>
          </p:cNvPr>
          <p:cNvPicPr>
            <a:picLocks noChangeAspect="1"/>
          </p:cNvPicPr>
          <p:nvPr/>
        </p:nvPicPr>
        <p:blipFill>
          <a:blip r:embed="rId5"/>
          <a:stretch>
            <a:fillRect/>
          </a:stretch>
        </p:blipFill>
        <p:spPr>
          <a:xfrm>
            <a:off x="6523930" y="4298659"/>
            <a:ext cx="2093489" cy="2515780"/>
          </a:xfrm>
          <a:prstGeom prst="rect">
            <a:avLst/>
          </a:prstGeom>
        </p:spPr>
      </p:pic>
      <p:sp>
        <p:nvSpPr>
          <p:cNvPr id="24" name="ZoneTexte 23">
            <a:extLst>
              <a:ext uri="{FF2B5EF4-FFF2-40B4-BE49-F238E27FC236}">
                <a16:creationId xmlns:a16="http://schemas.microsoft.com/office/drawing/2014/main" id="{E7415028-7320-D278-53E0-76A3B68CA9A3}"/>
              </a:ext>
            </a:extLst>
          </p:cNvPr>
          <p:cNvSpPr txBox="1"/>
          <p:nvPr/>
        </p:nvSpPr>
        <p:spPr>
          <a:xfrm>
            <a:off x="9045348" y="5006861"/>
            <a:ext cx="2651353" cy="1212271"/>
          </a:xfrm>
          <a:prstGeom prst="rect">
            <a:avLst/>
          </a:prstGeom>
          <a:noFill/>
        </p:spPr>
        <p:txBody>
          <a:bodyPr wrap="square" rtlCol="0">
            <a:spAutoFit/>
          </a:bodyPr>
          <a:lstStyle/>
          <a:p>
            <a:r>
              <a:rPr lang="fr-FR" sz="1400" dirty="0"/>
              <a:t>Le catalogue est déséquilibré : </a:t>
            </a:r>
            <a:r>
              <a:rPr lang="fr-FR" sz="1400" b="1" dirty="0"/>
              <a:t>70% des références sont concentrés en catégorie 0</a:t>
            </a:r>
            <a:r>
              <a:rPr lang="fr-FR" sz="1400" dirty="0"/>
              <a:t>, contre seulement </a:t>
            </a:r>
            <a:r>
              <a:rPr lang="fr-FR" sz="1400" b="1" dirty="0"/>
              <a:t>7% en catégorie 2</a:t>
            </a:r>
            <a:r>
              <a:rPr lang="fr-FR" sz="1400" dirty="0"/>
              <a:t>.</a:t>
            </a:r>
          </a:p>
        </p:txBody>
      </p:sp>
    </p:spTree>
    <p:extLst>
      <p:ext uri="{BB962C8B-B14F-4D97-AF65-F5344CB8AC3E}">
        <p14:creationId xmlns:p14="http://schemas.microsoft.com/office/powerpoint/2010/main" val="2542835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2A4B8C-B48E-95F6-F704-6FF98457D1AE}"/>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AE45BE4-F5B4-A2AD-C7ED-B33474D05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8503EB4-83C2-EB87-976F-35CF50D886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D547926-591F-F08C-14F8-71B5B680A0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34DB74B-47A1-8CA0-07F4-7BCF40FE19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B821A9F5-44B4-5973-15D5-7A5A920CA16D}"/>
              </a:ext>
            </a:extLst>
          </p:cNvPr>
          <p:cNvSpPr>
            <a:spLocks noGrp="1"/>
          </p:cNvSpPr>
          <p:nvPr>
            <p:ph type="title"/>
          </p:nvPr>
        </p:nvSpPr>
        <p:spPr>
          <a:xfrm>
            <a:off x="1073988" y="349112"/>
            <a:ext cx="10044023" cy="877729"/>
          </a:xfrm>
        </p:spPr>
        <p:txBody>
          <a:bodyPr anchor="ctr">
            <a:normAutofit/>
          </a:bodyPr>
          <a:lstStyle/>
          <a:p>
            <a:pPr algn="ctr"/>
            <a:r>
              <a:rPr lang="fr-FR" sz="3700" dirty="0">
                <a:solidFill>
                  <a:srgbClr val="FFFFFF"/>
                </a:solidFill>
              </a:rPr>
              <a:t>Analyse des performances produits</a:t>
            </a:r>
          </a:p>
        </p:txBody>
      </p:sp>
      <p:pic>
        <p:nvPicPr>
          <p:cNvPr id="4" name="Image 3">
            <a:extLst>
              <a:ext uri="{FF2B5EF4-FFF2-40B4-BE49-F238E27FC236}">
                <a16:creationId xmlns:a16="http://schemas.microsoft.com/office/drawing/2014/main" id="{C9C8D973-2955-B5E0-6D62-665407154E30}"/>
              </a:ext>
            </a:extLst>
          </p:cNvPr>
          <p:cNvPicPr>
            <a:picLocks noChangeAspect="1"/>
          </p:cNvPicPr>
          <p:nvPr/>
        </p:nvPicPr>
        <p:blipFill>
          <a:blip r:embed="rId3"/>
          <a:stretch>
            <a:fillRect/>
          </a:stretch>
        </p:blipFill>
        <p:spPr>
          <a:xfrm>
            <a:off x="973808" y="1666151"/>
            <a:ext cx="4647146" cy="1917684"/>
          </a:xfrm>
          <a:prstGeom prst="rect">
            <a:avLst/>
          </a:prstGeom>
        </p:spPr>
      </p:pic>
      <p:sp>
        <p:nvSpPr>
          <p:cNvPr id="6" name="ZoneTexte 5">
            <a:extLst>
              <a:ext uri="{FF2B5EF4-FFF2-40B4-BE49-F238E27FC236}">
                <a16:creationId xmlns:a16="http://schemas.microsoft.com/office/drawing/2014/main" id="{B923B9F9-700A-0FA3-8E81-17544270CF81}"/>
              </a:ext>
            </a:extLst>
          </p:cNvPr>
          <p:cNvSpPr txBox="1"/>
          <p:nvPr/>
        </p:nvSpPr>
        <p:spPr>
          <a:xfrm>
            <a:off x="6335476" y="2624993"/>
            <a:ext cx="4782535" cy="646331"/>
          </a:xfrm>
          <a:prstGeom prst="rect">
            <a:avLst/>
          </a:prstGeom>
          <a:noFill/>
        </p:spPr>
        <p:txBody>
          <a:bodyPr wrap="square" rtlCol="0">
            <a:spAutoFit/>
          </a:bodyPr>
          <a:lstStyle/>
          <a:p>
            <a:pPr algn="ctr"/>
            <a:r>
              <a:rPr lang="fr-FR" sz="1200" i="1" dirty="0"/>
              <a:t>La catégorie 2 propose des prix nettement plus élevés, à fort potentiel CA. À l’inverse, la catégorie 0 concentre surtout des produits à bas prix.</a:t>
            </a:r>
          </a:p>
        </p:txBody>
      </p:sp>
      <p:pic>
        <p:nvPicPr>
          <p:cNvPr id="8" name="Image 7">
            <a:extLst>
              <a:ext uri="{FF2B5EF4-FFF2-40B4-BE49-F238E27FC236}">
                <a16:creationId xmlns:a16="http://schemas.microsoft.com/office/drawing/2014/main" id="{CB614939-E917-FED0-D1C2-E0DCAD846FF6}"/>
              </a:ext>
            </a:extLst>
          </p:cNvPr>
          <p:cNvPicPr>
            <a:picLocks noChangeAspect="1"/>
          </p:cNvPicPr>
          <p:nvPr/>
        </p:nvPicPr>
        <p:blipFill>
          <a:blip r:embed="rId4"/>
          <a:stretch>
            <a:fillRect/>
          </a:stretch>
        </p:blipFill>
        <p:spPr>
          <a:xfrm>
            <a:off x="428563" y="4428696"/>
            <a:ext cx="5375179" cy="2259704"/>
          </a:xfrm>
          <a:prstGeom prst="rect">
            <a:avLst/>
          </a:prstGeom>
        </p:spPr>
      </p:pic>
      <p:pic>
        <p:nvPicPr>
          <p:cNvPr id="10" name="Image 9">
            <a:extLst>
              <a:ext uri="{FF2B5EF4-FFF2-40B4-BE49-F238E27FC236}">
                <a16:creationId xmlns:a16="http://schemas.microsoft.com/office/drawing/2014/main" id="{51AB133B-16AE-14C5-1599-746EB15A6408}"/>
              </a:ext>
            </a:extLst>
          </p:cNvPr>
          <p:cNvPicPr>
            <a:picLocks noChangeAspect="1"/>
          </p:cNvPicPr>
          <p:nvPr/>
        </p:nvPicPr>
        <p:blipFill>
          <a:blip r:embed="rId5"/>
          <a:stretch>
            <a:fillRect/>
          </a:stretch>
        </p:blipFill>
        <p:spPr>
          <a:xfrm>
            <a:off x="6388262" y="4425376"/>
            <a:ext cx="5375175" cy="2263024"/>
          </a:xfrm>
          <a:prstGeom prst="rect">
            <a:avLst/>
          </a:prstGeom>
        </p:spPr>
      </p:pic>
      <p:cxnSp>
        <p:nvCxnSpPr>
          <p:cNvPr id="26" name="Connecteur droit 25">
            <a:extLst>
              <a:ext uri="{FF2B5EF4-FFF2-40B4-BE49-F238E27FC236}">
                <a16:creationId xmlns:a16="http://schemas.microsoft.com/office/drawing/2014/main" id="{C20DD277-1820-F4A3-864D-18A05E512EB7}"/>
              </a:ext>
            </a:extLst>
          </p:cNvPr>
          <p:cNvCxnSpPr/>
          <p:nvPr/>
        </p:nvCxnSpPr>
        <p:spPr>
          <a:xfrm>
            <a:off x="6095999" y="3826042"/>
            <a:ext cx="0" cy="2863516"/>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Connecteur droit 27">
            <a:extLst>
              <a:ext uri="{FF2B5EF4-FFF2-40B4-BE49-F238E27FC236}">
                <a16:creationId xmlns:a16="http://schemas.microsoft.com/office/drawing/2014/main" id="{6B547B58-8A54-5201-0E1C-B020401816B8}"/>
              </a:ext>
            </a:extLst>
          </p:cNvPr>
          <p:cNvCxnSpPr/>
          <p:nvPr/>
        </p:nvCxnSpPr>
        <p:spPr>
          <a:xfrm>
            <a:off x="973808" y="3826042"/>
            <a:ext cx="10492287" cy="0"/>
          </a:xfrm>
          <a:prstGeom prst="line">
            <a:avLst/>
          </a:prstGeom>
        </p:spPr>
        <p:style>
          <a:lnRef idx="2">
            <a:schemeClr val="accent1"/>
          </a:lnRef>
          <a:fillRef idx="0">
            <a:schemeClr val="accent1"/>
          </a:fillRef>
          <a:effectRef idx="1">
            <a:schemeClr val="accent1"/>
          </a:effectRef>
          <a:fontRef idx="minor">
            <a:schemeClr val="tx1"/>
          </a:fontRef>
        </p:style>
      </p:cxnSp>
      <p:sp>
        <p:nvSpPr>
          <p:cNvPr id="29" name="ZoneTexte 28">
            <a:extLst>
              <a:ext uri="{FF2B5EF4-FFF2-40B4-BE49-F238E27FC236}">
                <a16:creationId xmlns:a16="http://schemas.microsoft.com/office/drawing/2014/main" id="{A6DB4068-8163-0E4B-176E-5EF6A3312BF1}"/>
              </a:ext>
            </a:extLst>
          </p:cNvPr>
          <p:cNvSpPr txBox="1"/>
          <p:nvPr/>
        </p:nvSpPr>
        <p:spPr>
          <a:xfrm>
            <a:off x="918962" y="3896537"/>
            <a:ext cx="4394380" cy="461665"/>
          </a:xfrm>
          <a:prstGeom prst="rect">
            <a:avLst/>
          </a:prstGeom>
          <a:noFill/>
        </p:spPr>
        <p:txBody>
          <a:bodyPr wrap="square" rtlCol="0">
            <a:spAutoFit/>
          </a:bodyPr>
          <a:lstStyle/>
          <a:p>
            <a:r>
              <a:rPr lang="fr-FR" sz="1200" i="1" dirty="0"/>
              <a:t>Les produits générant le plus de CA ne sont pas nécessairement les plus vendus : ils se distinguent par leur prix unitaire élevé. </a:t>
            </a:r>
          </a:p>
        </p:txBody>
      </p:sp>
      <p:sp>
        <p:nvSpPr>
          <p:cNvPr id="31" name="ZoneTexte 30">
            <a:extLst>
              <a:ext uri="{FF2B5EF4-FFF2-40B4-BE49-F238E27FC236}">
                <a16:creationId xmlns:a16="http://schemas.microsoft.com/office/drawing/2014/main" id="{912CD897-6B79-CF36-BEE2-EC88826B10CC}"/>
              </a:ext>
            </a:extLst>
          </p:cNvPr>
          <p:cNvSpPr txBox="1"/>
          <p:nvPr/>
        </p:nvSpPr>
        <p:spPr>
          <a:xfrm>
            <a:off x="6633439" y="3907736"/>
            <a:ext cx="4884819" cy="461665"/>
          </a:xfrm>
          <a:prstGeom prst="rect">
            <a:avLst/>
          </a:prstGeom>
          <a:noFill/>
        </p:spPr>
        <p:txBody>
          <a:bodyPr wrap="square" rtlCol="0">
            <a:spAutoFit/>
          </a:bodyPr>
          <a:lstStyle/>
          <a:p>
            <a:pPr algn="ctr"/>
            <a:r>
              <a:rPr lang="fr-FR" sz="1200" i="1" dirty="0"/>
              <a:t>Les flops en CA et en volume révèlent des produits peu attractifs ou mal référencés avec un potentiel à évaluer. </a:t>
            </a:r>
          </a:p>
        </p:txBody>
      </p:sp>
    </p:spTree>
    <p:extLst>
      <p:ext uri="{BB962C8B-B14F-4D97-AF65-F5344CB8AC3E}">
        <p14:creationId xmlns:p14="http://schemas.microsoft.com/office/powerpoint/2010/main" val="440175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68EC2F-7CC7-F3A0-8878-41E467FDE9A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B0D92E1-4CD4-53B1-5585-CD65B4D7B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ADA0C83-E331-9228-A044-756FD564E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2BFB956-1764-7F80-5E2C-1CC3598A19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85B2A10-B0AD-B97E-59AD-9F7C73E18A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BC6F2D62-7929-AA99-4DD7-EE95025623C8}"/>
              </a:ext>
            </a:extLst>
          </p:cNvPr>
          <p:cNvSpPr>
            <a:spLocks noGrp="1"/>
          </p:cNvSpPr>
          <p:nvPr>
            <p:ph type="title"/>
          </p:nvPr>
        </p:nvSpPr>
        <p:spPr>
          <a:xfrm>
            <a:off x="1073988" y="349112"/>
            <a:ext cx="10044023" cy="877729"/>
          </a:xfrm>
        </p:spPr>
        <p:txBody>
          <a:bodyPr anchor="ctr">
            <a:normAutofit/>
          </a:bodyPr>
          <a:lstStyle/>
          <a:p>
            <a:pPr algn="ctr"/>
            <a:r>
              <a:rPr lang="fr-FR" sz="3700" dirty="0">
                <a:solidFill>
                  <a:srgbClr val="FFFFFF"/>
                </a:solidFill>
              </a:rPr>
              <a:t>Analyse croisée : offre vs performance</a:t>
            </a:r>
          </a:p>
        </p:txBody>
      </p:sp>
      <p:pic>
        <p:nvPicPr>
          <p:cNvPr id="5" name="Image 4">
            <a:extLst>
              <a:ext uri="{FF2B5EF4-FFF2-40B4-BE49-F238E27FC236}">
                <a16:creationId xmlns:a16="http://schemas.microsoft.com/office/drawing/2014/main" id="{A205EA85-88F5-C9B8-D7FA-0F5844E0541A}"/>
              </a:ext>
            </a:extLst>
          </p:cNvPr>
          <p:cNvPicPr>
            <a:picLocks noChangeAspect="1"/>
          </p:cNvPicPr>
          <p:nvPr/>
        </p:nvPicPr>
        <p:blipFill>
          <a:blip r:embed="rId3"/>
          <a:stretch>
            <a:fillRect/>
          </a:stretch>
        </p:blipFill>
        <p:spPr>
          <a:xfrm>
            <a:off x="445897" y="2531861"/>
            <a:ext cx="6132748" cy="3308832"/>
          </a:xfrm>
          <a:prstGeom prst="rect">
            <a:avLst/>
          </a:prstGeom>
        </p:spPr>
      </p:pic>
      <p:sp>
        <p:nvSpPr>
          <p:cNvPr id="7" name="ZoneTexte 6">
            <a:extLst>
              <a:ext uri="{FF2B5EF4-FFF2-40B4-BE49-F238E27FC236}">
                <a16:creationId xmlns:a16="http://schemas.microsoft.com/office/drawing/2014/main" id="{35C6775A-8845-DF10-3790-7CABFBE2EDA0}"/>
              </a:ext>
            </a:extLst>
          </p:cNvPr>
          <p:cNvSpPr txBox="1"/>
          <p:nvPr/>
        </p:nvSpPr>
        <p:spPr>
          <a:xfrm>
            <a:off x="7579895" y="2955170"/>
            <a:ext cx="4166208" cy="2462213"/>
          </a:xfrm>
          <a:prstGeom prst="rect">
            <a:avLst/>
          </a:prstGeom>
          <a:noFill/>
        </p:spPr>
        <p:txBody>
          <a:bodyPr wrap="square" rtlCol="0">
            <a:spAutoFit/>
          </a:bodyPr>
          <a:lstStyle/>
          <a:p>
            <a:r>
              <a:rPr lang="fr-FR" sz="1400" b="1" dirty="0"/>
              <a:t>La catégorie 0 concentre 70% de l’offre produits </a:t>
            </a:r>
            <a:r>
              <a:rPr lang="fr-FR" sz="1400" dirty="0"/>
              <a:t>mais </a:t>
            </a:r>
            <a:r>
              <a:rPr lang="fr-FR" sz="1400" b="1" dirty="0"/>
              <a:t>génère à peine 36,7% du CA </a:t>
            </a:r>
            <a:r>
              <a:rPr lang="fr-FR" sz="1400" dirty="0"/>
              <a:t>et </a:t>
            </a:r>
            <a:r>
              <a:rPr lang="fr-FR" sz="1400" b="1" dirty="0"/>
              <a:t>100% des flops</a:t>
            </a:r>
            <a:r>
              <a:rPr lang="fr-FR" sz="1400" dirty="0"/>
              <a:t>. </a:t>
            </a:r>
          </a:p>
          <a:p>
            <a:endParaRPr lang="fr-FR" sz="1400" dirty="0"/>
          </a:p>
          <a:p>
            <a:r>
              <a:rPr lang="fr-FR" sz="1400" dirty="0"/>
              <a:t>Les </a:t>
            </a:r>
            <a:r>
              <a:rPr lang="fr-FR" sz="1400" b="1" dirty="0"/>
              <a:t>catégories 1 &amp; 2</a:t>
            </a:r>
            <a:r>
              <a:rPr lang="fr-FR" sz="1400" dirty="0"/>
              <a:t>, bien moins représentées dans le catalogue, </a:t>
            </a:r>
            <a:r>
              <a:rPr lang="fr-FR" sz="1400" b="1" dirty="0"/>
              <a:t>portent l’essentiel des performances commerciales </a:t>
            </a:r>
            <a:r>
              <a:rPr lang="fr-FR" sz="1400" dirty="0"/>
              <a:t>(tops CA et tops volume). </a:t>
            </a:r>
          </a:p>
          <a:p>
            <a:endParaRPr lang="fr-FR" sz="1400" dirty="0"/>
          </a:p>
          <a:p>
            <a:r>
              <a:rPr lang="fr-FR" sz="1400" dirty="0"/>
              <a:t>Recommandation : Repenser la structure de l’offre en fonction de la performance réelle. </a:t>
            </a:r>
          </a:p>
        </p:txBody>
      </p:sp>
    </p:spTree>
    <p:extLst>
      <p:ext uri="{BB962C8B-B14F-4D97-AF65-F5344CB8AC3E}">
        <p14:creationId xmlns:p14="http://schemas.microsoft.com/office/powerpoint/2010/main" val="121002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8E5130-B48A-8B83-4A8C-28B961A51534}"/>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D9058F2-8C2F-1E7A-E806-A0FA427BC4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1723C91-99CC-6893-3201-BBB1CDAA11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E8B15FF-22E6-7B18-BCBF-760C67FC5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D36B591-5F49-06F6-E961-66302E0A2B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313AB869-92CC-5142-BB3C-96EECB556EA2}"/>
              </a:ext>
            </a:extLst>
          </p:cNvPr>
          <p:cNvSpPr>
            <a:spLocks noGrp="1"/>
          </p:cNvSpPr>
          <p:nvPr>
            <p:ph type="title"/>
          </p:nvPr>
        </p:nvSpPr>
        <p:spPr>
          <a:xfrm>
            <a:off x="1073988" y="349112"/>
            <a:ext cx="10044023" cy="877729"/>
          </a:xfrm>
        </p:spPr>
        <p:txBody>
          <a:bodyPr anchor="ctr">
            <a:normAutofit/>
          </a:bodyPr>
          <a:lstStyle/>
          <a:p>
            <a:pPr algn="ctr"/>
            <a:r>
              <a:rPr lang="fr-FR" sz="3700" dirty="0">
                <a:solidFill>
                  <a:srgbClr val="FFFFFF"/>
                </a:solidFill>
              </a:rPr>
              <a:t>Répartition du CA entre clients BtoB &amp; clients BtoC</a:t>
            </a:r>
          </a:p>
        </p:txBody>
      </p:sp>
      <p:cxnSp>
        <p:nvCxnSpPr>
          <p:cNvPr id="4" name="Connecteur droit 3">
            <a:extLst>
              <a:ext uri="{FF2B5EF4-FFF2-40B4-BE49-F238E27FC236}">
                <a16:creationId xmlns:a16="http://schemas.microsoft.com/office/drawing/2014/main" id="{7154C36B-FA07-8EF2-211F-F4D89A50CC25}"/>
              </a:ext>
            </a:extLst>
          </p:cNvPr>
          <p:cNvCxnSpPr>
            <a:cxnSpLocks/>
          </p:cNvCxnSpPr>
          <p:nvPr/>
        </p:nvCxnSpPr>
        <p:spPr>
          <a:xfrm>
            <a:off x="5907505" y="1925053"/>
            <a:ext cx="0" cy="4523874"/>
          </a:xfrm>
          <a:prstGeom prst="line">
            <a:avLst/>
          </a:prstGeom>
        </p:spPr>
        <p:style>
          <a:lnRef idx="2">
            <a:schemeClr val="accent1"/>
          </a:lnRef>
          <a:fillRef idx="0">
            <a:schemeClr val="accent1"/>
          </a:fillRef>
          <a:effectRef idx="1">
            <a:schemeClr val="accent1"/>
          </a:effectRef>
          <a:fontRef idx="minor">
            <a:schemeClr val="tx1"/>
          </a:fontRef>
        </p:style>
      </p:cxnSp>
      <p:pic>
        <p:nvPicPr>
          <p:cNvPr id="9" name="Image 8">
            <a:extLst>
              <a:ext uri="{FF2B5EF4-FFF2-40B4-BE49-F238E27FC236}">
                <a16:creationId xmlns:a16="http://schemas.microsoft.com/office/drawing/2014/main" id="{754D08E7-2E5D-A6DB-F9D5-B51C8A88B571}"/>
              </a:ext>
            </a:extLst>
          </p:cNvPr>
          <p:cNvPicPr>
            <a:picLocks noChangeAspect="1"/>
          </p:cNvPicPr>
          <p:nvPr/>
        </p:nvPicPr>
        <p:blipFill>
          <a:blip r:embed="rId3"/>
          <a:stretch>
            <a:fillRect/>
          </a:stretch>
        </p:blipFill>
        <p:spPr>
          <a:xfrm>
            <a:off x="879808" y="1706480"/>
            <a:ext cx="3842949" cy="3190373"/>
          </a:xfrm>
          <a:prstGeom prst="rect">
            <a:avLst/>
          </a:prstGeom>
        </p:spPr>
      </p:pic>
      <p:sp>
        <p:nvSpPr>
          <p:cNvPr id="10" name="ZoneTexte 9">
            <a:extLst>
              <a:ext uri="{FF2B5EF4-FFF2-40B4-BE49-F238E27FC236}">
                <a16:creationId xmlns:a16="http://schemas.microsoft.com/office/drawing/2014/main" id="{2CFBEC3D-E4EE-0920-0751-4C7082007040}"/>
              </a:ext>
            </a:extLst>
          </p:cNvPr>
          <p:cNvSpPr txBox="1"/>
          <p:nvPr/>
        </p:nvSpPr>
        <p:spPr>
          <a:xfrm>
            <a:off x="794084" y="5089358"/>
            <a:ext cx="4379493" cy="1359569"/>
          </a:xfrm>
          <a:prstGeom prst="rect">
            <a:avLst/>
          </a:prstGeom>
          <a:noFill/>
        </p:spPr>
        <p:txBody>
          <a:bodyPr wrap="square" rtlCol="0">
            <a:spAutoFit/>
          </a:bodyPr>
          <a:lstStyle/>
          <a:p>
            <a:endParaRPr lang="fr-FR" dirty="0"/>
          </a:p>
        </p:txBody>
      </p:sp>
      <p:sp>
        <p:nvSpPr>
          <p:cNvPr id="12" name="ZoneTexte 11">
            <a:extLst>
              <a:ext uri="{FF2B5EF4-FFF2-40B4-BE49-F238E27FC236}">
                <a16:creationId xmlns:a16="http://schemas.microsoft.com/office/drawing/2014/main" id="{43A552C0-4AE7-5A0C-BFE7-6E1E72F6D60B}"/>
              </a:ext>
            </a:extLst>
          </p:cNvPr>
          <p:cNvSpPr txBox="1"/>
          <p:nvPr/>
        </p:nvSpPr>
        <p:spPr>
          <a:xfrm>
            <a:off x="486406" y="5222303"/>
            <a:ext cx="5017169" cy="738664"/>
          </a:xfrm>
          <a:prstGeom prst="rect">
            <a:avLst/>
          </a:prstGeom>
          <a:noFill/>
        </p:spPr>
        <p:txBody>
          <a:bodyPr wrap="square" lIns="91440" tIns="45720" rIns="91440" bIns="45720" rtlCol="0" anchor="t">
            <a:spAutoFit/>
          </a:bodyPr>
          <a:lstStyle/>
          <a:p>
            <a:pPr algn="ctr"/>
            <a:r>
              <a:rPr lang="fr-FR" sz="1400" dirty="0">
                <a:ea typeface="+mn-lt"/>
                <a:cs typeface="+mn-lt"/>
              </a:rPr>
              <a:t>La courbe de Lorenz révèle une forte concentration du chiffre d'affaires : </a:t>
            </a:r>
            <a:r>
              <a:rPr lang="fr-FR" sz="1400" b="1" dirty="0">
                <a:ea typeface="+mn-lt"/>
                <a:cs typeface="+mn-lt"/>
              </a:rPr>
              <a:t>20 % des clients génèrent moins de 5 % du CA, tandis que 55 % des clients en génèrent 80 %</a:t>
            </a:r>
            <a:r>
              <a:rPr lang="fr-FR" sz="1400" dirty="0">
                <a:ea typeface="+mn-lt"/>
                <a:cs typeface="+mn-lt"/>
              </a:rPr>
              <a:t>.</a:t>
            </a:r>
            <a:endParaRPr lang="fr-FR" dirty="0"/>
          </a:p>
        </p:txBody>
      </p:sp>
      <p:sp>
        <p:nvSpPr>
          <p:cNvPr id="17" name="ZoneTexte 16">
            <a:extLst>
              <a:ext uri="{FF2B5EF4-FFF2-40B4-BE49-F238E27FC236}">
                <a16:creationId xmlns:a16="http://schemas.microsoft.com/office/drawing/2014/main" id="{A7B91FA9-CD9B-B70E-0102-398891ECD275}"/>
              </a:ext>
            </a:extLst>
          </p:cNvPr>
          <p:cNvSpPr txBox="1"/>
          <p:nvPr/>
        </p:nvSpPr>
        <p:spPr>
          <a:xfrm>
            <a:off x="6095999" y="2553752"/>
            <a:ext cx="3204411" cy="1200329"/>
          </a:xfrm>
          <a:prstGeom prst="rect">
            <a:avLst/>
          </a:prstGeom>
          <a:noFill/>
        </p:spPr>
        <p:txBody>
          <a:bodyPr wrap="square" lIns="91440" tIns="45720" rIns="91440" bIns="45720" rtlCol="0" anchor="t">
            <a:spAutoFit/>
          </a:bodyPr>
          <a:lstStyle/>
          <a:p>
            <a:r>
              <a:rPr lang="fr-FR" sz="1200" dirty="0">
                <a:ea typeface="+mn-lt"/>
                <a:cs typeface="+mn-lt"/>
              </a:rPr>
              <a:t>CA BtoB (4 clients) : 884,296.09 €
CA BtoC (reste des clients) : 11,143,367.01 €</a:t>
            </a:r>
            <a:endParaRPr lang="fr-FR" dirty="0">
              <a:ea typeface="+mn-lt"/>
              <a:cs typeface="+mn-lt"/>
            </a:endParaRPr>
          </a:p>
          <a:p>
            <a:endParaRPr lang="fr-FR" sz="1200" dirty="0">
              <a:ea typeface="+mn-lt"/>
              <a:cs typeface="+mn-lt"/>
            </a:endParaRPr>
          </a:p>
          <a:p>
            <a:r>
              <a:rPr lang="fr-FR" sz="1200" dirty="0">
                <a:ea typeface="+mn-lt"/>
                <a:cs typeface="+mn-lt"/>
              </a:rPr>
              <a:t>Les clients </a:t>
            </a:r>
            <a:r>
              <a:rPr lang="fr-FR" sz="1200" b="1" dirty="0" err="1">
                <a:ea typeface="+mn-lt"/>
                <a:cs typeface="+mn-lt"/>
              </a:rPr>
              <a:t>BtoB</a:t>
            </a:r>
            <a:r>
              <a:rPr lang="fr-FR" sz="1200" b="1" dirty="0">
                <a:ea typeface="+mn-lt"/>
                <a:cs typeface="+mn-lt"/>
              </a:rPr>
              <a:t> représentent seulement 0,05 % de la clientèle</a:t>
            </a:r>
            <a:r>
              <a:rPr lang="fr-FR" sz="1200" dirty="0">
                <a:ea typeface="+mn-lt"/>
                <a:cs typeface="+mn-lt"/>
              </a:rPr>
              <a:t>, mais génèrent </a:t>
            </a:r>
            <a:r>
              <a:rPr lang="fr-FR" sz="1200" b="1" dirty="0">
                <a:ea typeface="+mn-lt"/>
                <a:cs typeface="+mn-lt"/>
              </a:rPr>
              <a:t>7,4 % </a:t>
            </a:r>
            <a:r>
              <a:rPr lang="fr-FR" sz="1200" b="1">
                <a:ea typeface="+mn-lt"/>
                <a:cs typeface="+mn-lt"/>
              </a:rPr>
              <a:t>du chiffre d’affaires total</a:t>
            </a:r>
            <a:r>
              <a:rPr lang="fr-FR" sz="1200">
                <a:ea typeface="+mn-lt"/>
                <a:cs typeface="+mn-lt"/>
              </a:rPr>
              <a:t>.</a:t>
            </a:r>
            <a:endParaRPr lang="fr-FR"/>
          </a:p>
        </p:txBody>
      </p:sp>
      <p:pic>
        <p:nvPicPr>
          <p:cNvPr id="21" name="Image 20">
            <a:extLst>
              <a:ext uri="{FF2B5EF4-FFF2-40B4-BE49-F238E27FC236}">
                <a16:creationId xmlns:a16="http://schemas.microsoft.com/office/drawing/2014/main" id="{1FF6878A-D303-B660-16B2-90A4CB9C7696}"/>
              </a:ext>
            </a:extLst>
          </p:cNvPr>
          <p:cNvPicPr>
            <a:picLocks noChangeAspect="1"/>
          </p:cNvPicPr>
          <p:nvPr/>
        </p:nvPicPr>
        <p:blipFill>
          <a:blip r:embed="rId4"/>
          <a:stretch>
            <a:fillRect/>
          </a:stretch>
        </p:blipFill>
        <p:spPr>
          <a:xfrm>
            <a:off x="6308878" y="4580619"/>
            <a:ext cx="2924175" cy="1924050"/>
          </a:xfrm>
          <a:prstGeom prst="rect">
            <a:avLst/>
          </a:prstGeom>
          <a:ln>
            <a:solidFill>
              <a:schemeClr val="accent1">
                <a:lumMod val="50000"/>
              </a:schemeClr>
            </a:solidFill>
          </a:ln>
        </p:spPr>
      </p:pic>
      <p:sp>
        <p:nvSpPr>
          <p:cNvPr id="22" name="ZoneTexte 21">
            <a:extLst>
              <a:ext uri="{FF2B5EF4-FFF2-40B4-BE49-F238E27FC236}">
                <a16:creationId xmlns:a16="http://schemas.microsoft.com/office/drawing/2014/main" id="{DB6E0934-1E3B-939D-DEDF-0C3E8CFB3DA2}"/>
              </a:ext>
            </a:extLst>
          </p:cNvPr>
          <p:cNvSpPr txBox="1"/>
          <p:nvPr/>
        </p:nvSpPr>
        <p:spPr>
          <a:xfrm>
            <a:off x="9579701" y="4745339"/>
            <a:ext cx="2153645" cy="1600438"/>
          </a:xfrm>
          <a:prstGeom prst="rect">
            <a:avLst/>
          </a:prstGeom>
          <a:noFill/>
        </p:spPr>
        <p:txBody>
          <a:bodyPr wrap="square" lIns="91440" tIns="45720" rIns="91440" bIns="45720" rtlCol="0" anchor="t">
            <a:spAutoFit/>
          </a:bodyPr>
          <a:lstStyle/>
          <a:p>
            <a:pPr algn="ctr"/>
            <a:r>
              <a:rPr lang="fr-FR" sz="1400" b="1" dirty="0">
                <a:ea typeface="+mn-lt"/>
                <a:cs typeface="+mn-lt"/>
              </a:rPr>
              <a:t>Les 4 premiers clients du classement ont été identifiés comme </a:t>
            </a:r>
            <a:r>
              <a:rPr lang="fr-FR" sz="1400" b="1" dirty="0" err="1">
                <a:ea typeface="+mn-lt"/>
                <a:cs typeface="+mn-lt"/>
              </a:rPr>
              <a:t>BtoB</a:t>
            </a:r>
            <a:r>
              <a:rPr lang="fr-FR" sz="1400" dirty="0">
                <a:ea typeface="+mn-lt"/>
                <a:cs typeface="+mn-lt"/>
              </a:rPr>
              <a:t>, en raison de montants de dépenses très élevés, nettement supérieurs à ceux des autres clients.</a:t>
            </a:r>
            <a:endParaRPr lang="fr-FR" dirty="0">
              <a:ea typeface="+mn-lt"/>
              <a:cs typeface="+mn-lt"/>
            </a:endParaRPr>
          </a:p>
        </p:txBody>
      </p:sp>
      <p:pic>
        <p:nvPicPr>
          <p:cNvPr id="5" name="Image 4">
            <a:extLst>
              <a:ext uri="{FF2B5EF4-FFF2-40B4-BE49-F238E27FC236}">
                <a16:creationId xmlns:a16="http://schemas.microsoft.com/office/drawing/2014/main" id="{329C0FAB-B2B8-898E-12D8-70900943BBF3}"/>
              </a:ext>
            </a:extLst>
          </p:cNvPr>
          <p:cNvPicPr>
            <a:picLocks noChangeAspect="1"/>
          </p:cNvPicPr>
          <p:nvPr/>
        </p:nvPicPr>
        <p:blipFill>
          <a:blip r:embed="rId5"/>
          <a:stretch>
            <a:fillRect/>
          </a:stretch>
        </p:blipFill>
        <p:spPr>
          <a:xfrm>
            <a:off x="9300409" y="1925053"/>
            <a:ext cx="2570331" cy="2452525"/>
          </a:xfrm>
          <a:prstGeom prst="rect">
            <a:avLst/>
          </a:prstGeom>
        </p:spPr>
      </p:pic>
    </p:spTree>
    <p:extLst>
      <p:ext uri="{BB962C8B-B14F-4D97-AF65-F5344CB8AC3E}">
        <p14:creationId xmlns:p14="http://schemas.microsoft.com/office/powerpoint/2010/main" val="2717728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F6665D-4154-DFEC-65D5-1E2BE61B5FAB}"/>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44C31B5-1F7B-A4B5-222D-147485D99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1F6C276-CD3D-596B-4685-08D3F57D5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7ED37BA-E4F3-476E-ECED-DBD497151C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87BF2DD-D301-38F6-9EE3-62C769DAB5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217CF109-0F02-A8F0-CBB5-1035077FC1E1}"/>
              </a:ext>
            </a:extLst>
          </p:cNvPr>
          <p:cNvSpPr>
            <a:spLocks noGrp="1"/>
          </p:cNvSpPr>
          <p:nvPr>
            <p:ph type="title"/>
          </p:nvPr>
        </p:nvSpPr>
        <p:spPr>
          <a:xfrm>
            <a:off x="1073988" y="349112"/>
            <a:ext cx="10044023" cy="877729"/>
          </a:xfrm>
        </p:spPr>
        <p:txBody>
          <a:bodyPr anchor="ctr">
            <a:normAutofit/>
          </a:bodyPr>
          <a:lstStyle/>
          <a:p>
            <a:pPr algn="ctr"/>
            <a:r>
              <a:rPr lang="fr-FR" sz="3700" dirty="0">
                <a:solidFill>
                  <a:srgbClr val="FFFFFF"/>
                </a:solidFill>
              </a:rPr>
              <a:t>Analyse statistique du comportement client</a:t>
            </a:r>
          </a:p>
        </p:txBody>
      </p:sp>
      <p:pic>
        <p:nvPicPr>
          <p:cNvPr id="7" name="Graphique 6" descr="Graphique à barres avec un remplissage uni">
            <a:extLst>
              <a:ext uri="{FF2B5EF4-FFF2-40B4-BE49-F238E27FC236}">
                <a16:creationId xmlns:a16="http://schemas.microsoft.com/office/drawing/2014/main" id="{5D683000-75D4-3E01-95A1-63C00A0E0A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810" y="3344668"/>
            <a:ext cx="1810745" cy="1810745"/>
          </a:xfrm>
          <a:prstGeom prst="rect">
            <a:avLst/>
          </a:prstGeom>
        </p:spPr>
      </p:pic>
      <p:sp>
        <p:nvSpPr>
          <p:cNvPr id="8" name="ZoneTexte 7">
            <a:extLst>
              <a:ext uri="{FF2B5EF4-FFF2-40B4-BE49-F238E27FC236}">
                <a16:creationId xmlns:a16="http://schemas.microsoft.com/office/drawing/2014/main" id="{BCE8F843-3B49-8414-94C4-DB5E4F687A82}"/>
              </a:ext>
            </a:extLst>
          </p:cNvPr>
          <p:cNvSpPr txBox="1"/>
          <p:nvPr/>
        </p:nvSpPr>
        <p:spPr>
          <a:xfrm>
            <a:off x="3068050" y="3224516"/>
            <a:ext cx="8049961" cy="2339102"/>
          </a:xfrm>
          <a:prstGeom prst="rect">
            <a:avLst/>
          </a:prstGeom>
          <a:noFill/>
        </p:spPr>
        <p:txBody>
          <a:bodyPr wrap="square" rtlCol="0">
            <a:spAutoFit/>
          </a:bodyPr>
          <a:lstStyle/>
          <a:p>
            <a:pPr fontAlgn="base"/>
            <a:r>
              <a:rPr lang="fr-FR" sz="1600" b="1" dirty="0"/>
              <a:t>Objectif</a:t>
            </a:r>
            <a:r>
              <a:rPr lang="fr-FR" sz="1600" dirty="0"/>
              <a:t> : Etudier les profils (âge, genre) et comportements d’achat (fréquence, panier moyen, préférences).</a:t>
            </a:r>
          </a:p>
          <a:p>
            <a:pPr fontAlgn="base"/>
            <a:endParaRPr lang="fr-FR" sz="1600" dirty="0"/>
          </a:p>
          <a:p>
            <a:pPr fontAlgn="base"/>
            <a:r>
              <a:rPr lang="fr-FR" sz="1600" b="1" dirty="0"/>
              <a:t>Préparation des données </a:t>
            </a:r>
            <a:r>
              <a:rPr lang="fr-FR" sz="1600" dirty="0"/>
              <a:t>: Nettoyage, gestion des doublons et valeurs manquantes, normalisation des variables.</a:t>
            </a:r>
          </a:p>
          <a:p>
            <a:pPr fontAlgn="base"/>
            <a:endParaRPr lang="fr-FR" sz="1600" dirty="0"/>
          </a:p>
          <a:p>
            <a:pPr fontAlgn="base"/>
            <a:r>
              <a:rPr lang="fr-FR" sz="1600" b="1" dirty="0"/>
              <a:t>Méthodologie</a:t>
            </a:r>
            <a:r>
              <a:rPr lang="fr-FR" sz="1600" dirty="0"/>
              <a:t> : Tests statistiques avec un seuil de significativité de 5% (résultats interprétables avec une marge d’erreur modérée).</a:t>
            </a:r>
          </a:p>
          <a:p>
            <a:endParaRPr lang="fr-FR" dirty="0"/>
          </a:p>
        </p:txBody>
      </p:sp>
    </p:spTree>
    <p:extLst>
      <p:ext uri="{BB962C8B-B14F-4D97-AF65-F5344CB8AC3E}">
        <p14:creationId xmlns:p14="http://schemas.microsoft.com/office/powerpoint/2010/main" val="2411033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882441-AA7B-C8BA-5F96-6C528BDB1C6F}"/>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3F7DD91-1E6C-2D4A-6364-4313C7844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C27FC04-048B-6371-C885-DE8364461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F5F866D-2BFE-4BAA-F086-67ADBF6C30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1748FDE-B35C-817B-286C-B312C76A0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A8B0556A-223A-2462-8245-EF46080A05E1}"/>
              </a:ext>
            </a:extLst>
          </p:cNvPr>
          <p:cNvSpPr>
            <a:spLocks noGrp="1"/>
          </p:cNvSpPr>
          <p:nvPr>
            <p:ph type="title"/>
          </p:nvPr>
        </p:nvSpPr>
        <p:spPr>
          <a:xfrm>
            <a:off x="1073988" y="349112"/>
            <a:ext cx="10044023" cy="877729"/>
          </a:xfrm>
        </p:spPr>
        <p:txBody>
          <a:bodyPr anchor="ctr">
            <a:normAutofit fontScale="90000"/>
          </a:bodyPr>
          <a:lstStyle/>
          <a:p>
            <a:pPr algn="ctr" fontAlgn="base"/>
            <a:r>
              <a:rPr lang="fr-FR" sz="3700" dirty="0">
                <a:solidFill>
                  <a:srgbClr val="FFFFFF"/>
                </a:solidFill>
              </a:rPr>
              <a:t>Corrélation entre le genre du client et les catégories de livres achetés</a:t>
            </a:r>
          </a:p>
        </p:txBody>
      </p:sp>
      <p:sp>
        <p:nvSpPr>
          <p:cNvPr id="3" name="ZoneTexte 2">
            <a:extLst>
              <a:ext uri="{FF2B5EF4-FFF2-40B4-BE49-F238E27FC236}">
                <a16:creationId xmlns:a16="http://schemas.microsoft.com/office/drawing/2014/main" id="{6F497047-FECD-294B-E27F-551582C1002F}"/>
              </a:ext>
            </a:extLst>
          </p:cNvPr>
          <p:cNvSpPr txBox="1"/>
          <p:nvPr/>
        </p:nvSpPr>
        <p:spPr>
          <a:xfrm>
            <a:off x="2241884" y="1780673"/>
            <a:ext cx="7880684"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fr-FR" sz="1400" b="1" dirty="0"/>
              <a:t>Objectif</a:t>
            </a:r>
            <a:r>
              <a:rPr lang="fr-FR" sz="1400" dirty="0"/>
              <a:t> : Identifier une éventuelle dépendance entre genre et types de livres achetés.</a:t>
            </a:r>
          </a:p>
          <a:p>
            <a:r>
              <a:rPr lang="fr-FR" sz="1400" b="1" dirty="0"/>
              <a:t>Méthode</a:t>
            </a:r>
            <a:r>
              <a:rPr lang="fr-FR" sz="1400" dirty="0"/>
              <a:t> : Test de Chi² sur un tableau de contingence.</a:t>
            </a:r>
          </a:p>
        </p:txBody>
      </p:sp>
      <p:cxnSp>
        <p:nvCxnSpPr>
          <p:cNvPr id="5" name="Connecteur droit 4">
            <a:extLst>
              <a:ext uri="{FF2B5EF4-FFF2-40B4-BE49-F238E27FC236}">
                <a16:creationId xmlns:a16="http://schemas.microsoft.com/office/drawing/2014/main" id="{B3BE56DB-F527-D319-3B96-80924F668489}"/>
              </a:ext>
            </a:extLst>
          </p:cNvPr>
          <p:cNvCxnSpPr/>
          <p:nvPr/>
        </p:nvCxnSpPr>
        <p:spPr>
          <a:xfrm>
            <a:off x="6182226" y="2586789"/>
            <a:ext cx="0" cy="3982453"/>
          </a:xfrm>
          <a:prstGeom prst="line">
            <a:avLst/>
          </a:prstGeom>
        </p:spPr>
        <p:style>
          <a:lnRef idx="2">
            <a:schemeClr val="accent1"/>
          </a:lnRef>
          <a:fillRef idx="0">
            <a:schemeClr val="accent1"/>
          </a:fillRef>
          <a:effectRef idx="1">
            <a:schemeClr val="accent1"/>
          </a:effectRef>
          <a:fontRef idx="minor">
            <a:schemeClr val="tx1"/>
          </a:fontRef>
        </p:style>
      </p:cxnSp>
      <p:pic>
        <p:nvPicPr>
          <p:cNvPr id="9" name="Image 8">
            <a:extLst>
              <a:ext uri="{FF2B5EF4-FFF2-40B4-BE49-F238E27FC236}">
                <a16:creationId xmlns:a16="http://schemas.microsoft.com/office/drawing/2014/main" id="{65B2896D-FD35-2F4F-1860-F7407CEBA408}"/>
              </a:ext>
            </a:extLst>
          </p:cNvPr>
          <p:cNvPicPr>
            <a:picLocks noChangeAspect="1"/>
          </p:cNvPicPr>
          <p:nvPr/>
        </p:nvPicPr>
        <p:blipFill>
          <a:blip r:embed="rId3"/>
          <a:stretch>
            <a:fillRect/>
          </a:stretch>
        </p:blipFill>
        <p:spPr>
          <a:xfrm>
            <a:off x="874440" y="2586789"/>
            <a:ext cx="4129263" cy="3068053"/>
          </a:xfrm>
          <a:prstGeom prst="rect">
            <a:avLst/>
          </a:prstGeom>
        </p:spPr>
      </p:pic>
      <p:sp>
        <p:nvSpPr>
          <p:cNvPr id="10" name="ZoneTexte 9">
            <a:extLst>
              <a:ext uri="{FF2B5EF4-FFF2-40B4-BE49-F238E27FC236}">
                <a16:creationId xmlns:a16="http://schemas.microsoft.com/office/drawing/2014/main" id="{F2C6DA89-7C6F-64A9-90EB-961A2B5BEA97}"/>
              </a:ext>
            </a:extLst>
          </p:cNvPr>
          <p:cNvSpPr txBox="1"/>
          <p:nvPr/>
        </p:nvSpPr>
        <p:spPr>
          <a:xfrm>
            <a:off x="1073988" y="5862557"/>
            <a:ext cx="3929715" cy="461665"/>
          </a:xfrm>
          <a:prstGeom prst="rect">
            <a:avLst/>
          </a:prstGeom>
          <a:noFill/>
        </p:spPr>
        <p:txBody>
          <a:bodyPr wrap="square" rtlCol="0">
            <a:spAutoFit/>
          </a:bodyPr>
          <a:lstStyle/>
          <a:p>
            <a:r>
              <a:rPr lang="fr-FR" sz="1200" i="1" dirty="0"/>
              <a:t>La répartition des catégories varie selon le genre.</a:t>
            </a:r>
            <a:br>
              <a:rPr lang="fr-FR" sz="1200" i="1" dirty="0"/>
            </a:br>
            <a:endParaRPr lang="fr-FR" sz="1200" i="1" dirty="0"/>
          </a:p>
        </p:txBody>
      </p:sp>
      <p:pic>
        <p:nvPicPr>
          <p:cNvPr id="12" name="Image 11">
            <a:extLst>
              <a:ext uri="{FF2B5EF4-FFF2-40B4-BE49-F238E27FC236}">
                <a16:creationId xmlns:a16="http://schemas.microsoft.com/office/drawing/2014/main" id="{0ADDB157-FFEB-0650-60C6-49E62EBA0D42}"/>
              </a:ext>
            </a:extLst>
          </p:cNvPr>
          <p:cNvPicPr>
            <a:picLocks noChangeAspect="1"/>
          </p:cNvPicPr>
          <p:nvPr/>
        </p:nvPicPr>
        <p:blipFill>
          <a:blip r:embed="rId4"/>
          <a:stretch>
            <a:fillRect/>
          </a:stretch>
        </p:blipFill>
        <p:spPr>
          <a:xfrm>
            <a:off x="7763127" y="2894566"/>
            <a:ext cx="2847973" cy="1412409"/>
          </a:xfrm>
          <a:prstGeom prst="rect">
            <a:avLst/>
          </a:prstGeom>
          <a:ln>
            <a:solidFill>
              <a:schemeClr val="accent1">
                <a:lumMod val="50000"/>
              </a:schemeClr>
            </a:solidFill>
          </a:ln>
        </p:spPr>
      </p:pic>
      <p:sp>
        <p:nvSpPr>
          <p:cNvPr id="13" name="ZoneTexte 12">
            <a:extLst>
              <a:ext uri="{FF2B5EF4-FFF2-40B4-BE49-F238E27FC236}">
                <a16:creationId xmlns:a16="http://schemas.microsoft.com/office/drawing/2014/main" id="{52F8DA9A-DA32-0ABB-15CF-8C1520390596}"/>
              </a:ext>
            </a:extLst>
          </p:cNvPr>
          <p:cNvSpPr txBox="1"/>
          <p:nvPr/>
        </p:nvSpPr>
        <p:spPr>
          <a:xfrm>
            <a:off x="8167442" y="2520897"/>
            <a:ext cx="2683039" cy="307777"/>
          </a:xfrm>
          <a:prstGeom prst="rect">
            <a:avLst/>
          </a:prstGeom>
          <a:noFill/>
        </p:spPr>
        <p:txBody>
          <a:bodyPr wrap="square" rtlCol="0">
            <a:spAutoFit/>
          </a:bodyPr>
          <a:lstStyle/>
          <a:p>
            <a:r>
              <a:rPr lang="fr-FR" sz="1400" b="1" dirty="0"/>
              <a:t>Tableau de contingence </a:t>
            </a:r>
          </a:p>
        </p:txBody>
      </p:sp>
      <p:sp>
        <p:nvSpPr>
          <p:cNvPr id="15" name="ZoneTexte 14">
            <a:extLst>
              <a:ext uri="{FF2B5EF4-FFF2-40B4-BE49-F238E27FC236}">
                <a16:creationId xmlns:a16="http://schemas.microsoft.com/office/drawing/2014/main" id="{D90D53E0-C627-A921-3EE7-51506A85C0DA}"/>
              </a:ext>
            </a:extLst>
          </p:cNvPr>
          <p:cNvSpPr txBox="1"/>
          <p:nvPr/>
        </p:nvSpPr>
        <p:spPr>
          <a:xfrm>
            <a:off x="7903507" y="4505262"/>
            <a:ext cx="2567212" cy="307777"/>
          </a:xfrm>
          <a:prstGeom prst="rect">
            <a:avLst/>
          </a:prstGeom>
          <a:noFill/>
        </p:spPr>
        <p:txBody>
          <a:bodyPr wrap="square" rtlCol="0">
            <a:spAutoFit/>
          </a:bodyPr>
          <a:lstStyle/>
          <a:p>
            <a:pPr algn="ctr"/>
            <a:r>
              <a:rPr lang="fr-FR" sz="1400" b="1" dirty="0"/>
              <a:t>Résultats</a:t>
            </a:r>
          </a:p>
        </p:txBody>
      </p:sp>
      <p:pic>
        <p:nvPicPr>
          <p:cNvPr id="19" name="Image 18">
            <a:extLst>
              <a:ext uri="{FF2B5EF4-FFF2-40B4-BE49-F238E27FC236}">
                <a16:creationId xmlns:a16="http://schemas.microsoft.com/office/drawing/2014/main" id="{8472A514-2033-C262-7195-5A38B6F91F65}"/>
              </a:ext>
            </a:extLst>
          </p:cNvPr>
          <p:cNvPicPr>
            <a:picLocks noChangeAspect="1"/>
          </p:cNvPicPr>
          <p:nvPr/>
        </p:nvPicPr>
        <p:blipFill>
          <a:blip r:embed="rId5"/>
          <a:stretch>
            <a:fillRect/>
          </a:stretch>
        </p:blipFill>
        <p:spPr>
          <a:xfrm>
            <a:off x="6558213" y="4830012"/>
            <a:ext cx="5257800" cy="752475"/>
          </a:xfrm>
          <a:prstGeom prst="rect">
            <a:avLst/>
          </a:prstGeom>
        </p:spPr>
      </p:pic>
      <p:pic>
        <p:nvPicPr>
          <p:cNvPr id="22" name="Image 21">
            <a:extLst>
              <a:ext uri="{FF2B5EF4-FFF2-40B4-BE49-F238E27FC236}">
                <a16:creationId xmlns:a16="http://schemas.microsoft.com/office/drawing/2014/main" id="{A16675EE-1FA7-F12A-230E-2D6F28311E32}"/>
              </a:ext>
            </a:extLst>
          </p:cNvPr>
          <p:cNvPicPr>
            <a:picLocks noChangeAspect="1"/>
          </p:cNvPicPr>
          <p:nvPr/>
        </p:nvPicPr>
        <p:blipFill>
          <a:blip r:embed="rId6"/>
          <a:stretch>
            <a:fillRect/>
          </a:stretch>
        </p:blipFill>
        <p:spPr>
          <a:xfrm>
            <a:off x="6558213" y="5654842"/>
            <a:ext cx="2009775" cy="914400"/>
          </a:xfrm>
          <a:prstGeom prst="rect">
            <a:avLst/>
          </a:prstGeom>
        </p:spPr>
      </p:pic>
      <p:sp>
        <p:nvSpPr>
          <p:cNvPr id="23" name="ZoneTexte 22">
            <a:extLst>
              <a:ext uri="{FF2B5EF4-FFF2-40B4-BE49-F238E27FC236}">
                <a16:creationId xmlns:a16="http://schemas.microsoft.com/office/drawing/2014/main" id="{7B0D20EE-84B5-D3FC-5327-D801BD824A82}"/>
              </a:ext>
            </a:extLst>
          </p:cNvPr>
          <p:cNvSpPr txBox="1"/>
          <p:nvPr/>
        </p:nvSpPr>
        <p:spPr>
          <a:xfrm>
            <a:off x="8915400" y="5654842"/>
            <a:ext cx="3007895" cy="830997"/>
          </a:xfrm>
          <a:prstGeom prst="rect">
            <a:avLst/>
          </a:prstGeom>
          <a:noFill/>
        </p:spPr>
        <p:txBody>
          <a:bodyPr wrap="square" rtlCol="0">
            <a:spAutoFit/>
          </a:bodyPr>
          <a:lstStyle/>
          <a:p>
            <a:r>
              <a:rPr lang="fr-FR" sz="1200" b="1" i="1" dirty="0"/>
              <a:t>Femmes</a:t>
            </a:r>
            <a:r>
              <a:rPr lang="fr-FR" sz="1200" i="1" dirty="0"/>
              <a:t> : surconsommation en catégorie 1, sous-consommation en catégorie 2. </a:t>
            </a:r>
            <a:br>
              <a:rPr lang="fr-FR" sz="1200" i="1" dirty="0"/>
            </a:br>
            <a:r>
              <a:rPr lang="fr-FR" sz="1200" b="1" i="1" dirty="0"/>
              <a:t>Hommes </a:t>
            </a:r>
            <a:r>
              <a:rPr lang="fr-FR" sz="1200" i="1" dirty="0"/>
              <a:t>: tendance inverse.</a:t>
            </a:r>
            <a:br>
              <a:rPr lang="fr-FR" sz="1200" i="1" dirty="0"/>
            </a:br>
            <a:r>
              <a:rPr lang="fr-FR" sz="1200" i="1" dirty="0"/>
              <a:t>Catégorie 0 : écart moins marqué.</a:t>
            </a:r>
            <a:endParaRPr lang="fr-FR" dirty="0"/>
          </a:p>
        </p:txBody>
      </p:sp>
    </p:spTree>
    <p:extLst>
      <p:ext uri="{BB962C8B-B14F-4D97-AF65-F5344CB8AC3E}">
        <p14:creationId xmlns:p14="http://schemas.microsoft.com/office/powerpoint/2010/main" val="2981444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503335-F2DB-C601-AD7E-3A48A6184DA4}"/>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FEE2B5-F062-4D5A-B99E-81CE9A5224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5EE91D4-9183-DD9B-2334-652C5E4D6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63E9EC4-1F15-40FF-BD34-C9618975D6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4EC3EDA-D5C2-D2CA-0F36-6F8049CC31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92D6581A-A1DD-7B16-5F25-5BA3B975793B}"/>
              </a:ext>
            </a:extLst>
          </p:cNvPr>
          <p:cNvSpPr>
            <a:spLocks noGrp="1"/>
          </p:cNvSpPr>
          <p:nvPr>
            <p:ph type="title"/>
          </p:nvPr>
        </p:nvSpPr>
        <p:spPr>
          <a:xfrm>
            <a:off x="1073988" y="349112"/>
            <a:ext cx="10044023" cy="877729"/>
          </a:xfrm>
        </p:spPr>
        <p:txBody>
          <a:bodyPr anchor="ctr">
            <a:normAutofit fontScale="90000"/>
          </a:bodyPr>
          <a:lstStyle/>
          <a:p>
            <a:pPr algn="ctr" fontAlgn="base"/>
            <a:r>
              <a:rPr lang="fr-FR" sz="3700" dirty="0">
                <a:solidFill>
                  <a:srgbClr val="FFFFFF"/>
                </a:solidFill>
              </a:rPr>
              <a:t>Corrélation entre l'âge des clients et montant total des achats, fréquence et la taille du panier moyen</a:t>
            </a:r>
          </a:p>
        </p:txBody>
      </p:sp>
      <p:sp>
        <p:nvSpPr>
          <p:cNvPr id="3" name="ZoneTexte 2">
            <a:extLst>
              <a:ext uri="{FF2B5EF4-FFF2-40B4-BE49-F238E27FC236}">
                <a16:creationId xmlns:a16="http://schemas.microsoft.com/office/drawing/2014/main" id="{3A9BA0A0-E7BE-475C-47D7-24E3FE117A31}"/>
              </a:ext>
            </a:extLst>
          </p:cNvPr>
          <p:cNvSpPr txBox="1"/>
          <p:nvPr/>
        </p:nvSpPr>
        <p:spPr>
          <a:xfrm>
            <a:off x="2067450" y="1716408"/>
            <a:ext cx="8973190" cy="523220"/>
          </a:xfrm>
          <a:prstGeom prst="rect">
            <a:avLst/>
          </a:prstGeom>
        </p:spPr>
        <p:style>
          <a:lnRef idx="2">
            <a:schemeClr val="accent1"/>
          </a:lnRef>
          <a:fillRef idx="1">
            <a:schemeClr val="lt1"/>
          </a:fillRef>
          <a:effectRef idx="0">
            <a:schemeClr val="accent1"/>
          </a:effectRef>
          <a:fontRef idx="minor">
            <a:schemeClr val="dk1"/>
          </a:fontRef>
        </p:style>
        <p:txBody>
          <a:bodyPr wrap="square" lIns="91440" tIns="45720" rIns="91440" bIns="45720" rtlCol="0" anchor="t">
            <a:spAutoFit/>
          </a:bodyPr>
          <a:lstStyle/>
          <a:p>
            <a:r>
              <a:rPr lang="fr-FR" sz="1400" b="1" dirty="0"/>
              <a:t>Objectif</a:t>
            </a:r>
            <a:r>
              <a:rPr lang="fr-FR" sz="1400" dirty="0"/>
              <a:t> : </a:t>
            </a:r>
            <a:r>
              <a:rPr lang="fr-FR" sz="1400" dirty="0">
                <a:ea typeface="+mn-lt"/>
                <a:cs typeface="+mn-lt"/>
              </a:rPr>
              <a:t>Mesurer l’impact de l’âge sur le montant total dépensé, la fréquence d’achat et la taille du panier moyen.</a:t>
            </a:r>
          </a:p>
          <a:p>
            <a:r>
              <a:rPr lang="fr-FR" sz="1400" b="1" dirty="0"/>
              <a:t>Méthode</a:t>
            </a:r>
            <a:r>
              <a:rPr lang="fr-FR" sz="1400" dirty="0"/>
              <a:t> : Test de Spearman</a:t>
            </a:r>
          </a:p>
        </p:txBody>
      </p:sp>
      <p:pic>
        <p:nvPicPr>
          <p:cNvPr id="4" name="Image 3" descr="Une image contenant texte, diagramme, capture d’écran&#10;&#10;Le contenu généré par l’IA peut être incorrect.">
            <a:extLst>
              <a:ext uri="{FF2B5EF4-FFF2-40B4-BE49-F238E27FC236}">
                <a16:creationId xmlns:a16="http://schemas.microsoft.com/office/drawing/2014/main" id="{0A3803F1-5BFA-0DD7-5B75-72421287AE9F}"/>
              </a:ext>
            </a:extLst>
          </p:cNvPr>
          <p:cNvPicPr>
            <a:picLocks noChangeAspect="1"/>
          </p:cNvPicPr>
          <p:nvPr/>
        </p:nvPicPr>
        <p:blipFill>
          <a:blip r:embed="rId3"/>
          <a:stretch>
            <a:fillRect/>
          </a:stretch>
        </p:blipFill>
        <p:spPr>
          <a:xfrm>
            <a:off x="377789" y="2723257"/>
            <a:ext cx="5609613" cy="2390609"/>
          </a:xfrm>
          <a:prstGeom prst="rect">
            <a:avLst/>
          </a:prstGeom>
        </p:spPr>
      </p:pic>
      <p:sp>
        <p:nvSpPr>
          <p:cNvPr id="6" name="ZoneTexte 5">
            <a:extLst>
              <a:ext uri="{FF2B5EF4-FFF2-40B4-BE49-F238E27FC236}">
                <a16:creationId xmlns:a16="http://schemas.microsoft.com/office/drawing/2014/main" id="{7D0A2FF1-A99D-84EF-4570-49EB1A81FA61}"/>
              </a:ext>
            </a:extLst>
          </p:cNvPr>
          <p:cNvSpPr txBox="1"/>
          <p:nvPr/>
        </p:nvSpPr>
        <p:spPr>
          <a:xfrm>
            <a:off x="594609" y="5601397"/>
            <a:ext cx="4886282"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1400" i="1" dirty="0">
                <a:ea typeface="+mn-lt"/>
                <a:cs typeface="+mn-lt"/>
              </a:rPr>
              <a:t>Les graphiques mettent en évidence une baisse du chiffre d'affaires, de la fréquence d'achat et du panier moyen avec l’âge, illustrant une diminution progressive de l’intensité d’achat chez les clients plus âgés.</a:t>
            </a:r>
            <a:endParaRPr lang="fr-FR" sz="1400" i="1" dirty="0"/>
          </a:p>
        </p:txBody>
      </p:sp>
      <p:pic>
        <p:nvPicPr>
          <p:cNvPr id="8" name="Image 7" descr="Une image contenant texte, capture d’écran, Police, document&#10;&#10;Le contenu généré par l’IA peut être incorrect.">
            <a:extLst>
              <a:ext uri="{FF2B5EF4-FFF2-40B4-BE49-F238E27FC236}">
                <a16:creationId xmlns:a16="http://schemas.microsoft.com/office/drawing/2014/main" id="{85359D82-0703-52B4-9A00-6B0005D00AD3}"/>
              </a:ext>
            </a:extLst>
          </p:cNvPr>
          <p:cNvPicPr>
            <a:picLocks noChangeAspect="1"/>
          </p:cNvPicPr>
          <p:nvPr/>
        </p:nvPicPr>
        <p:blipFill>
          <a:blip r:embed="rId4"/>
          <a:stretch>
            <a:fillRect/>
          </a:stretch>
        </p:blipFill>
        <p:spPr>
          <a:xfrm>
            <a:off x="7935508" y="2660375"/>
            <a:ext cx="2817158" cy="2213909"/>
          </a:xfrm>
          <a:prstGeom prst="rect">
            <a:avLst/>
          </a:prstGeom>
          <a:ln>
            <a:solidFill>
              <a:schemeClr val="accent1">
                <a:lumMod val="75000"/>
              </a:schemeClr>
            </a:solidFill>
          </a:ln>
        </p:spPr>
      </p:pic>
      <p:sp>
        <p:nvSpPr>
          <p:cNvPr id="11" name="ZoneTexte 10">
            <a:extLst>
              <a:ext uri="{FF2B5EF4-FFF2-40B4-BE49-F238E27FC236}">
                <a16:creationId xmlns:a16="http://schemas.microsoft.com/office/drawing/2014/main" id="{B3AC825C-8C87-A895-9F24-AE76C0C81207}"/>
              </a:ext>
            </a:extLst>
          </p:cNvPr>
          <p:cNvSpPr txBox="1"/>
          <p:nvPr/>
        </p:nvSpPr>
        <p:spPr>
          <a:xfrm>
            <a:off x="7315281" y="5113866"/>
            <a:ext cx="449893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1400" dirty="0">
                <a:ea typeface="+mn-lt"/>
                <a:cs typeface="+mn-lt"/>
              </a:rPr>
              <a:t>Impact de l’âge sur le comportement d’achat :</a:t>
            </a:r>
            <a:br>
              <a:rPr lang="fr-FR" sz="1400" dirty="0">
                <a:ea typeface="+mn-lt"/>
                <a:cs typeface="+mn-lt"/>
              </a:rPr>
            </a:br>
            <a:r>
              <a:rPr lang="fr-FR" sz="1400" dirty="0">
                <a:ea typeface="+mn-lt"/>
                <a:cs typeface="+mn-lt"/>
              </a:rPr>
              <a:t> - Plus les clients sont âgés, plus leur panier moyen est faible.</a:t>
            </a:r>
            <a:br>
              <a:rPr lang="fr-FR" sz="1400" dirty="0">
                <a:ea typeface="+mn-lt"/>
                <a:cs typeface="+mn-lt"/>
              </a:rPr>
            </a:br>
            <a:r>
              <a:rPr lang="fr-FR" sz="1400" dirty="0">
                <a:ea typeface="+mn-lt"/>
                <a:cs typeface="+mn-lt"/>
              </a:rPr>
              <a:t> - Le chiffre d’affaires diminue légèrement avec l’âge.</a:t>
            </a:r>
            <a:br>
              <a:rPr lang="fr-FR" sz="1400" dirty="0">
                <a:ea typeface="+mn-lt"/>
                <a:cs typeface="+mn-lt"/>
              </a:rPr>
            </a:br>
            <a:r>
              <a:rPr lang="fr-FR" sz="1400" dirty="0">
                <a:ea typeface="+mn-lt"/>
                <a:cs typeface="+mn-lt"/>
              </a:rPr>
              <a:t> - Les clients plus âgés achètent un peu plus souvent.</a:t>
            </a:r>
            <a:br>
              <a:rPr lang="fr-FR" sz="1400" dirty="0">
                <a:ea typeface="+mn-lt"/>
                <a:cs typeface="+mn-lt"/>
              </a:rPr>
            </a:br>
            <a:r>
              <a:rPr lang="fr-FR" sz="1400" dirty="0">
                <a:ea typeface="+mn-lt"/>
                <a:cs typeface="+mn-lt"/>
              </a:rPr>
              <a:t> </a:t>
            </a:r>
            <a:br>
              <a:rPr lang="fr-FR" sz="1400" dirty="0">
                <a:ea typeface="+mn-lt"/>
                <a:cs typeface="+mn-lt"/>
              </a:rPr>
            </a:br>
            <a:r>
              <a:rPr lang="fr-FR" sz="1400" dirty="0">
                <a:ea typeface="+mn-lt"/>
                <a:cs typeface="+mn-lt"/>
              </a:rPr>
              <a:t>Ces tendances sont statistiquement significatives.</a:t>
            </a:r>
            <a:endParaRPr lang="fr-FR" sz="1400" dirty="0"/>
          </a:p>
        </p:txBody>
      </p:sp>
      <p:cxnSp>
        <p:nvCxnSpPr>
          <p:cNvPr id="7" name="Connecteur droit 6">
            <a:extLst>
              <a:ext uri="{FF2B5EF4-FFF2-40B4-BE49-F238E27FC236}">
                <a16:creationId xmlns:a16="http://schemas.microsoft.com/office/drawing/2014/main" id="{9F70FF44-E832-C5EE-4491-B30FB0D9CF0D}"/>
              </a:ext>
            </a:extLst>
          </p:cNvPr>
          <p:cNvCxnSpPr/>
          <p:nvPr/>
        </p:nvCxnSpPr>
        <p:spPr>
          <a:xfrm>
            <a:off x="6554045" y="2660375"/>
            <a:ext cx="0" cy="4053929"/>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6045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5D71F5-EB50-828C-1121-32EF758DDABA}"/>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28AEC06-7779-FE11-3039-796049BC08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0C76244-4F92-C229-B44C-DB5E958140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8090C49-FD9B-E929-732F-7BBF52E1D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4C1D6D4-1093-AEAA-D979-2110DE245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483E3C58-E98F-7436-970D-94680613828A}"/>
              </a:ext>
            </a:extLst>
          </p:cNvPr>
          <p:cNvSpPr>
            <a:spLocks noGrp="1"/>
          </p:cNvSpPr>
          <p:nvPr>
            <p:ph type="title"/>
          </p:nvPr>
        </p:nvSpPr>
        <p:spPr>
          <a:xfrm>
            <a:off x="1073988" y="349112"/>
            <a:ext cx="10044023" cy="877729"/>
          </a:xfrm>
        </p:spPr>
        <p:txBody>
          <a:bodyPr anchor="ctr">
            <a:normAutofit fontScale="90000"/>
          </a:bodyPr>
          <a:lstStyle/>
          <a:p>
            <a:pPr algn="ctr" fontAlgn="base"/>
            <a:r>
              <a:rPr lang="fr-FR" sz="3700" dirty="0">
                <a:solidFill>
                  <a:srgbClr val="FFFFFF"/>
                </a:solidFill>
              </a:rPr>
              <a:t>Corrélation entre l'âge des clients et la catégorie de livres achetés</a:t>
            </a:r>
          </a:p>
        </p:txBody>
      </p:sp>
      <p:sp>
        <p:nvSpPr>
          <p:cNvPr id="3" name="ZoneTexte 2">
            <a:extLst>
              <a:ext uri="{FF2B5EF4-FFF2-40B4-BE49-F238E27FC236}">
                <a16:creationId xmlns:a16="http://schemas.microsoft.com/office/drawing/2014/main" id="{383D9FE5-3396-B0A5-09A3-3FCAC101EE94}"/>
              </a:ext>
            </a:extLst>
          </p:cNvPr>
          <p:cNvSpPr txBox="1"/>
          <p:nvPr/>
        </p:nvSpPr>
        <p:spPr>
          <a:xfrm>
            <a:off x="3299176" y="1810353"/>
            <a:ext cx="5591163" cy="523220"/>
          </a:xfrm>
          <a:prstGeom prst="rect">
            <a:avLst/>
          </a:prstGeom>
        </p:spPr>
        <p:style>
          <a:lnRef idx="2">
            <a:schemeClr val="accent1"/>
          </a:lnRef>
          <a:fillRef idx="1">
            <a:schemeClr val="lt1"/>
          </a:fillRef>
          <a:effectRef idx="0">
            <a:schemeClr val="accent1"/>
          </a:effectRef>
          <a:fontRef idx="minor">
            <a:schemeClr val="dk1"/>
          </a:fontRef>
        </p:style>
        <p:txBody>
          <a:bodyPr wrap="square" lIns="91440" tIns="45720" rIns="91440" bIns="45720" rtlCol="0" anchor="t">
            <a:spAutoFit/>
          </a:bodyPr>
          <a:lstStyle/>
          <a:p>
            <a:r>
              <a:rPr lang="fr-FR" sz="1400" b="1" dirty="0"/>
              <a:t>Objectif</a:t>
            </a:r>
            <a:r>
              <a:rPr lang="fr-FR" sz="1400" dirty="0"/>
              <a:t> : </a:t>
            </a:r>
            <a:r>
              <a:rPr lang="fr-FR" sz="1400" dirty="0">
                <a:ea typeface="+mn-lt"/>
                <a:cs typeface="+mn-lt"/>
              </a:rPr>
              <a:t>Identifier les préférences de lecture selon l’âge des clients </a:t>
            </a:r>
          </a:p>
          <a:p>
            <a:r>
              <a:rPr lang="fr-FR" sz="1400" b="1" dirty="0"/>
              <a:t>Méthode</a:t>
            </a:r>
            <a:r>
              <a:rPr lang="fr-FR" sz="1400" dirty="0"/>
              <a:t> : Test de Kruskal-Wallis</a:t>
            </a:r>
          </a:p>
        </p:txBody>
      </p:sp>
      <p:pic>
        <p:nvPicPr>
          <p:cNvPr id="7" name="Image 6" descr="Une image contenant texte, capture d’écran, Police, nombre&#10;&#10;Le contenu généré par l’IA peut être incorrect.">
            <a:extLst>
              <a:ext uri="{FF2B5EF4-FFF2-40B4-BE49-F238E27FC236}">
                <a16:creationId xmlns:a16="http://schemas.microsoft.com/office/drawing/2014/main" id="{8A6453E1-5919-9236-B884-8D0A9DB20581}"/>
              </a:ext>
            </a:extLst>
          </p:cNvPr>
          <p:cNvPicPr>
            <a:picLocks noChangeAspect="1"/>
          </p:cNvPicPr>
          <p:nvPr/>
        </p:nvPicPr>
        <p:blipFill>
          <a:blip r:embed="rId3"/>
          <a:stretch>
            <a:fillRect/>
          </a:stretch>
        </p:blipFill>
        <p:spPr>
          <a:xfrm>
            <a:off x="1237914" y="5514039"/>
            <a:ext cx="3120162" cy="1160117"/>
          </a:xfrm>
          <a:prstGeom prst="rect">
            <a:avLst/>
          </a:prstGeom>
          <a:ln>
            <a:solidFill>
              <a:srgbClr val="0B3041"/>
            </a:solidFill>
          </a:ln>
        </p:spPr>
      </p:pic>
      <p:pic>
        <p:nvPicPr>
          <p:cNvPr id="10" name="Image 9" descr="Une image contenant texte, capture d’écran, diagramme, ligne&#10;&#10;Le contenu généré par l’IA peut être incorrect.">
            <a:extLst>
              <a:ext uri="{FF2B5EF4-FFF2-40B4-BE49-F238E27FC236}">
                <a16:creationId xmlns:a16="http://schemas.microsoft.com/office/drawing/2014/main" id="{B1D3C7C2-EF5A-D43F-26E9-4C9D681DED5E}"/>
              </a:ext>
            </a:extLst>
          </p:cNvPr>
          <p:cNvPicPr>
            <a:picLocks noChangeAspect="1"/>
          </p:cNvPicPr>
          <p:nvPr/>
        </p:nvPicPr>
        <p:blipFill>
          <a:blip r:embed="rId4"/>
          <a:stretch>
            <a:fillRect/>
          </a:stretch>
        </p:blipFill>
        <p:spPr>
          <a:xfrm>
            <a:off x="546187" y="2652713"/>
            <a:ext cx="4153148" cy="2542186"/>
          </a:xfrm>
          <a:prstGeom prst="rect">
            <a:avLst/>
          </a:prstGeom>
        </p:spPr>
      </p:pic>
      <p:pic>
        <p:nvPicPr>
          <p:cNvPr id="12" name="Image 11">
            <a:extLst>
              <a:ext uri="{FF2B5EF4-FFF2-40B4-BE49-F238E27FC236}">
                <a16:creationId xmlns:a16="http://schemas.microsoft.com/office/drawing/2014/main" id="{F5130260-91DA-FF62-857B-D537C1E23660}"/>
              </a:ext>
            </a:extLst>
          </p:cNvPr>
          <p:cNvPicPr>
            <a:picLocks noChangeAspect="1"/>
          </p:cNvPicPr>
          <p:nvPr/>
        </p:nvPicPr>
        <p:blipFill>
          <a:blip r:embed="rId5"/>
          <a:stretch>
            <a:fillRect/>
          </a:stretch>
        </p:blipFill>
        <p:spPr>
          <a:xfrm>
            <a:off x="6349913" y="3046142"/>
            <a:ext cx="5295900" cy="295275"/>
          </a:xfrm>
          <a:prstGeom prst="rect">
            <a:avLst/>
          </a:prstGeom>
          <a:ln>
            <a:solidFill>
              <a:srgbClr val="0B3041"/>
            </a:solidFill>
          </a:ln>
        </p:spPr>
      </p:pic>
      <p:sp>
        <p:nvSpPr>
          <p:cNvPr id="13" name="ZoneTexte 12">
            <a:extLst>
              <a:ext uri="{FF2B5EF4-FFF2-40B4-BE49-F238E27FC236}">
                <a16:creationId xmlns:a16="http://schemas.microsoft.com/office/drawing/2014/main" id="{F4F3BE59-8E2C-5047-5943-B589A7564DB2}"/>
              </a:ext>
            </a:extLst>
          </p:cNvPr>
          <p:cNvSpPr txBox="1"/>
          <p:nvPr/>
        </p:nvSpPr>
        <p:spPr>
          <a:xfrm>
            <a:off x="6349913" y="3730103"/>
            <a:ext cx="5723466" cy="27392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400" dirty="0">
                <a:ea typeface="+mn-lt"/>
                <a:cs typeface="+mn-lt"/>
              </a:rPr>
              <a:t>Le test de Kruskal-Wallis révèle une différence statistiquement significative des préférences de catégories de livres selon l’âge des clients (p-value &lt; 0.0001).</a:t>
            </a:r>
            <a:br>
              <a:rPr lang="fr-FR" sz="1400" dirty="0">
                <a:ea typeface="+mn-lt"/>
                <a:cs typeface="+mn-lt"/>
              </a:rPr>
            </a:br>
            <a:r>
              <a:rPr lang="fr-FR" sz="1400" dirty="0">
                <a:ea typeface="+mn-lt"/>
                <a:cs typeface="+mn-lt"/>
              </a:rPr>
              <a:t> </a:t>
            </a:r>
          </a:p>
          <a:p>
            <a:r>
              <a:rPr lang="fr-FR" sz="1400" dirty="0">
                <a:ea typeface="+mn-lt"/>
                <a:cs typeface="+mn-lt"/>
              </a:rPr>
              <a:t>→ Les clients </a:t>
            </a:r>
            <a:r>
              <a:rPr lang="fr-FR" sz="1400" b="1" dirty="0">
                <a:ea typeface="+mn-lt"/>
                <a:cs typeface="+mn-lt"/>
              </a:rPr>
              <a:t>de moins de 30 ans</a:t>
            </a:r>
            <a:r>
              <a:rPr lang="fr-FR" sz="1400" dirty="0">
                <a:ea typeface="+mn-lt"/>
                <a:cs typeface="+mn-lt"/>
              </a:rPr>
              <a:t> privilégient </a:t>
            </a:r>
            <a:r>
              <a:rPr lang="fr-FR" sz="1400" b="1" dirty="0">
                <a:ea typeface="+mn-lt"/>
                <a:cs typeface="+mn-lt"/>
              </a:rPr>
              <a:t>majoritairement la catégorie 2</a:t>
            </a:r>
            <a:r>
              <a:rPr lang="fr-FR" sz="1400" dirty="0">
                <a:ea typeface="+mn-lt"/>
                <a:cs typeface="+mn-lt"/>
              </a:rPr>
              <a:t>,</a:t>
            </a:r>
            <a:br>
              <a:rPr lang="fr-FR" sz="1400" dirty="0">
                <a:ea typeface="+mn-lt"/>
                <a:cs typeface="+mn-lt"/>
              </a:rPr>
            </a:br>
            <a:r>
              <a:rPr lang="fr-FR" sz="1400" dirty="0">
                <a:ea typeface="+mn-lt"/>
                <a:cs typeface="+mn-lt"/>
              </a:rPr>
              <a:t> → Ceux </a:t>
            </a:r>
            <a:r>
              <a:rPr lang="fr-FR" sz="1400" b="1" dirty="0">
                <a:ea typeface="+mn-lt"/>
                <a:cs typeface="+mn-lt"/>
              </a:rPr>
              <a:t>de 30 à 45 ans</a:t>
            </a:r>
            <a:r>
              <a:rPr lang="fr-FR" sz="1400" dirty="0">
                <a:ea typeface="+mn-lt"/>
                <a:cs typeface="+mn-lt"/>
              </a:rPr>
              <a:t> préfèrent la </a:t>
            </a:r>
            <a:r>
              <a:rPr lang="fr-FR" sz="1400" b="1" dirty="0">
                <a:ea typeface="+mn-lt"/>
                <a:cs typeface="+mn-lt"/>
              </a:rPr>
              <a:t>catégorie 0</a:t>
            </a:r>
            <a:r>
              <a:rPr lang="fr-FR" sz="1400" dirty="0">
                <a:ea typeface="+mn-lt"/>
                <a:cs typeface="+mn-lt"/>
              </a:rPr>
              <a:t>,</a:t>
            </a:r>
            <a:br>
              <a:rPr lang="fr-FR" sz="1400" dirty="0">
                <a:ea typeface="+mn-lt"/>
                <a:cs typeface="+mn-lt"/>
              </a:rPr>
            </a:br>
            <a:r>
              <a:rPr lang="fr-FR" sz="1400" dirty="0">
                <a:ea typeface="+mn-lt"/>
                <a:cs typeface="+mn-lt"/>
              </a:rPr>
              <a:t> → Les </a:t>
            </a:r>
            <a:r>
              <a:rPr lang="fr-FR" sz="1400" b="1" dirty="0">
                <a:ea typeface="+mn-lt"/>
                <a:cs typeface="+mn-lt"/>
              </a:rPr>
              <a:t>plus de 60 ans</a:t>
            </a:r>
            <a:r>
              <a:rPr lang="fr-FR" sz="1400" dirty="0">
                <a:ea typeface="+mn-lt"/>
                <a:cs typeface="+mn-lt"/>
              </a:rPr>
              <a:t> sont très majoritairement orientés vers la </a:t>
            </a:r>
            <a:r>
              <a:rPr lang="fr-FR" sz="1400" b="1" dirty="0">
                <a:ea typeface="+mn-lt"/>
                <a:cs typeface="+mn-lt"/>
              </a:rPr>
              <a:t>catégorie 1</a:t>
            </a:r>
            <a:r>
              <a:rPr lang="fr-FR" sz="1400" dirty="0">
                <a:ea typeface="+mn-lt"/>
                <a:cs typeface="+mn-lt"/>
              </a:rPr>
              <a:t>.</a:t>
            </a:r>
            <a:endParaRPr lang="fr-FR" sz="1400" dirty="0"/>
          </a:p>
          <a:p>
            <a:r>
              <a:rPr lang="fr-FR" sz="1400" b="1" dirty="0">
                <a:ea typeface="+mn-lt"/>
                <a:cs typeface="+mn-lt"/>
              </a:rPr>
              <a:t>Enjeu :</a:t>
            </a:r>
            <a:r>
              <a:rPr lang="fr-FR" sz="1400" dirty="0">
                <a:ea typeface="+mn-lt"/>
                <a:cs typeface="+mn-lt"/>
              </a:rPr>
              <a:t> Mieux cibler les recommandations et les actions marketing selon les tranches d’âge.</a:t>
            </a:r>
            <a:endParaRPr lang="fr-FR" sz="1400" dirty="0"/>
          </a:p>
          <a:p>
            <a:pPr algn="l"/>
            <a:endParaRPr lang="fr-FR" dirty="0"/>
          </a:p>
        </p:txBody>
      </p:sp>
      <p:cxnSp>
        <p:nvCxnSpPr>
          <p:cNvPr id="5" name="Connecteur droit 4">
            <a:extLst>
              <a:ext uri="{FF2B5EF4-FFF2-40B4-BE49-F238E27FC236}">
                <a16:creationId xmlns:a16="http://schemas.microsoft.com/office/drawing/2014/main" id="{AC14CAE9-7040-A5D2-6A51-E017F977239F}"/>
              </a:ext>
            </a:extLst>
          </p:cNvPr>
          <p:cNvCxnSpPr/>
          <p:nvPr/>
        </p:nvCxnSpPr>
        <p:spPr>
          <a:xfrm>
            <a:off x="5486400" y="2652713"/>
            <a:ext cx="0" cy="4052887"/>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786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E90145-8D7E-1F69-A91A-D8B516C22BD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B6010FD-FE62-669E-89C5-01045BB1F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6E02593-A6D8-39CD-CD74-9D272164A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5C67BFE-FB40-29F3-00CC-1E1468EAD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4E5F354-4061-E429-0B6F-2CFC45BD84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DB1BD2D2-F572-2D77-4F2E-E1D38BFBFFF4}"/>
              </a:ext>
            </a:extLst>
          </p:cNvPr>
          <p:cNvSpPr>
            <a:spLocks noGrp="1"/>
          </p:cNvSpPr>
          <p:nvPr>
            <p:ph type="title"/>
          </p:nvPr>
        </p:nvSpPr>
        <p:spPr>
          <a:xfrm>
            <a:off x="1073988" y="349112"/>
            <a:ext cx="10044023" cy="877729"/>
          </a:xfrm>
        </p:spPr>
        <p:txBody>
          <a:bodyPr anchor="ctr">
            <a:normAutofit/>
          </a:bodyPr>
          <a:lstStyle/>
          <a:p>
            <a:pPr algn="ctr"/>
            <a:r>
              <a:rPr lang="fr-FR" sz="3700" dirty="0">
                <a:solidFill>
                  <a:srgbClr val="FFFFFF"/>
                </a:solidFill>
              </a:rPr>
              <a:t>Préconisations  stratégiques</a:t>
            </a:r>
            <a:endParaRPr lang="fr-FR" dirty="0"/>
          </a:p>
        </p:txBody>
      </p:sp>
      <p:sp>
        <p:nvSpPr>
          <p:cNvPr id="6" name="ZoneTexte 5">
            <a:extLst>
              <a:ext uri="{FF2B5EF4-FFF2-40B4-BE49-F238E27FC236}">
                <a16:creationId xmlns:a16="http://schemas.microsoft.com/office/drawing/2014/main" id="{5E01C4E3-A61E-5222-5EEE-96DB6AA250CC}"/>
              </a:ext>
            </a:extLst>
          </p:cNvPr>
          <p:cNvSpPr txBox="1"/>
          <p:nvPr/>
        </p:nvSpPr>
        <p:spPr>
          <a:xfrm>
            <a:off x="789299" y="3564048"/>
            <a:ext cx="199372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t>Optimiser le catalogue produit</a:t>
            </a:r>
          </a:p>
          <a:p>
            <a:endParaRPr lang="fr-FR" dirty="0"/>
          </a:p>
        </p:txBody>
      </p:sp>
      <p:sp>
        <p:nvSpPr>
          <p:cNvPr id="8" name="ZoneTexte 7">
            <a:extLst>
              <a:ext uri="{FF2B5EF4-FFF2-40B4-BE49-F238E27FC236}">
                <a16:creationId xmlns:a16="http://schemas.microsoft.com/office/drawing/2014/main" id="{70356099-02A1-2528-4847-C169E3C7D13E}"/>
              </a:ext>
            </a:extLst>
          </p:cNvPr>
          <p:cNvSpPr txBox="1"/>
          <p:nvPr/>
        </p:nvSpPr>
        <p:spPr>
          <a:xfrm>
            <a:off x="4713667" y="3538212"/>
            <a:ext cx="276466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t>Améliorer le référencement des flops</a:t>
            </a:r>
          </a:p>
          <a:p>
            <a:endParaRPr lang="fr-FR" dirty="0"/>
          </a:p>
        </p:txBody>
      </p:sp>
      <p:sp>
        <p:nvSpPr>
          <p:cNvPr id="9" name="ZoneTexte 8">
            <a:extLst>
              <a:ext uri="{FF2B5EF4-FFF2-40B4-BE49-F238E27FC236}">
                <a16:creationId xmlns:a16="http://schemas.microsoft.com/office/drawing/2014/main" id="{CF394744-E7AE-2C7E-ECFA-58774F7DB831}"/>
              </a:ext>
            </a:extLst>
          </p:cNvPr>
          <p:cNvSpPr txBox="1"/>
          <p:nvPr/>
        </p:nvSpPr>
        <p:spPr>
          <a:xfrm>
            <a:off x="9276143" y="3504495"/>
            <a:ext cx="234863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t>Adapter la stratégie client</a:t>
            </a:r>
          </a:p>
        </p:txBody>
      </p:sp>
      <p:sp>
        <p:nvSpPr>
          <p:cNvPr id="11" name="ZoneTexte 10">
            <a:extLst>
              <a:ext uri="{FF2B5EF4-FFF2-40B4-BE49-F238E27FC236}">
                <a16:creationId xmlns:a16="http://schemas.microsoft.com/office/drawing/2014/main" id="{DE2F0C65-16D8-6924-F2C9-49389279EBB7}"/>
              </a:ext>
            </a:extLst>
          </p:cNvPr>
          <p:cNvSpPr txBox="1"/>
          <p:nvPr/>
        </p:nvSpPr>
        <p:spPr>
          <a:xfrm>
            <a:off x="724862" y="5964108"/>
            <a:ext cx="226512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t>Réengager les clients</a:t>
            </a:r>
          </a:p>
          <a:p>
            <a:endParaRPr lang="fr-FR" dirty="0"/>
          </a:p>
        </p:txBody>
      </p:sp>
      <p:sp>
        <p:nvSpPr>
          <p:cNvPr id="15" name="ZoneTexte 14">
            <a:extLst>
              <a:ext uri="{FF2B5EF4-FFF2-40B4-BE49-F238E27FC236}">
                <a16:creationId xmlns:a16="http://schemas.microsoft.com/office/drawing/2014/main" id="{77BCD66E-4EF5-3DF4-86CB-1EC0B4D13B0D}"/>
              </a:ext>
            </a:extLst>
          </p:cNvPr>
          <p:cNvSpPr txBox="1"/>
          <p:nvPr/>
        </p:nvSpPr>
        <p:spPr>
          <a:xfrm>
            <a:off x="4963437" y="5922238"/>
            <a:ext cx="226512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t>Développer les ventes</a:t>
            </a:r>
          </a:p>
          <a:p>
            <a:endParaRPr lang="fr-FR" dirty="0"/>
          </a:p>
        </p:txBody>
      </p:sp>
      <p:sp>
        <p:nvSpPr>
          <p:cNvPr id="17" name="ZoneTexte 16">
            <a:extLst>
              <a:ext uri="{FF2B5EF4-FFF2-40B4-BE49-F238E27FC236}">
                <a16:creationId xmlns:a16="http://schemas.microsoft.com/office/drawing/2014/main" id="{863B0575-607F-20C1-752E-5634F747DB66}"/>
              </a:ext>
            </a:extLst>
          </p:cNvPr>
          <p:cNvSpPr txBox="1"/>
          <p:nvPr/>
        </p:nvSpPr>
        <p:spPr>
          <a:xfrm>
            <a:off x="9202012" y="5922238"/>
            <a:ext cx="249689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dirty="0"/>
              <a:t>Soutenir les décisions marketing par la data</a:t>
            </a:r>
          </a:p>
        </p:txBody>
      </p:sp>
      <p:pic>
        <p:nvPicPr>
          <p:cNvPr id="4" name="Graphique 3" descr="Création de récits avec un remplissage uni">
            <a:extLst>
              <a:ext uri="{FF2B5EF4-FFF2-40B4-BE49-F238E27FC236}">
                <a16:creationId xmlns:a16="http://schemas.microsoft.com/office/drawing/2014/main" id="{81FFFA27-FF16-D2C1-8EBE-5492404525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4636" y="1991859"/>
            <a:ext cx="1335105" cy="1335105"/>
          </a:xfrm>
          <a:prstGeom prst="rect">
            <a:avLst/>
          </a:prstGeom>
        </p:spPr>
      </p:pic>
      <p:pic>
        <p:nvPicPr>
          <p:cNvPr id="7" name="Graphique 6" descr="Liste de contrôle avec un remplissage uni">
            <a:extLst>
              <a:ext uri="{FF2B5EF4-FFF2-40B4-BE49-F238E27FC236}">
                <a16:creationId xmlns:a16="http://schemas.microsoft.com/office/drawing/2014/main" id="{36C55AAA-5AEE-CF81-8711-B903538F488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48770" y="2119444"/>
            <a:ext cx="1335106" cy="1335106"/>
          </a:xfrm>
          <a:prstGeom prst="rect">
            <a:avLst/>
          </a:prstGeom>
        </p:spPr>
      </p:pic>
      <p:pic>
        <p:nvPicPr>
          <p:cNvPr id="22" name="Graphique 21" descr="Public cible avec un remplissage uni">
            <a:extLst>
              <a:ext uri="{FF2B5EF4-FFF2-40B4-BE49-F238E27FC236}">
                <a16:creationId xmlns:a16="http://schemas.microsoft.com/office/drawing/2014/main" id="{E1751229-C27A-AC8D-58D7-2D5D6612DA4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82905" y="2093894"/>
            <a:ext cx="1335106" cy="1335106"/>
          </a:xfrm>
          <a:prstGeom prst="rect">
            <a:avLst/>
          </a:prstGeom>
        </p:spPr>
      </p:pic>
      <p:pic>
        <p:nvPicPr>
          <p:cNvPr id="24" name="Graphique 23" descr="Graphique exponentiel avec un remplissage uni">
            <a:extLst>
              <a:ext uri="{FF2B5EF4-FFF2-40B4-BE49-F238E27FC236}">
                <a16:creationId xmlns:a16="http://schemas.microsoft.com/office/drawing/2014/main" id="{11700A9F-4F62-E1C9-A021-FFAD12E9D46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97125" y="4635482"/>
            <a:ext cx="1170126" cy="1170126"/>
          </a:xfrm>
          <a:prstGeom prst="rect">
            <a:avLst/>
          </a:prstGeom>
        </p:spPr>
      </p:pic>
      <p:pic>
        <p:nvPicPr>
          <p:cNvPr id="26" name="Graphique 25" descr="Étoile avec un remplissage uni">
            <a:extLst>
              <a:ext uri="{FF2B5EF4-FFF2-40B4-BE49-F238E27FC236}">
                <a16:creationId xmlns:a16="http://schemas.microsoft.com/office/drawing/2014/main" id="{17A9ECC6-D706-5DF4-8130-FD1D690DD28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531260" y="4461542"/>
            <a:ext cx="1170126" cy="1170126"/>
          </a:xfrm>
          <a:prstGeom prst="rect">
            <a:avLst/>
          </a:prstGeom>
        </p:spPr>
      </p:pic>
      <p:pic>
        <p:nvPicPr>
          <p:cNvPr id="28" name="Graphique 27" descr="Graphique à barres avec un remplissage uni">
            <a:extLst>
              <a:ext uri="{FF2B5EF4-FFF2-40B4-BE49-F238E27FC236}">
                <a16:creationId xmlns:a16="http://schemas.microsoft.com/office/drawing/2014/main" id="{85611212-7D12-E14E-41AC-F1B6C15C008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865395" y="4509125"/>
            <a:ext cx="1170126" cy="1170126"/>
          </a:xfrm>
          <a:prstGeom prst="rect">
            <a:avLst/>
          </a:prstGeom>
        </p:spPr>
      </p:pic>
    </p:spTree>
    <p:extLst>
      <p:ext uri="{BB962C8B-B14F-4D97-AF65-F5344CB8AC3E}">
        <p14:creationId xmlns:p14="http://schemas.microsoft.com/office/powerpoint/2010/main" val="361430254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681</TotalTime>
  <Words>1170</Words>
  <Application>Microsoft Office PowerPoint</Application>
  <PresentationFormat>Grand écran</PresentationFormat>
  <Paragraphs>132</Paragraphs>
  <Slides>15</Slides>
  <Notes>12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Aptos</vt:lpstr>
      <vt:lpstr>Aptos Display</vt:lpstr>
      <vt:lpstr>Arial</vt:lpstr>
      <vt:lpstr>Thème Office</vt:lpstr>
      <vt:lpstr>Analyse des ventes et des comportements clients </vt:lpstr>
      <vt:lpstr>Contexte de la mission</vt:lpstr>
      <vt:lpstr>Vue d’ensemble de l’activité commerciale</vt:lpstr>
      <vt:lpstr>Evolution mensuelle et répartition du CA</vt:lpstr>
      <vt:lpstr>Profil et évolution de la clientèle</vt:lpstr>
      <vt:lpstr>Analyse de l’activité transactionnelle</vt:lpstr>
      <vt:lpstr>Evolution et structure des produits vendus</vt:lpstr>
      <vt:lpstr>Analyse des performances produits</vt:lpstr>
      <vt:lpstr>Analyse croisée : offre vs performance</vt:lpstr>
      <vt:lpstr>Répartition du CA entre clients BtoB &amp; clients BtoC</vt:lpstr>
      <vt:lpstr>Analyse statistique du comportement client</vt:lpstr>
      <vt:lpstr>Corrélation entre le genre du client et les catégories de livres achetés</vt:lpstr>
      <vt:lpstr>Corrélation entre l'âge des clients et montant total des achats, fréquence et la taille du panier moyen</vt:lpstr>
      <vt:lpstr>Corrélation entre l'âge des clients et la catégorie de livres achetés</vt:lpstr>
      <vt:lpstr>Préconisations  stratégiques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 Yung</dc:creator>
  <cp:lastModifiedBy>C Yung</cp:lastModifiedBy>
  <cp:revision>125</cp:revision>
  <dcterms:created xsi:type="dcterms:W3CDTF">2025-07-24T07:59:12Z</dcterms:created>
  <dcterms:modified xsi:type="dcterms:W3CDTF">2025-08-04T08:48:41Z</dcterms:modified>
</cp:coreProperties>
</file>