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58" r:id="rId5"/>
    <p:sldId id="260" r:id="rId6"/>
    <p:sldId id="263" r:id="rId7"/>
    <p:sldId id="261" r:id="rId8"/>
    <p:sldId id="262" r:id="rId9"/>
    <p:sldId id="264" r:id="rId10"/>
    <p:sldId id="265" r:id="rId11"/>
    <p:sldId id="267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1CC75"/>
    <a:srgbClr val="5470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126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A77D2B-01AA-4102-BEC1-4C7E6E5DE9D0}" type="datetimeFigureOut">
              <a:rPr lang="fr-FR" smtClean="0"/>
              <a:t>04/07/2025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BAEB2A-17FE-4CFB-B86D-BC24B7BCB3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0147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3332E1-E082-E1A7-0306-FD44722FB0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F8651C-79E1-8D7B-766B-CE0A597A1B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FBCCAC1-49D3-EE1C-F33D-BBF6F4F1E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6D76-1D3C-4AB2-96ED-2B5139963808}" type="datetimeFigureOut">
              <a:rPr lang="fr-FR" smtClean="0"/>
              <a:t>04/07/2025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715D44-1383-9957-C48C-0F8DCDAFF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FF0F2F2-2D33-E4A7-BEAA-416261FB7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83298-BDAC-45E7-A272-89F45BADEB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5013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953343-B4E3-F2C1-1552-1AD512B4C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34B8D7-7C62-D66B-09B6-762E625F6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BDBEDC-F004-DE06-B1BB-37E322CF4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6D76-1D3C-4AB2-96ED-2B5139963808}" type="datetimeFigureOut">
              <a:rPr lang="fr-FR" smtClean="0"/>
              <a:t>04/07/2025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A4BF49C-18C1-BA61-ADD8-CC44CF070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E97CEC-3568-1877-DCD8-560D48677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83298-BDAC-45E7-A272-89F45BADEB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3301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21442B-5C88-D486-5EA7-690D70C43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58177D-B433-6E1E-61C8-257E72893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1151DD-BD36-DCFC-A6B0-9277CCF40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6D76-1D3C-4AB2-96ED-2B5139963808}" type="datetimeFigureOut">
              <a:rPr lang="fr-FR" smtClean="0"/>
              <a:t>04/07/2025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2C5472-BDBF-91C6-507F-363D169DE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B6B313-4E7F-19E3-D9B5-60A00F9D9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83298-BDAC-45E7-A272-89F45BADEB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9700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E2AD17-76AD-42E4-0F9C-7C1B3CBF3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CDE94E-7AFD-6181-A680-5A44EB199A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5939EE1-8CAE-E233-453F-3D46CA334F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9B43716-C88A-8688-D7A8-6DEDB8801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6D76-1D3C-4AB2-96ED-2B5139963808}" type="datetimeFigureOut">
              <a:rPr lang="fr-FR" smtClean="0"/>
              <a:t>04/07/2025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27B37A6-A2B9-CA12-CE84-549047979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AAD0511-0F64-03A6-6148-9423E36D0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83298-BDAC-45E7-A272-89F45BADEB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5041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CD62CE-4C3C-D7AC-FE2F-110ACBA68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EA7510A-FA2A-8EF3-AFE6-40576DD30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7046170-5847-BDA9-ED62-8EE3D527C8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79F946-1A19-43BE-0491-D59DF6EE63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C216F21-72A5-A7B1-236B-86DB850144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4460E7A-09D8-388A-0191-CA74B3DD6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6D76-1D3C-4AB2-96ED-2B5139963808}" type="datetimeFigureOut">
              <a:rPr lang="fr-FR" smtClean="0"/>
              <a:t>04/07/2025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2E6DEED-CAF1-88FF-46DF-78E8F2144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78CF851-10E8-1A1E-FC9B-23835E9EB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83298-BDAC-45E7-A272-89F45BADEB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8747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CF58ED-AD1F-46F0-52E9-2E35B13C1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0AF9CC2-8E05-B7B5-1ABD-F8C803406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6D76-1D3C-4AB2-96ED-2B5139963808}" type="datetimeFigureOut">
              <a:rPr lang="fr-FR" smtClean="0"/>
              <a:t>04/07/2025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C2F7530-3103-1675-947A-E7E36D0C0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0A4BF76-AC95-E5A8-5769-BE0A5184E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83298-BDAC-45E7-A272-89F45BADEB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7837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E81D0B1-4C3F-0B7E-C56C-BBB2912F0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6D76-1D3C-4AB2-96ED-2B5139963808}" type="datetimeFigureOut">
              <a:rPr lang="fr-FR" smtClean="0"/>
              <a:t>04/07/2025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A2C0CE4-9CA2-5EDC-C46D-25468D053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1293E7-8CDB-9A03-96E4-09C580CD1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83298-BDAC-45E7-A272-89F45BADEB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3848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1D1385-FD41-DFFC-7980-03AF67449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C5BA3FD-D173-BFBA-BFC5-4348EA2D4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BE53122-245F-63F0-1ED5-E0ABFC2AD7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086C303-7273-086D-035F-E44D97B7E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6D76-1D3C-4AB2-96ED-2B5139963808}" type="datetimeFigureOut">
              <a:rPr lang="fr-FR" smtClean="0"/>
              <a:t>04/07/2025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43952DB-2F69-CF91-9F51-0F6247B2C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7C24EBB-F646-BFA0-B74A-236C7284D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83298-BDAC-45E7-A272-89F45BADEB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2028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BBE884-0618-25A1-4F10-33A9DD53E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2319EB6-2854-3EA2-AE0C-C2CAC2B40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FC1C438-7CF7-CDA5-110A-9C362E754C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928C542-D9D6-DF5E-185F-0F8294720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6D76-1D3C-4AB2-96ED-2B5139963808}" type="datetimeFigureOut">
              <a:rPr lang="fr-FR" smtClean="0"/>
              <a:t>04/07/2025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655C9B3-46FE-134A-83CB-CB00182E1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5CD84C3-E18B-AC83-C506-22AEDC08D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83298-BDAC-45E7-A272-89F45BADEB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559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F55694-1148-93D6-0EF0-220B30245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41526BC-0F7D-D459-1541-C6F557157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D6241C-CDED-143C-9312-79D201A33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6D76-1D3C-4AB2-96ED-2B5139963808}" type="datetimeFigureOut">
              <a:rPr lang="fr-FR" smtClean="0"/>
              <a:t>04/07/2025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8AE158-C356-DA36-25A1-DEC4C8FC0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686B5C-07B8-9B61-60F1-1C8ED854C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83298-BDAC-45E7-A272-89F45BADEB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8746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44BBB77-6334-917A-93D3-362FBF6130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9F5B54C-2151-AE48-EA00-1BE7A6ED4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0F4BA4-720B-B836-586D-2624D80F4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6D76-1D3C-4AB2-96ED-2B5139963808}" type="datetimeFigureOut">
              <a:rPr lang="fr-FR" smtClean="0"/>
              <a:t>04/07/2025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8906F3-AD9D-8F1F-EB53-55248BE7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C6F2C-6D8D-6DBA-21B6-A7E83EED5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83298-BDAC-45E7-A272-89F45BADEB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7580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B94FBB1-BC0C-265A-36B4-773E2398E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7E57C4A-A564-7FC3-85EA-449FB308A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7047F1A-30AC-0C07-8E7F-DF426117D4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86D76-1D3C-4AB2-96ED-2B5139963808}" type="datetimeFigureOut">
              <a:rPr lang="fr-FR" smtClean="0"/>
              <a:t>04/07/2025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058C08-1C0D-6065-DF9F-12FFF91E4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2DDDBC-9D28-18EB-037B-6037BC600B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B83298-BDAC-45E7-A272-89F45BADEB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2509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78AE9-3BA2-F0BD-A9BB-A47CE19095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338667"/>
            <a:ext cx="9144000" cy="2387600"/>
          </a:xfrm>
        </p:spPr>
        <p:txBody>
          <a:bodyPr/>
          <a:lstStyle/>
          <a:p>
            <a:r>
              <a:rPr lang="fr-FR" dirty="0"/>
              <a:t>Diagnostic</a:t>
            </a:r>
            <a:br>
              <a:rPr lang="fr-FR" dirty="0"/>
            </a:br>
            <a:r>
              <a:rPr lang="fr-FR" dirty="0"/>
              <a:t>égalité femmes - hommes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8D0F456-BA56-8814-0993-4ABBB1613056}"/>
              </a:ext>
            </a:extLst>
          </p:cNvPr>
          <p:cNvSpPr txBox="1"/>
          <p:nvPr/>
        </p:nvSpPr>
        <p:spPr>
          <a:xfrm>
            <a:off x="1769532" y="3228945"/>
            <a:ext cx="86529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i="1" dirty="0"/>
              <a:t>Objectifs : 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7B886AC-C34E-0FB1-757F-8D5FF018F0A1}"/>
              </a:ext>
            </a:extLst>
          </p:cNvPr>
          <p:cNvSpPr/>
          <p:nvPr/>
        </p:nvSpPr>
        <p:spPr>
          <a:xfrm>
            <a:off x="203198" y="3996267"/>
            <a:ext cx="2760133" cy="226906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341355D6-B362-724C-5396-7EC7C8CCDAEB}"/>
              </a:ext>
            </a:extLst>
          </p:cNvPr>
          <p:cNvSpPr/>
          <p:nvPr/>
        </p:nvSpPr>
        <p:spPr>
          <a:xfrm>
            <a:off x="3149598" y="3996267"/>
            <a:ext cx="2760133" cy="226906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FE2DF95-BF56-872A-6E6E-DEB1516FE137}"/>
              </a:ext>
            </a:extLst>
          </p:cNvPr>
          <p:cNvSpPr/>
          <p:nvPr/>
        </p:nvSpPr>
        <p:spPr>
          <a:xfrm>
            <a:off x="6095998" y="3996267"/>
            <a:ext cx="2760133" cy="226906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559A618C-A33C-4BB4-74E5-A9579018A657}"/>
              </a:ext>
            </a:extLst>
          </p:cNvPr>
          <p:cNvSpPr/>
          <p:nvPr/>
        </p:nvSpPr>
        <p:spPr>
          <a:xfrm>
            <a:off x="9042398" y="3996267"/>
            <a:ext cx="2760133" cy="226906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FB6038A-1F30-8DC6-CC8D-BFBF3A6589D2}"/>
              </a:ext>
            </a:extLst>
          </p:cNvPr>
          <p:cNvSpPr txBox="1"/>
          <p:nvPr/>
        </p:nvSpPr>
        <p:spPr>
          <a:xfrm>
            <a:off x="397930" y="4253637"/>
            <a:ext cx="23706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⚖️ Evaluer de manière objective les écarts entre les femmes et les hommes au sein de l’entreprise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9692F70-E88A-0BE8-F7E0-1DC38B06CE0A}"/>
              </a:ext>
            </a:extLst>
          </p:cNvPr>
          <p:cNvSpPr txBox="1"/>
          <p:nvPr/>
        </p:nvSpPr>
        <p:spPr>
          <a:xfrm>
            <a:off x="3369730" y="4220445"/>
            <a:ext cx="231986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🔍 Identifier les éventuelles inégalités (embauche, rémunération, promotions, condition de travail, …)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702641F-89AC-E1E8-5FAE-F43704B2C6BB}"/>
              </a:ext>
            </a:extLst>
          </p:cNvPr>
          <p:cNvSpPr txBox="1"/>
          <p:nvPr/>
        </p:nvSpPr>
        <p:spPr>
          <a:xfrm>
            <a:off x="6290730" y="4253637"/>
            <a:ext cx="23706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📊 Calculer le score officiel d’égalité professionnelle selon les critères légaux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8E72DF1-0C93-5024-B9AB-95383F6D80D3}"/>
              </a:ext>
            </a:extLst>
          </p:cNvPr>
          <p:cNvSpPr txBox="1"/>
          <p:nvPr/>
        </p:nvSpPr>
        <p:spPr>
          <a:xfrm>
            <a:off x="9270997" y="4257682"/>
            <a:ext cx="23029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💡 Formuler des recommandations concrètes pour améliorer ce score et renforcer l’équité en interne</a:t>
            </a:r>
          </a:p>
        </p:txBody>
      </p:sp>
    </p:spTree>
    <p:extLst>
      <p:ext uri="{BB962C8B-B14F-4D97-AF65-F5344CB8AC3E}">
        <p14:creationId xmlns:p14="http://schemas.microsoft.com/office/powerpoint/2010/main" val="2414466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A44C22-6F39-5231-3F11-3F70B8619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L’entreprise en quelques chiffres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78E012F-2DDC-7423-917A-8E405794D3C5}"/>
              </a:ext>
            </a:extLst>
          </p:cNvPr>
          <p:cNvSpPr txBox="1"/>
          <p:nvPr/>
        </p:nvSpPr>
        <p:spPr>
          <a:xfrm>
            <a:off x="126105" y="5118363"/>
            <a:ext cx="40978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L’entreprise compte </a:t>
            </a:r>
            <a:r>
              <a:rPr lang="fr-FR" b="1" dirty="0"/>
              <a:t>256 salariés</a:t>
            </a:r>
            <a:r>
              <a:rPr lang="fr-FR" dirty="0"/>
              <a:t>, avec une répartition équilibrée entre </a:t>
            </a:r>
            <a:r>
              <a:rPr lang="fr-F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51,17 % d’hommes</a:t>
            </a:r>
            <a:r>
              <a:rPr lang="fr-F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fr-FR" dirty="0"/>
              <a:t>et </a:t>
            </a:r>
            <a:r>
              <a:rPr lang="fr-FR" b="1" dirty="0">
                <a:solidFill>
                  <a:schemeClr val="accent6">
                    <a:lumMod val="75000"/>
                  </a:schemeClr>
                </a:solidFill>
              </a:rPr>
              <a:t>48,83 % de femmes</a:t>
            </a:r>
            <a:r>
              <a:rPr lang="fr-FR" dirty="0"/>
              <a:t>.</a:t>
            </a:r>
            <a:endParaRPr lang="fr-FR" b="1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07FF1CF-8FC7-D59B-9D39-22EFB2AAB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14" y="1730740"/>
            <a:ext cx="3242788" cy="2802847"/>
          </a:xfrm>
          <a:prstGeom prst="rect">
            <a:avLst/>
          </a:prstGeom>
        </p:spPr>
      </p:pic>
      <p:sp>
        <p:nvSpPr>
          <p:cNvPr id="11" name="Organigramme : Connecteur 10">
            <a:extLst>
              <a:ext uri="{FF2B5EF4-FFF2-40B4-BE49-F238E27FC236}">
                <a16:creationId xmlns:a16="http://schemas.microsoft.com/office/drawing/2014/main" id="{31252560-C92E-E485-1E02-6CEEE4D6CF3C}"/>
              </a:ext>
            </a:extLst>
          </p:cNvPr>
          <p:cNvSpPr/>
          <p:nvPr/>
        </p:nvSpPr>
        <p:spPr>
          <a:xfrm>
            <a:off x="2175039" y="4511010"/>
            <a:ext cx="296333" cy="287866"/>
          </a:xfrm>
          <a:prstGeom prst="flowChartConnector">
            <a:avLst/>
          </a:prstGeom>
          <a:solidFill>
            <a:srgbClr val="5470C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Organigramme : Connecteur 11">
            <a:extLst>
              <a:ext uri="{FF2B5EF4-FFF2-40B4-BE49-F238E27FC236}">
                <a16:creationId xmlns:a16="http://schemas.microsoft.com/office/drawing/2014/main" id="{AA2EDDF7-F5EE-14FB-A408-5B628CEF4C67}"/>
              </a:ext>
            </a:extLst>
          </p:cNvPr>
          <p:cNvSpPr/>
          <p:nvPr/>
        </p:nvSpPr>
        <p:spPr>
          <a:xfrm>
            <a:off x="487714" y="4487568"/>
            <a:ext cx="296333" cy="287866"/>
          </a:xfrm>
          <a:prstGeom prst="flowChartConnector">
            <a:avLst/>
          </a:prstGeom>
          <a:solidFill>
            <a:srgbClr val="91CC7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76765F9-2EE9-E30B-4BF6-7F771BB69EB6}"/>
              </a:ext>
            </a:extLst>
          </p:cNvPr>
          <p:cNvSpPr txBox="1"/>
          <p:nvPr/>
        </p:nvSpPr>
        <p:spPr>
          <a:xfrm>
            <a:off x="2471372" y="4477613"/>
            <a:ext cx="1151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Hommes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C7D9D04-BC40-3F5B-FDFB-57C2E0E7B78F}"/>
              </a:ext>
            </a:extLst>
          </p:cNvPr>
          <p:cNvSpPr txBox="1"/>
          <p:nvPr/>
        </p:nvSpPr>
        <p:spPr>
          <a:xfrm>
            <a:off x="784047" y="4487568"/>
            <a:ext cx="1151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Femmes</a:t>
            </a:r>
          </a:p>
        </p:txBody>
      </p:sp>
      <p:graphicFrame>
        <p:nvGraphicFramePr>
          <p:cNvPr id="22" name="Tableau 21">
            <a:extLst>
              <a:ext uri="{FF2B5EF4-FFF2-40B4-BE49-F238E27FC236}">
                <a16:creationId xmlns:a16="http://schemas.microsoft.com/office/drawing/2014/main" id="{E5DC0C67-3B89-6DCB-69D0-F2E20E4734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567395"/>
              </p:ext>
            </p:extLst>
          </p:nvPr>
        </p:nvGraphicFramePr>
        <p:xfrm>
          <a:off x="4666643" y="2208874"/>
          <a:ext cx="7003444" cy="165263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01722">
                  <a:extLst>
                    <a:ext uri="{9D8B030D-6E8A-4147-A177-3AD203B41FA5}">
                      <a16:colId xmlns:a16="http://schemas.microsoft.com/office/drawing/2014/main" val="1047273986"/>
                    </a:ext>
                  </a:extLst>
                </a:gridCol>
                <a:gridCol w="3501722">
                  <a:extLst>
                    <a:ext uri="{9D8B030D-6E8A-4147-A177-3AD203B41FA5}">
                      <a16:colId xmlns:a16="http://schemas.microsoft.com/office/drawing/2014/main" val="560087792"/>
                    </a:ext>
                  </a:extLst>
                </a:gridCol>
              </a:tblGrid>
              <a:tr h="443539">
                <a:tc>
                  <a:txBody>
                    <a:bodyPr/>
                    <a:lstStyle/>
                    <a:p>
                      <a:r>
                        <a:rPr lang="fr-FR" dirty="0"/>
                        <a:t>Âge moyen des salariés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46 ans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922152"/>
                  </a:ext>
                </a:extLst>
              </a:tr>
              <a:tr h="443539">
                <a:tc>
                  <a:txBody>
                    <a:bodyPr/>
                    <a:lstStyle/>
                    <a:p>
                      <a:r>
                        <a:rPr lang="fr-FR" dirty="0"/>
                        <a:t>Type de contrat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240 CDI / 16 CDD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529646"/>
                  </a:ext>
                </a:extLst>
              </a:tr>
              <a:tr h="765560">
                <a:tc>
                  <a:txBody>
                    <a:bodyPr/>
                    <a:lstStyle/>
                    <a:p>
                      <a:r>
                        <a:rPr lang="fr-FR" dirty="0"/>
                        <a:t>Rémunération moyenne mensuelle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6 394€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876784"/>
                  </a:ext>
                </a:extLst>
              </a:tr>
            </a:tbl>
          </a:graphicData>
        </a:graphic>
      </p:graphicFrame>
      <p:sp>
        <p:nvSpPr>
          <p:cNvPr id="23" name="ZoneTexte 22">
            <a:extLst>
              <a:ext uri="{FF2B5EF4-FFF2-40B4-BE49-F238E27FC236}">
                <a16:creationId xmlns:a16="http://schemas.microsoft.com/office/drawing/2014/main" id="{310505BB-FB82-A1B8-F1B6-18FFE0049381}"/>
              </a:ext>
            </a:extLst>
          </p:cNvPr>
          <p:cNvSpPr txBox="1"/>
          <p:nvPr/>
        </p:nvSpPr>
        <p:spPr>
          <a:xfrm>
            <a:off x="4666643" y="4552559"/>
            <a:ext cx="72474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L’âge moyen </a:t>
            </a:r>
            <a:r>
              <a:rPr lang="fr-FR" dirty="0"/>
              <a:t>est de </a:t>
            </a:r>
            <a:r>
              <a:rPr lang="fr-FR" b="1" dirty="0"/>
              <a:t>46 ans</a:t>
            </a:r>
            <a:r>
              <a:rPr lang="fr-FR" dirty="0"/>
              <a:t>. La très forte majorité des collaborateurs sont en </a:t>
            </a:r>
            <a:r>
              <a:rPr lang="fr-FR" b="1" dirty="0"/>
              <a:t>CDI</a:t>
            </a:r>
            <a:r>
              <a:rPr lang="fr-FR" dirty="0"/>
              <a:t> (240 sur 256), ce qui traduit une stabilité importante de l’emploi. La </a:t>
            </a:r>
            <a:r>
              <a:rPr lang="fr-FR" b="1" dirty="0"/>
              <a:t>rémunération mensuelle moyenne </a:t>
            </a:r>
            <a:r>
              <a:rPr lang="fr-FR" dirty="0"/>
              <a:t>s’élève à </a:t>
            </a:r>
            <a:r>
              <a:rPr lang="fr-FR" b="1" dirty="0"/>
              <a:t>6 394 €</a:t>
            </a:r>
            <a:r>
              <a:rPr lang="fr-FR" dirty="0"/>
              <a:t>, reflétant un niveau de qualification globalement élevé au sein de l’entreprise.</a:t>
            </a:r>
          </a:p>
        </p:txBody>
      </p: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F2566914-4DE2-BED3-062A-343D1762580C}"/>
              </a:ext>
            </a:extLst>
          </p:cNvPr>
          <p:cNvCxnSpPr/>
          <p:nvPr/>
        </p:nvCxnSpPr>
        <p:spPr>
          <a:xfrm>
            <a:off x="4282344" y="1730740"/>
            <a:ext cx="0" cy="4568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965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10F264-17A3-C57F-0EDB-BC5CEC052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925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KNIME Analytics Platform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60D3785-2A9D-5D50-C212-FE8FF7DC6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124744"/>
            <a:ext cx="6918946" cy="460851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72E8BDF-3EFC-96C8-6F72-FC5DC2EC0CBA}"/>
              </a:ext>
            </a:extLst>
          </p:cNvPr>
          <p:cNvSpPr txBox="1"/>
          <p:nvPr/>
        </p:nvSpPr>
        <p:spPr>
          <a:xfrm>
            <a:off x="7535333" y="2456210"/>
            <a:ext cx="4445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KNIME est un outil d’analyse visuelle basé sur des </a:t>
            </a:r>
            <a:r>
              <a:rPr lang="fr-FR" b="1" dirty="0"/>
              <a:t>nœuds interconnectés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Il permet de construire un </a:t>
            </a:r>
            <a:r>
              <a:rPr lang="fr-FR" b="1" dirty="0"/>
              <a:t>workflow</a:t>
            </a:r>
            <a:r>
              <a:rPr lang="fr-FR" dirty="0"/>
              <a:t> reproductible, de suivre chaque étape du traitement des données (lecture, nettoyage, calculs, visualisation) et de garantir la traçabilité et la </a:t>
            </a:r>
            <a:r>
              <a:rPr lang="fr-FR" b="1" dirty="0"/>
              <a:t>cohérence des résultats.</a:t>
            </a:r>
          </a:p>
        </p:txBody>
      </p:sp>
    </p:spTree>
    <p:extLst>
      <p:ext uri="{BB962C8B-B14F-4D97-AF65-F5344CB8AC3E}">
        <p14:creationId xmlns:p14="http://schemas.microsoft.com/office/powerpoint/2010/main" val="1871638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DDC8294-885C-A903-45F4-94CBBBBEE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4991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Collecte des données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7FF6FA2-0E9B-EA74-CDD2-17B2AD8F9CDD}"/>
              </a:ext>
            </a:extLst>
          </p:cNvPr>
          <p:cNvSpPr txBox="1"/>
          <p:nvPr/>
        </p:nvSpPr>
        <p:spPr>
          <a:xfrm>
            <a:off x="6739467" y="2252132"/>
            <a:ext cx="428413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Les données utilisées proviennent du </a:t>
            </a:r>
            <a:r>
              <a:rPr lang="fr-FR" b="1" dirty="0"/>
              <a:t>Système d’Information des Ressources Humaines (SIRH)</a:t>
            </a:r>
            <a:r>
              <a:rPr lang="fr-FR" dirty="0"/>
              <a:t> de l’entreprise.</a:t>
            </a:r>
            <a:br>
              <a:rPr lang="fr-FR" dirty="0"/>
            </a:br>
            <a:r>
              <a:rPr lang="fr-FR" dirty="0"/>
              <a:t>Trois fichiers ont été récupérés :</a:t>
            </a:r>
          </a:p>
          <a:p>
            <a:r>
              <a:rPr lang="fr-FR" b="1" dirty="0"/>
              <a:t>- Données personnelles des salariés</a:t>
            </a:r>
            <a:endParaRPr lang="fr-FR" dirty="0"/>
          </a:p>
          <a:p>
            <a:r>
              <a:rPr lang="fr-FR" b="1" dirty="0"/>
              <a:t>- Informations contractuelles</a:t>
            </a:r>
            <a:endParaRPr lang="fr-FR" dirty="0"/>
          </a:p>
          <a:p>
            <a:r>
              <a:rPr lang="fr-FR" b="1" dirty="0"/>
              <a:t>- Rémunérations</a:t>
            </a:r>
            <a:br>
              <a:rPr lang="fr-FR" b="1" dirty="0"/>
            </a:br>
            <a:endParaRPr lang="fr-FR" dirty="0"/>
          </a:p>
          <a:p>
            <a:r>
              <a:rPr lang="fr-FR" dirty="0"/>
              <a:t>Ces fichiers ont été </a:t>
            </a:r>
            <a:r>
              <a:rPr lang="fr-FR" b="1" dirty="0"/>
              <a:t>fusionnés via des identifiants communs</a:t>
            </a:r>
            <a:r>
              <a:rPr lang="fr-FR" dirty="0"/>
              <a:t> afin de créer une base de données consolidée, prête à être nettoyée et analysée.</a:t>
            </a:r>
          </a:p>
          <a:p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2C9D3DD-325C-2207-F0C1-AA7DA87C6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33" y="1008522"/>
            <a:ext cx="5076825" cy="484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017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1F556E-F916-9380-169E-6E322E9FF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4991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Nettoyage et transformation des données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4362178-8357-B407-DA92-19332C4D9E5D}"/>
              </a:ext>
            </a:extLst>
          </p:cNvPr>
          <p:cNvSpPr txBox="1"/>
          <p:nvPr/>
        </p:nvSpPr>
        <p:spPr>
          <a:xfrm>
            <a:off x="838200" y="4114453"/>
            <a:ext cx="106584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● </a:t>
            </a:r>
            <a:r>
              <a:rPr lang="fr-FR" dirty="0"/>
              <a:t>Suppression des colonnes non pertinentes pour l’analyse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● </a:t>
            </a:r>
            <a:r>
              <a:rPr lang="fr-FR" dirty="0"/>
              <a:t>Uniformisation des formats (ex : remplacement des 0/1 par Oui/Non)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● </a:t>
            </a:r>
            <a:r>
              <a:rPr lang="fr-FR" dirty="0"/>
              <a:t>Création de nouvelles variables : âge, tranche d’âge, rémunération mensuelle totale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●  </a:t>
            </a:r>
            <a:r>
              <a:rPr lang="fr-FR" dirty="0"/>
              <a:t>Imputation des valeurs manquantes dans la colonne "augmentation" par 0, en considérant qu’aucune hausse n’a eu lieu</a:t>
            </a:r>
          </a:p>
          <a:p>
            <a:r>
              <a:rPr lang="fr-FR" dirty="0"/>
              <a:t>→ Cette méthode est transparente, reproductible et sans biais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● </a:t>
            </a:r>
            <a:r>
              <a:rPr lang="fr-FR" dirty="0"/>
              <a:t>Préparation des données en vue de l’analyse graphique et statistique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4D54A07-A340-2976-8D78-A42568A74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62" y="1156953"/>
            <a:ext cx="10658475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395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FC6F91-EB5C-F60F-842A-C8702D6AB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9659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Respect du RPGD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322CB53-3EEE-79A8-62CC-8D8163305826}"/>
              </a:ext>
            </a:extLst>
          </p:cNvPr>
          <p:cNvSpPr txBox="1"/>
          <p:nvPr/>
        </p:nvSpPr>
        <p:spPr>
          <a:xfrm>
            <a:off x="6434666" y="2202768"/>
            <a:ext cx="540173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● </a:t>
            </a:r>
            <a:r>
              <a:rPr lang="fr-FR" dirty="0"/>
              <a:t>Données pseudonymisées selon l’article 4.1 du RGPD</a:t>
            </a:r>
          </a:p>
          <a:p>
            <a:endParaRPr lang="fr-FR" dirty="0"/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● </a:t>
            </a:r>
            <a:r>
              <a:rPr lang="fr-FR" dirty="0"/>
              <a:t>Suppression des informations identifiantes ou sensibles</a:t>
            </a:r>
          </a:p>
          <a:p>
            <a:endParaRPr lang="fr-FR" dirty="0"/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● </a:t>
            </a:r>
            <a:r>
              <a:rPr lang="fr-FR" dirty="0"/>
              <a:t>Analyse statistique uniquement, sans finalité individuelle</a:t>
            </a:r>
          </a:p>
          <a:p>
            <a:endParaRPr lang="fr-FR" dirty="0"/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● </a:t>
            </a:r>
            <a:r>
              <a:rPr lang="fr-FR" dirty="0"/>
              <a:t>Démarche transparente, reproductible, conforme aux obligations légales</a:t>
            </a:r>
          </a:p>
          <a:p>
            <a:endParaRPr lang="fr-FR" dirty="0"/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● </a:t>
            </a:r>
            <a:r>
              <a:rPr lang="fr-FR" dirty="0">
                <a:cs typeface="Arial" panose="020B0604020202020204" pitchFamily="34" charset="0"/>
              </a:rPr>
              <a:t>Exportation d’un fichier Excel conforme au RGPD réutilisable </a:t>
            </a: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BEDC3AC-09F5-6466-70A8-2108A7543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84" y="1985963"/>
            <a:ext cx="4991598" cy="3572933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73D4601-C5E3-0903-9A7A-A43F1FE3BDC1}"/>
              </a:ext>
            </a:extLst>
          </p:cNvPr>
          <p:cNvSpPr txBox="1"/>
          <p:nvPr/>
        </p:nvSpPr>
        <p:spPr>
          <a:xfrm>
            <a:off x="594784" y="5808133"/>
            <a:ext cx="48238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Exemple de pseudonymisation des identifiants salariés : les ID personnels sont remplacés par des chaînes cryptées, non réversibles.</a:t>
            </a:r>
          </a:p>
        </p:txBody>
      </p:sp>
    </p:spTree>
    <p:extLst>
      <p:ext uri="{BB962C8B-B14F-4D97-AF65-F5344CB8AC3E}">
        <p14:creationId xmlns:p14="http://schemas.microsoft.com/office/powerpoint/2010/main" val="3822263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342E38-5E77-D21B-242F-42ECF8E3F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5791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Les 5 indicateurs retenus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2E5E1E4-4235-9B0B-333E-209AA99D412D}"/>
              </a:ext>
            </a:extLst>
          </p:cNvPr>
          <p:cNvSpPr txBox="1"/>
          <p:nvPr/>
        </p:nvSpPr>
        <p:spPr>
          <a:xfrm>
            <a:off x="901700" y="1828800"/>
            <a:ext cx="103886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Nous avons retenu cinq barèmes représentatifs des grandes étapes de la vie professionnelle dans l’entreprise :</a:t>
            </a:r>
            <a:br>
              <a:rPr lang="fr-FR" dirty="0"/>
            </a:br>
            <a:endParaRPr lang="fr-FR" dirty="0"/>
          </a:p>
          <a:p>
            <a:r>
              <a:rPr lang="fr-FR" b="1" dirty="0"/>
              <a:t>- Embauche</a:t>
            </a:r>
            <a:r>
              <a:rPr lang="fr-FR" dirty="0"/>
              <a:t> : Analyser la répartition des effectifs selon l’âge moyen afin de détecter d’éventuels déséquilibres générationnels dans l’entreprise.</a:t>
            </a:r>
            <a:br>
              <a:rPr lang="fr-FR" dirty="0"/>
            </a:br>
            <a:endParaRPr lang="fr-FR" dirty="0"/>
          </a:p>
          <a:p>
            <a:r>
              <a:rPr lang="fr-FR" b="1" dirty="0"/>
              <a:t>- Répartition des effectifs</a:t>
            </a:r>
            <a:r>
              <a:rPr lang="fr-FR" dirty="0"/>
              <a:t> : Pour analyser la présence des femmes et des hommes selon les services</a:t>
            </a:r>
            <a:br>
              <a:rPr lang="fr-FR" dirty="0"/>
            </a:br>
            <a:endParaRPr lang="fr-FR" dirty="0"/>
          </a:p>
          <a:p>
            <a:r>
              <a:rPr lang="fr-FR" b="1" dirty="0"/>
              <a:t>- Promotions</a:t>
            </a:r>
            <a:r>
              <a:rPr lang="fr-FR" dirty="0"/>
              <a:t> : Pour évaluer l’égalité d’accès à l’évolution professionnelle</a:t>
            </a:r>
            <a:br>
              <a:rPr lang="fr-FR" dirty="0"/>
            </a:br>
            <a:endParaRPr lang="fr-FR" dirty="0"/>
          </a:p>
          <a:p>
            <a:r>
              <a:rPr lang="fr-FR" b="1" dirty="0"/>
              <a:t>- Rémunération effective</a:t>
            </a:r>
            <a:r>
              <a:rPr lang="fr-FR" dirty="0"/>
              <a:t> : Pour mesurer les écarts de salaire entre les sexes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r>
              <a:rPr lang="fr-FR" b="1" dirty="0"/>
              <a:t>- Accidents du travail</a:t>
            </a:r>
            <a:r>
              <a:rPr lang="fr-FR" dirty="0"/>
              <a:t> : Pour identifier les éventuelles inégalités d’exposition aux risques professionnels</a:t>
            </a:r>
          </a:p>
          <a:p>
            <a:br>
              <a:rPr lang="fr-FR" dirty="0"/>
            </a:br>
            <a:r>
              <a:rPr lang="fr-FR" dirty="0"/>
              <a:t>Chaque indicateur a été sélectionné pour sa pertinence et sa capacité à mettre en lumière des écarts concrets.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80299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D93C02-2069-B520-9CEB-90AA91971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725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Répartition des effectifs selon l’âge moyen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524C07F-9D19-A516-6417-8AF474CEE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26155"/>
            <a:ext cx="7832367" cy="4405312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FA38240-5838-8D19-1F46-6B8A8807FD1A}"/>
              </a:ext>
            </a:extLst>
          </p:cNvPr>
          <p:cNvSpPr txBox="1"/>
          <p:nvPr/>
        </p:nvSpPr>
        <p:spPr>
          <a:xfrm>
            <a:off x="9110134" y="2320651"/>
            <a:ext cx="270086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La répartition par tranche d’âge montre une </a:t>
            </a:r>
            <a:r>
              <a:rPr lang="fr-FR" b="1" dirty="0"/>
              <a:t>présence masculine légèrement supérieure</a:t>
            </a:r>
            <a:r>
              <a:rPr lang="fr-FR" dirty="0"/>
              <a:t> dans toutes les catégories, mais les effectifs entre hommes et femmes restent </a:t>
            </a:r>
            <a:r>
              <a:rPr lang="fr-FR" b="1" dirty="0"/>
              <a:t>globalement équilibrés</a:t>
            </a:r>
            <a:r>
              <a:rPr lang="fr-FR" dirty="0"/>
              <a:t>, notamment dans les tranches 40–49 ans et 50+.</a:t>
            </a:r>
          </a:p>
        </p:txBody>
      </p:sp>
    </p:spTree>
    <p:extLst>
      <p:ext uri="{BB962C8B-B14F-4D97-AF65-F5344CB8AC3E}">
        <p14:creationId xmlns:p14="http://schemas.microsoft.com/office/powerpoint/2010/main" val="2752138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1F826C-D8BE-9C08-D5E5-FD0B1ACC7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80222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Répartition des effectifs par service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FEFF632-6B1D-E7D8-6AE1-9A1F1C375A41}"/>
              </a:ext>
            </a:extLst>
          </p:cNvPr>
          <p:cNvSpPr txBox="1"/>
          <p:nvPr/>
        </p:nvSpPr>
        <p:spPr>
          <a:xfrm>
            <a:off x="592667" y="4826675"/>
            <a:ext cx="114638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 La répartition des effectifs par service montre des déséquilibres marqués selon les métiers :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● </a:t>
            </a:r>
            <a:r>
              <a:rPr lang="fr-FR" dirty="0"/>
              <a:t>Le service informatique est très masculin (12 hommes, 3 femmes)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● </a:t>
            </a:r>
            <a:r>
              <a:rPr lang="fr-FR" dirty="0"/>
              <a:t>Le service RH est plus féminin (24 femmes, 19 hommes)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● </a:t>
            </a:r>
            <a:r>
              <a:rPr lang="fr-FR" dirty="0"/>
              <a:t>Le service consultant reste majoritairement masculin (39 hommes, 30 femmes)</a:t>
            </a:r>
            <a:br>
              <a:rPr lang="fr-FR" dirty="0"/>
            </a:br>
            <a:endParaRPr lang="fr-FR" dirty="0"/>
          </a:p>
          <a:p>
            <a:pPr algn="ctr"/>
            <a:r>
              <a:rPr lang="fr-FR" dirty="0"/>
              <a:t>Ces écarts confirment l'importance de renforcer la mixité dans certains domaines, notamment les métiers techniques.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746BDE5-6FA2-D6B2-CD24-DC7BEE7E6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346" y="915970"/>
            <a:ext cx="6522509" cy="374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350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ED5B62-D901-EBE9-3E94-A8ACEA633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Répartition des promotions internes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375997A-87DF-D2F0-1C2E-03D23F6E9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131" y="1974080"/>
            <a:ext cx="3058439" cy="271568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C486790-0B82-787C-C8F4-60B99B2001CD}"/>
              </a:ext>
            </a:extLst>
          </p:cNvPr>
          <p:cNvSpPr txBox="1"/>
          <p:nvPr/>
        </p:nvSpPr>
        <p:spPr>
          <a:xfrm>
            <a:off x="216885" y="1389305"/>
            <a:ext cx="3826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/>
              <a:t>Répartition des promotions internes par sexe</a:t>
            </a:r>
          </a:p>
        </p:txBody>
      </p:sp>
      <p:sp>
        <p:nvSpPr>
          <p:cNvPr id="8" name="Organigramme : Connecteur 7">
            <a:extLst>
              <a:ext uri="{FF2B5EF4-FFF2-40B4-BE49-F238E27FC236}">
                <a16:creationId xmlns:a16="http://schemas.microsoft.com/office/drawing/2014/main" id="{6C094F12-09DE-367E-7964-C8A278FC539A}"/>
              </a:ext>
            </a:extLst>
          </p:cNvPr>
          <p:cNvSpPr/>
          <p:nvPr/>
        </p:nvSpPr>
        <p:spPr>
          <a:xfrm>
            <a:off x="452965" y="4596055"/>
            <a:ext cx="296332" cy="287866"/>
          </a:xfrm>
          <a:prstGeom prst="flowChartConnector">
            <a:avLst/>
          </a:prstGeom>
          <a:solidFill>
            <a:srgbClr val="91CC7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05F72E4-5C4C-A7CA-E46B-FEEDAD603E80}"/>
              </a:ext>
            </a:extLst>
          </p:cNvPr>
          <p:cNvSpPr txBox="1"/>
          <p:nvPr/>
        </p:nvSpPr>
        <p:spPr>
          <a:xfrm>
            <a:off x="749297" y="4576144"/>
            <a:ext cx="1329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Hommes</a:t>
            </a:r>
          </a:p>
        </p:txBody>
      </p:sp>
      <p:sp>
        <p:nvSpPr>
          <p:cNvPr id="10" name="Organigramme : Connecteur 9">
            <a:extLst>
              <a:ext uri="{FF2B5EF4-FFF2-40B4-BE49-F238E27FC236}">
                <a16:creationId xmlns:a16="http://schemas.microsoft.com/office/drawing/2014/main" id="{517D8C2C-CD3C-007B-AD8C-3A5722146F0E}"/>
              </a:ext>
            </a:extLst>
          </p:cNvPr>
          <p:cNvSpPr/>
          <p:nvPr/>
        </p:nvSpPr>
        <p:spPr>
          <a:xfrm>
            <a:off x="2424567" y="4596055"/>
            <a:ext cx="296333" cy="287866"/>
          </a:xfrm>
          <a:prstGeom prst="flowChartConnector">
            <a:avLst/>
          </a:prstGeom>
          <a:solidFill>
            <a:srgbClr val="5470C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4473D47-099E-4B08-1791-5A3BEBF2E447}"/>
              </a:ext>
            </a:extLst>
          </p:cNvPr>
          <p:cNvSpPr txBox="1"/>
          <p:nvPr/>
        </p:nvSpPr>
        <p:spPr>
          <a:xfrm>
            <a:off x="2765208" y="4596055"/>
            <a:ext cx="1240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Femmes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E010CC2-C940-BE4D-BA6C-C4CD85BD04A4}"/>
              </a:ext>
            </a:extLst>
          </p:cNvPr>
          <p:cNvSpPr txBox="1"/>
          <p:nvPr/>
        </p:nvSpPr>
        <p:spPr>
          <a:xfrm>
            <a:off x="411615" y="5468695"/>
            <a:ext cx="40259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En 2024, </a:t>
            </a:r>
            <a:r>
              <a:rPr lang="fr-FR" b="1" dirty="0"/>
              <a:t>44 salariés </a:t>
            </a:r>
            <a:r>
              <a:rPr lang="fr-FR" dirty="0"/>
              <a:t>ont bénéficié d’une promotion interne : </a:t>
            </a:r>
            <a:r>
              <a:rPr lang="fr-FR" b="1" dirty="0">
                <a:solidFill>
                  <a:srgbClr val="5470C6"/>
                </a:solidFill>
              </a:rPr>
              <a:t>22 femmes </a:t>
            </a:r>
            <a:r>
              <a:rPr lang="fr-FR" dirty="0"/>
              <a:t>et </a:t>
            </a:r>
            <a:r>
              <a:rPr lang="fr-FR" b="1" dirty="0">
                <a:solidFill>
                  <a:srgbClr val="91CC75"/>
                </a:solidFill>
              </a:rPr>
              <a:t>22 hommes</a:t>
            </a:r>
            <a:r>
              <a:rPr lang="fr-FR" dirty="0"/>
              <a:t>.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D376A379-DF96-AC8C-7E49-CC8C7A798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81" y="3053324"/>
            <a:ext cx="5770004" cy="3701015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59E7428D-2D70-433B-C9CE-F7176548FF92}"/>
              </a:ext>
            </a:extLst>
          </p:cNvPr>
          <p:cNvSpPr txBox="1"/>
          <p:nvPr/>
        </p:nvSpPr>
        <p:spPr>
          <a:xfrm>
            <a:off x="6039979" y="1395390"/>
            <a:ext cx="59351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 taux de promotion est légèrement plus élevé chez les femmes (</a:t>
            </a:r>
            <a:r>
              <a:rPr lang="fr-FR" dirty="0">
                <a:solidFill>
                  <a:srgbClr val="5470C6"/>
                </a:solidFill>
              </a:rPr>
              <a:t>17,60 %) </a:t>
            </a:r>
            <a:r>
              <a:rPr lang="fr-FR" dirty="0"/>
              <a:t>que chez les hommes (</a:t>
            </a:r>
            <a:r>
              <a:rPr lang="fr-FR" dirty="0">
                <a:solidFill>
                  <a:srgbClr val="91CC75"/>
                </a:solidFill>
              </a:rPr>
              <a:t>16,79 %</a:t>
            </a:r>
            <a:r>
              <a:rPr lang="fr-FR" dirty="0"/>
              <a:t>), traduisant une </a:t>
            </a:r>
            <a:r>
              <a:rPr lang="fr-FR" b="1" dirty="0"/>
              <a:t>politique d’évolution professionnelle globalement équitable.</a:t>
            </a:r>
          </a:p>
        </p:txBody>
      </p:sp>
    </p:spTree>
    <p:extLst>
      <p:ext uri="{BB962C8B-B14F-4D97-AF65-F5344CB8AC3E}">
        <p14:creationId xmlns:p14="http://schemas.microsoft.com/office/powerpoint/2010/main" val="1047062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E0102B-8D73-03B7-7D50-2870701A5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5942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Distribution des rémunérations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359BCF3-39BC-F58C-1AEE-6CC291BE4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377" y="1710266"/>
            <a:ext cx="6666185" cy="4561417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F1C8907F-4FE1-CC78-6432-245883C611F4}"/>
              </a:ext>
            </a:extLst>
          </p:cNvPr>
          <p:cNvSpPr txBox="1"/>
          <p:nvPr/>
        </p:nvSpPr>
        <p:spPr>
          <a:xfrm>
            <a:off x="452438" y="1710266"/>
            <a:ext cx="409786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Rémunération moyenne mensuelle : </a:t>
            </a:r>
          </a:p>
          <a:p>
            <a:r>
              <a:rPr lang="fr-FR" dirty="0"/>
              <a:t>Femmes : </a:t>
            </a:r>
            <a:r>
              <a:rPr lang="fr-FR" b="1" dirty="0">
                <a:solidFill>
                  <a:srgbClr val="91CC75"/>
                </a:solidFill>
              </a:rPr>
              <a:t>6297 €</a:t>
            </a:r>
            <a:br>
              <a:rPr lang="fr-FR" dirty="0"/>
            </a:br>
            <a:r>
              <a:rPr lang="fr-FR" dirty="0"/>
              <a:t>Hommes : </a:t>
            </a:r>
            <a:r>
              <a:rPr lang="fr-FR" b="1" dirty="0">
                <a:solidFill>
                  <a:srgbClr val="5470C6"/>
                </a:solidFill>
              </a:rPr>
              <a:t>6486 € </a:t>
            </a:r>
            <a:br>
              <a:rPr lang="fr-FR" dirty="0"/>
            </a:br>
            <a:r>
              <a:rPr lang="fr-FR" dirty="0"/>
              <a:t>Ecart : -189€ </a:t>
            </a:r>
            <a:br>
              <a:rPr lang="fr-FR" dirty="0"/>
            </a:br>
            <a:br>
              <a:rPr lang="fr-FR" dirty="0"/>
            </a:br>
            <a:r>
              <a:rPr lang="fr-FR" b="1" dirty="0"/>
              <a:t>Médiane : </a:t>
            </a:r>
            <a:br>
              <a:rPr lang="fr-FR" dirty="0"/>
            </a:br>
            <a:r>
              <a:rPr lang="fr-FR" dirty="0"/>
              <a:t>Femmes : </a:t>
            </a:r>
            <a:r>
              <a:rPr lang="fr-FR" b="1" dirty="0">
                <a:solidFill>
                  <a:srgbClr val="91CC75"/>
                </a:solidFill>
              </a:rPr>
              <a:t>6019 € </a:t>
            </a:r>
            <a:br>
              <a:rPr lang="fr-FR" dirty="0"/>
            </a:br>
            <a:r>
              <a:rPr lang="fr-FR" dirty="0"/>
              <a:t>Hommes : </a:t>
            </a:r>
            <a:r>
              <a:rPr lang="fr-FR" b="1" dirty="0">
                <a:solidFill>
                  <a:srgbClr val="5470C6"/>
                </a:solidFill>
              </a:rPr>
              <a:t>6123 € </a:t>
            </a:r>
            <a:br>
              <a:rPr lang="fr-FR" dirty="0"/>
            </a:br>
            <a:br>
              <a:rPr lang="fr-FR" dirty="0"/>
            </a:br>
            <a:r>
              <a:rPr lang="fr-FR" b="1" dirty="0"/>
              <a:t>Distribution des salaires : </a:t>
            </a:r>
            <a:br>
              <a:rPr lang="fr-FR" dirty="0"/>
            </a:br>
            <a:r>
              <a:rPr lang="fr-FR" dirty="0"/>
              <a:t> Femmes : </a:t>
            </a:r>
            <a:r>
              <a:rPr lang="fr-FR" dirty="0">
                <a:solidFill>
                  <a:srgbClr val="91CC75"/>
                </a:solidFill>
              </a:rPr>
              <a:t>1 070 € → 13 500 €</a:t>
            </a:r>
            <a:br>
              <a:rPr lang="fr-FR" dirty="0">
                <a:solidFill>
                  <a:srgbClr val="91CC75"/>
                </a:solidFill>
              </a:rPr>
            </a:br>
            <a:r>
              <a:rPr lang="fr-FR" dirty="0"/>
              <a:t>Hommes : </a:t>
            </a:r>
            <a:r>
              <a:rPr lang="fr-FR" b="1" dirty="0">
                <a:solidFill>
                  <a:srgbClr val="5470C6"/>
                </a:solidFill>
              </a:rPr>
              <a:t>1 266 € → 13 370 €</a:t>
            </a:r>
          </a:p>
          <a:p>
            <a:endParaRPr lang="fr-FR" b="1" dirty="0">
              <a:solidFill>
                <a:srgbClr val="5470C6"/>
              </a:solidFill>
            </a:endParaRPr>
          </a:p>
          <a:p>
            <a:r>
              <a:rPr lang="fr-FR" dirty="0"/>
              <a:t>Des écarts modérés mais visibles à tous les niveaux de rémunération.</a:t>
            </a:r>
            <a:endParaRPr lang="fr-FR" dirty="0">
              <a:solidFill>
                <a:srgbClr val="5470C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5144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F7F137-CCD7-B418-A2A8-1F91F1D79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Répartition des accidents du travail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06E773D-50D1-B03B-7A5E-3A248A0C8937}"/>
              </a:ext>
            </a:extLst>
          </p:cNvPr>
          <p:cNvSpPr txBox="1"/>
          <p:nvPr/>
        </p:nvSpPr>
        <p:spPr>
          <a:xfrm>
            <a:off x="999066" y="1316036"/>
            <a:ext cx="1019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Les accidents du travail sont répartis de manière quasi égale entre les femmes et les hommes :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ED5C9AD-90E3-B35B-9475-6F9B97557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1950216"/>
            <a:ext cx="5828448" cy="379388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03B3251-506A-B9C9-3C0C-ED3DEE975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67622"/>
            <a:ext cx="2865707" cy="275907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AD6CE49-BE20-E786-7047-72A155F28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65" y="2115197"/>
            <a:ext cx="3228975" cy="35242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A67EB43-AF2E-8B2C-0216-78819F2669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9077" y="5226698"/>
            <a:ext cx="1123950" cy="352425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0AE7F753-9F53-0956-7ADB-6CB55D1A8B33}"/>
              </a:ext>
            </a:extLst>
          </p:cNvPr>
          <p:cNvSpPr txBox="1"/>
          <p:nvPr/>
        </p:nvSpPr>
        <p:spPr>
          <a:xfrm>
            <a:off x="110134" y="5892799"/>
            <a:ext cx="4321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18 femmes </a:t>
            </a:r>
            <a:r>
              <a:rPr lang="fr-FR" dirty="0"/>
              <a:t>et </a:t>
            </a:r>
            <a:r>
              <a:rPr lang="fr-FR" b="1" dirty="0"/>
              <a:t>19 hommes </a:t>
            </a:r>
            <a:r>
              <a:rPr lang="fr-FR" dirty="0"/>
              <a:t>ont déclaré au moins un accident du travail.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A6A1CF1-A838-B9B4-1A3C-C838D233D00D}"/>
              </a:ext>
            </a:extLst>
          </p:cNvPr>
          <p:cNvSpPr txBox="1"/>
          <p:nvPr/>
        </p:nvSpPr>
        <p:spPr>
          <a:xfrm>
            <a:off x="5962649" y="6008952"/>
            <a:ext cx="5561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Les taux d’accidents sont similaires : </a:t>
            </a:r>
            <a:r>
              <a:rPr lang="fr-FR" b="1" dirty="0"/>
              <a:t>14,40 %</a:t>
            </a:r>
            <a:r>
              <a:rPr lang="fr-FR" dirty="0"/>
              <a:t> pour les femmes, </a:t>
            </a:r>
            <a:r>
              <a:rPr lang="fr-FR" b="1" dirty="0"/>
              <a:t>14,50 %</a:t>
            </a:r>
            <a:r>
              <a:rPr lang="fr-FR" dirty="0"/>
              <a:t> pour les hommes.</a:t>
            </a:r>
          </a:p>
        </p:txBody>
      </p:sp>
    </p:spTree>
    <p:extLst>
      <p:ext uri="{BB962C8B-B14F-4D97-AF65-F5344CB8AC3E}">
        <p14:creationId xmlns:p14="http://schemas.microsoft.com/office/powerpoint/2010/main" val="659540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81BC76-CC5F-D676-7709-FEFE42FFC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Score d’égalité femmes - hommes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3099E0F-8182-3CFC-D004-7319ED567A56}"/>
              </a:ext>
            </a:extLst>
          </p:cNvPr>
          <p:cNvSpPr txBox="1"/>
          <p:nvPr/>
        </p:nvSpPr>
        <p:spPr>
          <a:xfrm>
            <a:off x="2311400" y="1165237"/>
            <a:ext cx="756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Tableau des indicateurs choisis et pondérations proposées :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4E25CFD1-21C7-3DA3-4E7E-0B5F7FA24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822292"/>
              </p:ext>
            </p:extLst>
          </p:nvPr>
        </p:nvGraphicFramePr>
        <p:xfrm>
          <a:off x="1350433" y="1877060"/>
          <a:ext cx="9220200" cy="367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5061">
                  <a:extLst>
                    <a:ext uri="{9D8B030D-6E8A-4147-A177-3AD203B41FA5}">
                      <a16:colId xmlns:a16="http://schemas.microsoft.com/office/drawing/2014/main" val="1242803991"/>
                    </a:ext>
                  </a:extLst>
                </a:gridCol>
                <a:gridCol w="2061739">
                  <a:extLst>
                    <a:ext uri="{9D8B030D-6E8A-4147-A177-3AD203B41FA5}">
                      <a16:colId xmlns:a16="http://schemas.microsoft.com/office/drawing/2014/main" val="1808007993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28458882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Indicateur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Pondération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Score obtenu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827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Répartir des effectifs selon l’âge moyen et le sexe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 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9/10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7982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Répartition des effectifs par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 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13/15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3755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Taux de promotion par sexe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 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20/20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0696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Taux de salariés ayant eu un accident du travail par sexe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 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10/10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7686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Rémunération moyenne mensuelle par sexe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25 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23/25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4372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Distribution des rémunérations par sexe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 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17/20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567356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57A182C4-C41B-D10F-07AA-75CA532293D0}"/>
              </a:ext>
            </a:extLst>
          </p:cNvPr>
          <p:cNvSpPr txBox="1"/>
          <p:nvPr/>
        </p:nvSpPr>
        <p:spPr>
          <a:xfrm>
            <a:off x="3268133" y="5943191"/>
            <a:ext cx="4487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/>
              <a:t>Score final : 92 / 100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862262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8936E0-5AC5-E632-3101-6EC7D6EAB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859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Recommandations pour améliorer notre score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82988D3D-8B0B-BD46-6D1D-FAA7D40EF45A}"/>
              </a:ext>
            </a:extLst>
          </p:cNvPr>
          <p:cNvSpPr/>
          <p:nvPr/>
        </p:nvSpPr>
        <p:spPr>
          <a:xfrm>
            <a:off x="618066" y="2036763"/>
            <a:ext cx="2616200" cy="118533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Diversifier les recrutements selon l’âge et le genre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1A01AFD9-5E86-6CDC-0890-A20C7E1AEBFC}"/>
              </a:ext>
            </a:extLst>
          </p:cNvPr>
          <p:cNvSpPr/>
          <p:nvPr/>
        </p:nvSpPr>
        <p:spPr>
          <a:xfrm>
            <a:off x="4787900" y="2024593"/>
            <a:ext cx="2616200" cy="118533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Rééquilibrer certains services à dominance masculine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B5FAF319-73EE-75BF-84D8-BEBF2BC90064}"/>
              </a:ext>
            </a:extLst>
          </p:cNvPr>
          <p:cNvSpPr/>
          <p:nvPr/>
        </p:nvSpPr>
        <p:spPr>
          <a:xfrm>
            <a:off x="8957734" y="2036763"/>
            <a:ext cx="2616200" cy="118533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Maintenir des critères de promotions équitables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950BD0F6-DFCC-5F87-1715-37BDA5D61AB8}"/>
              </a:ext>
            </a:extLst>
          </p:cNvPr>
          <p:cNvSpPr/>
          <p:nvPr/>
        </p:nvSpPr>
        <p:spPr>
          <a:xfrm>
            <a:off x="618066" y="4339696"/>
            <a:ext cx="2616200" cy="118533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Suivre les accidents du travail par poste et par genre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AAD337D6-F3D9-6472-961A-A217340F676E}"/>
              </a:ext>
            </a:extLst>
          </p:cNvPr>
          <p:cNvSpPr/>
          <p:nvPr/>
        </p:nvSpPr>
        <p:spPr>
          <a:xfrm>
            <a:off x="4787900" y="4339696"/>
            <a:ext cx="2616200" cy="118533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Réduire l’écart moyen de rémunération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F3506A73-9349-21A4-B367-EB8BCB873B0B}"/>
              </a:ext>
            </a:extLst>
          </p:cNvPr>
          <p:cNvSpPr/>
          <p:nvPr/>
        </p:nvSpPr>
        <p:spPr>
          <a:xfrm>
            <a:off x="8957734" y="4339696"/>
            <a:ext cx="2616200" cy="118533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Mieux encadrer la distribution des rémunérations</a:t>
            </a:r>
          </a:p>
        </p:txBody>
      </p:sp>
    </p:spTree>
    <p:extLst>
      <p:ext uri="{BB962C8B-B14F-4D97-AF65-F5344CB8AC3E}">
        <p14:creationId xmlns:p14="http://schemas.microsoft.com/office/powerpoint/2010/main" val="120832040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1949</TotalTime>
  <Words>976</Words>
  <Application>Microsoft Office PowerPoint</Application>
  <PresentationFormat>Grand écran</PresentationFormat>
  <Paragraphs>106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Thème Office</vt:lpstr>
      <vt:lpstr>Diagnostic égalité femmes - hommes</vt:lpstr>
      <vt:lpstr>L’entreprise en quelques chiffres</vt:lpstr>
      <vt:lpstr>KNIME Analytics Platform</vt:lpstr>
      <vt:lpstr>Collecte des données</vt:lpstr>
      <vt:lpstr>Nettoyage et transformation des données</vt:lpstr>
      <vt:lpstr>Respect du RPGD</vt:lpstr>
      <vt:lpstr>Les 5 indicateurs retenus</vt:lpstr>
      <vt:lpstr>Répartition des effectifs selon l’âge moyen</vt:lpstr>
      <vt:lpstr>Répartition des effectifs par service</vt:lpstr>
      <vt:lpstr>Répartition des promotions internes</vt:lpstr>
      <vt:lpstr>Distribution des rémunérations</vt:lpstr>
      <vt:lpstr>Répartition des accidents du travail</vt:lpstr>
      <vt:lpstr>Score d’égalité femmes - hommes</vt:lpstr>
      <vt:lpstr>Recommandations pour améliorer notre score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 Yung</dc:creator>
  <cp:lastModifiedBy>C Yung</cp:lastModifiedBy>
  <cp:revision>5</cp:revision>
  <dcterms:created xsi:type="dcterms:W3CDTF">2025-06-30T15:19:09Z</dcterms:created>
  <dcterms:modified xsi:type="dcterms:W3CDTF">2025-07-04T11:37:03Z</dcterms:modified>
</cp:coreProperties>
</file>